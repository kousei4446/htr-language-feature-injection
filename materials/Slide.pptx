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handoutMasterIdLst>
    <p:handoutMasterId r:id="rId35"/>
  </p:handoutMasterIdLst>
  <p:sldIdLst>
    <p:sldId id="389" r:id="rId2"/>
    <p:sldId id="350" r:id="rId3"/>
    <p:sldId id="401" r:id="rId4"/>
    <p:sldId id="424" r:id="rId5"/>
    <p:sldId id="402" r:id="rId6"/>
    <p:sldId id="385" r:id="rId7"/>
    <p:sldId id="447" r:id="rId8"/>
    <p:sldId id="457" r:id="rId9"/>
    <p:sldId id="445" r:id="rId10"/>
    <p:sldId id="452" r:id="rId11"/>
    <p:sldId id="453" r:id="rId12"/>
    <p:sldId id="454" r:id="rId13"/>
    <p:sldId id="455" r:id="rId14"/>
    <p:sldId id="456" r:id="rId15"/>
    <p:sldId id="418" r:id="rId16"/>
    <p:sldId id="443" r:id="rId17"/>
    <p:sldId id="444" r:id="rId18"/>
    <p:sldId id="405" r:id="rId19"/>
    <p:sldId id="446" r:id="rId20"/>
    <p:sldId id="436" r:id="rId21"/>
    <p:sldId id="416" r:id="rId22"/>
    <p:sldId id="387" r:id="rId23"/>
    <p:sldId id="412" r:id="rId24"/>
    <p:sldId id="430" r:id="rId25"/>
    <p:sldId id="431" r:id="rId26"/>
    <p:sldId id="432" r:id="rId27"/>
    <p:sldId id="449" r:id="rId28"/>
    <p:sldId id="438" r:id="rId29"/>
    <p:sldId id="450" r:id="rId30"/>
    <p:sldId id="451" r:id="rId31"/>
    <p:sldId id="413" r:id="rId32"/>
    <p:sldId id="411" r:id="rId33"/>
  </p:sldIdLst>
  <p:sldSz cx="12192000" cy="6858000"/>
  <p:notesSz cx="6858000" cy="9144000"/>
  <p:custShowLst>
    <p:custShow name="化粧画像" id="0">
      <p:sldLst/>
    </p:custShow>
  </p:custShow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表紙" id="{175272D5-3C4B-4067-ADF7-C988F2050CD8}">
          <p14:sldIdLst>
            <p14:sldId id="389"/>
          </p14:sldIdLst>
        </p14:section>
        <p14:section name="アウトライン" id="{BD0C6C1D-0AC7-41A9-A2F3-570352BF65A9}">
          <p14:sldIdLst>
            <p14:sldId id="350"/>
          </p14:sldIdLst>
        </p14:section>
        <p14:section name="研究テーマ" id="{6536867F-D587-4B27-9239-3216AE6E6B21}">
          <p14:sldIdLst>
            <p14:sldId id="401"/>
            <p14:sldId id="424"/>
            <p14:sldId id="402"/>
          </p14:sldIdLst>
        </p14:section>
        <p14:section name="関連研究" id="{14E23FB8-521C-4CB4-BF06-3AB50DEE79EC}">
          <p14:sldIdLst>
            <p14:sldId id="385"/>
            <p14:sldId id="447"/>
            <p14:sldId id="457"/>
            <p14:sldId id="445"/>
            <p14:sldId id="452"/>
            <p14:sldId id="453"/>
            <p14:sldId id="454"/>
            <p14:sldId id="455"/>
            <p14:sldId id="456"/>
          </p14:sldIdLst>
        </p14:section>
        <p14:section name="提案手法" id="{A2EF6C99-0B19-4966-8FA5-3002CB049E99}">
          <p14:sldIdLst>
            <p14:sldId id="418"/>
            <p14:sldId id="443"/>
            <p14:sldId id="444"/>
            <p14:sldId id="405"/>
            <p14:sldId id="446"/>
            <p14:sldId id="436"/>
          </p14:sldIdLst>
        </p14:section>
        <p14:section name="タイトルなしのセクション" id="{D4C23549-3F57-444D-B4B5-CD5CB365FD94}">
          <p14:sldIdLst>
            <p14:sldId id="416"/>
          </p14:sldIdLst>
        </p14:section>
        <p14:section name="実験" id="{E8F24441-9930-478C-937D-19070997BE8C}">
          <p14:sldIdLst>
            <p14:sldId id="387"/>
            <p14:sldId id="412"/>
            <p14:sldId id="430"/>
            <p14:sldId id="431"/>
            <p14:sldId id="432"/>
            <p14:sldId id="449"/>
            <p14:sldId id="438"/>
            <p14:sldId id="450"/>
            <p14:sldId id="451"/>
            <p14:sldId id="413"/>
          </p14:sldIdLst>
        </p14:section>
        <p14:section name="今後の展望" id="{2F287241-1785-4EEF-8B59-18D7EDDE3C41}">
          <p14:sldIdLst>
            <p14:sldId id="411"/>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20125"/>
    <a:srgbClr val="FE4800"/>
    <a:srgbClr val="FFFFFF"/>
    <a:srgbClr val="E5E5FF"/>
    <a:srgbClr val="FFCCCC"/>
    <a:srgbClr val="CCFFCC"/>
    <a:srgbClr val="009999"/>
    <a:srgbClr val="9933FF"/>
    <a:srgbClr val="00AAE6"/>
    <a:srgbClr val="245A8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B6B4772-B5CA-A648-8B90-C1CF76E5ECF2}" v="3424" dt="2026-02-05T23:53:55.352"/>
    <p1510:client id="{C280B9BE-6E12-4E27-8F13-E2FC0F34C2D7}" v="367" dt="2026-02-05T04:42:29.270"/>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0" d="100"/>
          <a:sy n="60" d="100"/>
        </p:scale>
        <p:origin x="78" y="10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B834E190-92D1-45E6-A4D0-529EFD8C71F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182DDF4B-1B1F-4FFA-BBA8-6FBDCF855FB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26105D0-95DB-47B7-95D7-2C3E14092C5E}" type="datetimeFigureOut">
              <a:rPr kumimoji="1" lang="ja-JP" altLang="en-US" smtClean="0"/>
              <a:t>2026/2/12</a:t>
            </a:fld>
            <a:endParaRPr kumimoji="1" lang="ja-JP" altLang="en-US"/>
          </a:p>
        </p:txBody>
      </p:sp>
      <p:sp>
        <p:nvSpPr>
          <p:cNvPr id="4" name="フッター プレースホルダー 3">
            <a:extLst>
              <a:ext uri="{FF2B5EF4-FFF2-40B4-BE49-F238E27FC236}">
                <a16:creationId xmlns:a16="http://schemas.microsoft.com/office/drawing/2014/main" id="{C5425EED-4855-45D0-8066-BB601E6127B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A575DB72-0299-4A41-AC0D-EDB5EAF96CF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813FCB1-33B1-475F-9135-D7B3AF8E0D8D}" type="slidenum">
              <a:rPr kumimoji="1" lang="ja-JP" altLang="en-US" smtClean="0"/>
              <a:t>‹#›</a:t>
            </a:fld>
            <a:endParaRPr kumimoji="1" lang="ja-JP" altLang="en-US"/>
          </a:p>
        </p:txBody>
      </p:sp>
    </p:spTree>
    <p:extLst>
      <p:ext uri="{BB962C8B-B14F-4D97-AF65-F5344CB8AC3E}">
        <p14:creationId xmlns:p14="http://schemas.microsoft.com/office/powerpoint/2010/main" val="34611695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0119F9-1871-4C44-8225-94F0E0BB0256}" type="datetimeFigureOut">
              <a:rPr kumimoji="1" lang="ja-JP" altLang="en-US" smtClean="0"/>
              <a:t>2026/2/12</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5D33EE-53BE-43DC-8715-EC4A6D4E7EEB}" type="slidenum">
              <a:rPr kumimoji="1" lang="ja-JP" altLang="en-US" smtClean="0"/>
              <a:t>‹#›</a:t>
            </a:fld>
            <a:endParaRPr kumimoji="1" lang="ja-JP" altLang="en-US"/>
          </a:p>
        </p:txBody>
      </p:sp>
    </p:spTree>
    <p:extLst>
      <p:ext uri="{BB962C8B-B14F-4D97-AF65-F5344CB8AC3E}">
        <p14:creationId xmlns:p14="http://schemas.microsoft.com/office/powerpoint/2010/main" val="162880481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sz="1200">
                <a:ea typeface="+mj-lt"/>
                <a:cs typeface="+mj-lt"/>
              </a:rPr>
              <a:t>　はい、手書き文字認識モデルエンコーダへの言語特徴付与による有効性をおこなった研究の発表をさせていただきます。</a:t>
            </a:r>
            <a:endParaRPr lang="en-US" altLang="ja-JP" sz="1200">
              <a:ea typeface="+mj-lt"/>
              <a:cs typeface="+mj-lt"/>
            </a:endParaRPr>
          </a:p>
          <a:p>
            <a:r>
              <a:rPr lang="ja-JP" altLang="en-US" sz="1200">
                <a:ea typeface="+mj-lt"/>
                <a:cs typeface="+mj-lt"/>
              </a:rPr>
              <a:t>よろしくお願いします。</a:t>
            </a:r>
            <a:endParaRPr lang="en-US" altLang="ja-JP" sz="1200">
              <a:ea typeface="+mj-lt"/>
              <a:cs typeface="+mj-lt"/>
            </a:endParaRPr>
          </a:p>
          <a:p>
            <a:endParaRPr kumimoji="1" lang="en-US" altLang="ja-JP" sz="1200">
              <a:ea typeface="+mj-lt"/>
              <a:cs typeface="+mj-lt"/>
            </a:endParaRPr>
          </a:p>
          <a:p>
            <a:endParaRPr kumimoji="1" lang="en-US" altLang="ja-JP" sz="1200">
              <a:ea typeface="+mj-lt"/>
              <a:cs typeface="+mj-lt"/>
            </a:endParaRPr>
          </a:p>
          <a:p>
            <a:r>
              <a:rPr kumimoji="1" lang="en-US" altLang="ja-JP" sz="1200">
                <a:ea typeface="+mj-lt"/>
                <a:cs typeface="+mj-lt"/>
              </a:rPr>
              <a:t>【</a:t>
            </a:r>
            <a:r>
              <a:rPr kumimoji="1" lang="ja-JP" altLang="en-US" sz="1200">
                <a:ea typeface="+mj-lt"/>
                <a:cs typeface="+mj-lt"/>
              </a:rPr>
              <a:t>発表意識すること</a:t>
            </a:r>
            <a:r>
              <a:rPr kumimoji="1" lang="en-US" altLang="ja-JP" sz="1200">
                <a:ea typeface="+mj-lt"/>
                <a:cs typeface="+mj-lt"/>
              </a:rPr>
              <a:t>】</a:t>
            </a:r>
          </a:p>
          <a:p>
            <a:r>
              <a:rPr kumimoji="1" lang="en-US" altLang="ja-JP" sz="1200">
                <a:ea typeface="+mj-lt"/>
                <a:cs typeface="+mj-lt"/>
              </a:rPr>
              <a:t>- </a:t>
            </a:r>
            <a:r>
              <a:rPr kumimoji="1" lang="ja-JP" altLang="en-US" sz="1200">
                <a:ea typeface="+mj-lt"/>
                <a:cs typeface="+mj-lt"/>
              </a:rPr>
              <a:t>声</a:t>
            </a:r>
            <a:endParaRPr kumimoji="1" lang="en-US" altLang="ja-JP" sz="1200">
              <a:ea typeface="+mj-lt"/>
              <a:cs typeface="+mj-lt"/>
            </a:endParaRPr>
          </a:p>
          <a:p>
            <a:r>
              <a:rPr kumimoji="1" lang="en-US" altLang="ja-JP" sz="1200">
                <a:ea typeface="+mj-lt"/>
                <a:cs typeface="+mj-lt"/>
              </a:rPr>
              <a:t>- </a:t>
            </a:r>
            <a:r>
              <a:rPr kumimoji="1" lang="ja-JP" altLang="en-US" sz="1200">
                <a:ea typeface="+mj-lt"/>
                <a:cs typeface="+mj-lt"/>
              </a:rPr>
              <a:t>ペンを</a:t>
            </a:r>
            <a:endParaRPr kumimoji="1" lang="en-US" altLang="ja-JP" sz="1200">
              <a:ea typeface="+mj-lt"/>
              <a:cs typeface="+mj-lt"/>
            </a:endParaRPr>
          </a:p>
          <a:p>
            <a:endParaRPr kumimoji="1" lang="en-US" altLang="ja-JP" sz="1200">
              <a:ea typeface="+mj-lt"/>
              <a:cs typeface="+mj-lt"/>
            </a:endParaRPr>
          </a:p>
          <a:p>
            <a:endParaRPr kumimoji="1" lang="en-US" altLang="ja-JP" sz="1200">
              <a:ea typeface="+mj-lt"/>
              <a:cs typeface="+mj-lt"/>
            </a:endParaRPr>
          </a:p>
          <a:p>
            <a:r>
              <a:rPr kumimoji="1" lang="en-US" altLang="ja-JP"/>
              <a:t>【</a:t>
            </a:r>
            <a:r>
              <a:rPr kumimoji="1" lang="ja-JP" altLang="en-US"/>
              <a:t>卒論の評価</a:t>
            </a:r>
            <a:r>
              <a:rPr kumimoji="1" lang="en-US" altLang="ja-JP"/>
              <a:t>】</a:t>
            </a:r>
          </a:p>
          <a:p>
            <a:r>
              <a:rPr kumimoji="1" lang="en-US" altLang="ja-JP"/>
              <a:t>- </a:t>
            </a:r>
            <a:r>
              <a:rPr kumimoji="1" lang="ja-JP" altLang="en-US"/>
              <a:t>研究背景が筋を通っているのか</a:t>
            </a:r>
            <a:r>
              <a:rPr kumimoji="1" lang="en-US" altLang="ja-JP"/>
              <a:t>(</a:t>
            </a:r>
            <a:r>
              <a:rPr kumimoji="1" lang="ja-JP" altLang="en-US"/>
              <a:t>妥当性</a:t>
            </a:r>
            <a:r>
              <a:rPr kumimoji="1" lang="en-US" altLang="ja-JP"/>
              <a:t>)</a:t>
            </a:r>
          </a:p>
          <a:p>
            <a:r>
              <a:rPr kumimoji="1" lang="en-US" altLang="ja-JP"/>
              <a:t>- </a:t>
            </a:r>
            <a:r>
              <a:rPr kumimoji="1" lang="ja-JP" altLang="en-US"/>
              <a:t>課題に対して妥当なアプローチなのかどうか</a:t>
            </a:r>
            <a:endParaRPr kumimoji="1" lang="en-US" altLang="ja-JP"/>
          </a:p>
          <a:p>
            <a:r>
              <a:rPr kumimoji="1" lang="en-US" altLang="ja-JP"/>
              <a:t>- </a:t>
            </a:r>
            <a:r>
              <a:rPr kumimoji="1" lang="ja-JP" altLang="en-US"/>
              <a:t>研究の工夫点</a:t>
            </a:r>
            <a:r>
              <a:rPr kumimoji="1" lang="en-US" altLang="ja-JP"/>
              <a:t>(</a:t>
            </a:r>
            <a:r>
              <a:rPr kumimoji="1" lang="ja-JP" altLang="en-US"/>
              <a:t>新規生</a:t>
            </a:r>
            <a:r>
              <a:rPr kumimoji="1" lang="en-US" altLang="ja-JP"/>
              <a:t>)</a:t>
            </a:r>
          </a:p>
          <a:p>
            <a:r>
              <a:rPr kumimoji="1" lang="en-US" altLang="ja-JP"/>
              <a:t>- </a:t>
            </a:r>
            <a:r>
              <a:rPr kumimoji="1" lang="ja-JP" altLang="en-US"/>
              <a:t>それが評価されるような実験ができているのか</a:t>
            </a:r>
            <a:endParaRPr kumimoji="1" lang="en-US" altLang="ja-JP"/>
          </a:p>
          <a:p>
            <a:r>
              <a:rPr kumimoji="1" lang="ja-JP" altLang="en-US"/>
              <a:t>質疑応答</a:t>
            </a:r>
            <a:endParaRPr kumimoji="1" lang="en-US" altLang="ja-JP"/>
          </a:p>
          <a:p>
            <a:r>
              <a:rPr kumimoji="1" lang="en-US" altLang="ja-JP"/>
              <a:t>- </a:t>
            </a:r>
            <a:r>
              <a:rPr kumimoji="1" lang="ja-JP" altLang="en-US"/>
              <a:t>発表自体が研究の要点を掴めているのか</a:t>
            </a:r>
            <a:endParaRPr kumimoji="1" lang="en-US" altLang="ja-JP"/>
          </a:p>
          <a:p>
            <a:r>
              <a:rPr kumimoji="1" lang="en-US" altLang="ja-JP"/>
              <a:t>- </a:t>
            </a:r>
            <a:r>
              <a:rPr kumimoji="1" lang="ja-JP" altLang="en-US"/>
              <a:t>研究に対する姿勢</a:t>
            </a:r>
            <a:endParaRPr kumimoji="1" lang="en-US" altLang="ja-JP"/>
          </a:p>
          <a:p>
            <a:endParaRPr kumimoji="1" lang="en-US" altLang="ja-JP"/>
          </a:p>
          <a:p>
            <a:endParaRPr kumimoji="1" lang="ja-JP" altLang="en-US"/>
          </a:p>
        </p:txBody>
      </p:sp>
      <p:sp>
        <p:nvSpPr>
          <p:cNvPr id="4" name="スライド番号プレースホルダー 3"/>
          <p:cNvSpPr>
            <a:spLocks noGrp="1"/>
          </p:cNvSpPr>
          <p:nvPr>
            <p:ph type="sldNum" sz="quarter" idx="5"/>
          </p:nvPr>
        </p:nvSpPr>
        <p:spPr/>
        <p:txBody>
          <a:bodyPr/>
          <a:lstStyle/>
          <a:p>
            <a:fld id="{325D33EE-53BE-43DC-8715-EC4A6D4E7EEB}" type="slidenum">
              <a:rPr kumimoji="1" lang="ja-JP" altLang="en-US" smtClean="0"/>
              <a:t>1</a:t>
            </a:fld>
            <a:endParaRPr kumimoji="1" lang="ja-JP" altLang="en-US"/>
          </a:p>
        </p:txBody>
      </p:sp>
    </p:spTree>
    <p:extLst>
      <p:ext uri="{BB962C8B-B14F-4D97-AF65-F5344CB8AC3E}">
        <p14:creationId xmlns:p14="http://schemas.microsoft.com/office/powerpoint/2010/main" val="14604502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アウトラインはこのようになっています</a:t>
            </a:r>
            <a:endParaRPr kumimoji="1" lang="en-US" altLang="ja-JP"/>
          </a:p>
          <a:p>
            <a:r>
              <a:rPr kumimoji="1" lang="ja-JP" altLang="en-US"/>
              <a:t>３章以降では本研究の肝となる提案手法になります。</a:t>
            </a:r>
            <a:endParaRPr kumimoji="1" lang="en-US" altLang="ja-JP"/>
          </a:p>
          <a:p>
            <a:endParaRPr kumimoji="1" lang="ja-JP" altLang="en-US"/>
          </a:p>
        </p:txBody>
      </p:sp>
      <p:sp>
        <p:nvSpPr>
          <p:cNvPr id="4" name="スライド番号プレースホルダー 3"/>
          <p:cNvSpPr>
            <a:spLocks noGrp="1"/>
          </p:cNvSpPr>
          <p:nvPr>
            <p:ph type="sldNum" sz="quarter" idx="5"/>
          </p:nvPr>
        </p:nvSpPr>
        <p:spPr/>
        <p:txBody>
          <a:bodyPr/>
          <a:lstStyle/>
          <a:p>
            <a:fld id="{325D33EE-53BE-43DC-8715-EC4A6D4E7EEB}" type="slidenum">
              <a:rPr kumimoji="1" lang="ja-JP" altLang="en-US" smtClean="0"/>
              <a:t>2</a:t>
            </a:fld>
            <a:endParaRPr kumimoji="1" lang="ja-JP" altLang="en-US"/>
          </a:p>
        </p:txBody>
      </p:sp>
    </p:spTree>
    <p:extLst>
      <p:ext uri="{BB962C8B-B14F-4D97-AF65-F5344CB8AC3E}">
        <p14:creationId xmlns:p14="http://schemas.microsoft.com/office/powerpoint/2010/main" val="10465123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lgn="just"/>
            <a:r>
              <a:rPr lang="ja-JP" altLang="en-US"/>
              <a:t>　本研究では</a:t>
            </a:r>
            <a:r>
              <a:rPr lang="en-US" altLang="ja-JP"/>
              <a:t>,</a:t>
            </a:r>
            <a:r>
              <a:rPr lang="ja-JP" altLang="en-US"/>
              <a:t>手書き文字認識を対象とする</a:t>
            </a:r>
            <a:r>
              <a:rPr lang="en-US" altLang="ja-JP"/>
              <a:t>.</a:t>
            </a:r>
            <a:r>
              <a:rPr lang="ja-JP" altLang="en-US"/>
              <a:t> </a:t>
            </a:r>
            <a:endParaRPr lang="en-US" altLang="ja-JP"/>
          </a:p>
          <a:p>
            <a:pPr marL="0" marR="0" lvl="0" indent="0" algn="just" defTabSz="914400" rtl="0" eaLnBrk="1" fontAlgn="auto" latinLnBrk="0" hangingPunct="1">
              <a:lnSpc>
                <a:spcPct val="100000"/>
              </a:lnSpc>
              <a:spcBef>
                <a:spcPts val="0"/>
              </a:spcBef>
              <a:spcAft>
                <a:spcPts val="0"/>
              </a:spcAft>
              <a:buClrTx/>
              <a:buSzTx/>
              <a:buFontTx/>
              <a:buNone/>
              <a:tabLst/>
              <a:defRPr/>
            </a:pPr>
            <a:r>
              <a:rPr kumimoji="1" lang="ja-JP" altLang="en-US"/>
              <a:t>既存手法は、</a:t>
            </a:r>
            <a:r>
              <a:rPr lang="ja-JP" altLang="en-US"/>
              <a:t>画像を取り扱う深層学習モデルによる予測が主流となっています。一般に、エンコーダデコーダ構造を有しており、エンコーダとは入力である画像から数値ベクトルである特徴ベクトルへと取りまとめるものです。デコーダは、その特徴をもとに出力します。</a:t>
            </a:r>
            <a:endParaRPr lang="en-US" altLang="ja-JP"/>
          </a:p>
          <a:p>
            <a:pPr marL="0" indent="0">
              <a:buNone/>
            </a:pPr>
            <a:r>
              <a:rPr lang="ja-JP" altLang="en-US"/>
              <a:t>　このモデルの課題として、</a:t>
            </a:r>
            <a:r>
              <a:rPr lang="ja-JP" altLang="en-US" sz="2400"/>
              <a:t>画像を取り扱うエンコーダ</a:t>
            </a:r>
            <a:r>
              <a:rPr lang="ja-JP" altLang="ja-JP" sz="2400"/>
              <a:t>では</a:t>
            </a:r>
            <a:r>
              <a:rPr lang="ja-JP" altLang="ja-JP" sz="2400">
                <a:solidFill>
                  <a:schemeClr val="accent5">
                    <a:lumMod val="75000"/>
                  </a:schemeClr>
                </a:solidFill>
              </a:rPr>
              <a:t>視覚特徴</a:t>
            </a:r>
            <a:r>
              <a:rPr lang="ja-JP" altLang="ja-JP" sz="2400"/>
              <a:t>に依存</a:t>
            </a:r>
            <a:r>
              <a:rPr lang="ja-JP" altLang="en-US" sz="2400"/>
              <a:t>していることが挙げられます。</a:t>
            </a:r>
            <a:endParaRPr lang="en-US" altLang="ja-JP">
              <a:ea typeface="游ゴシック" panose="020F0502020204030204"/>
            </a:endParaRPr>
          </a:p>
        </p:txBody>
      </p:sp>
      <p:sp>
        <p:nvSpPr>
          <p:cNvPr id="4" name="スライド番号プレースホルダー 3"/>
          <p:cNvSpPr>
            <a:spLocks noGrp="1"/>
          </p:cNvSpPr>
          <p:nvPr>
            <p:ph type="sldNum" sz="quarter" idx="5"/>
          </p:nvPr>
        </p:nvSpPr>
        <p:spPr/>
        <p:txBody>
          <a:bodyPr/>
          <a:lstStyle/>
          <a:p>
            <a:fld id="{325D33EE-53BE-43DC-8715-EC4A6D4E7EEB}" type="slidenum">
              <a:rPr kumimoji="1" lang="ja-JP" altLang="en-US" smtClean="0"/>
              <a:t>3</a:t>
            </a:fld>
            <a:endParaRPr kumimoji="1" lang="ja-JP" altLang="en-US"/>
          </a:p>
        </p:txBody>
      </p:sp>
    </p:spTree>
    <p:extLst>
      <p:ext uri="{BB962C8B-B14F-4D97-AF65-F5344CB8AC3E}">
        <p14:creationId xmlns:p14="http://schemas.microsoft.com/office/powerpoint/2010/main" val="28311854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7B1ED-DFBA-6BC3-491E-FDD3AA5C593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FE3B814-B452-28C6-5D43-285FF587B8C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AF6F6CA-8353-BCF8-733A-758C1CCD4DD9}"/>
              </a:ext>
            </a:extLst>
          </p:cNvPr>
          <p:cNvSpPr>
            <a:spLocks noGrp="1"/>
          </p:cNvSpPr>
          <p:nvPr>
            <p:ph type="body" idx="1"/>
          </p:nvPr>
        </p:nvSpPr>
        <p:spPr/>
        <p:txBody>
          <a:bodyPr/>
          <a:lstStyle/>
          <a:p>
            <a:pPr algn="just"/>
            <a:r>
              <a:rPr lang="ja-JP" altLang="en-US"/>
              <a:t>　そのため、このような字形が曖昧となった画像があった場合、その画像の見た目の判別による誤認識この</a:t>
            </a:r>
            <a:r>
              <a:rPr lang="en-US" altLang="ja-JP"/>
              <a:t>"come"</a:t>
            </a:r>
            <a:r>
              <a:rPr lang="ja-JP" altLang="en-US"/>
              <a:t>の</a:t>
            </a:r>
            <a:r>
              <a:rPr lang="en-US" altLang="ja-JP"/>
              <a:t>"o"</a:t>
            </a:r>
            <a:r>
              <a:rPr lang="ja-JP" altLang="en-US"/>
              <a:t>が</a:t>
            </a:r>
            <a:r>
              <a:rPr lang="en-US" altLang="ja-JP"/>
              <a:t>"a"</a:t>
            </a:r>
            <a:r>
              <a:rPr lang="ja-JP" altLang="en-US"/>
              <a:t>に見えてしまうなど、が生じてしまうといった課題があります。</a:t>
            </a:r>
            <a:endParaRPr lang="en-US" altLang="ja-JP"/>
          </a:p>
          <a:p>
            <a:pPr algn="just"/>
            <a:r>
              <a:rPr lang="ja-JP" altLang="en-US"/>
              <a:t>　そこで、本研究では</a:t>
            </a:r>
            <a:r>
              <a:rPr lang="en-US" altLang="ja-JP"/>
              <a:t>,</a:t>
            </a:r>
            <a:r>
              <a:rPr lang="ja-JP" altLang="en-US"/>
              <a:t>視覚特徴だけでなく、予測する文全体の構文的一貫性や語彙的整合性といった言語的側面を言語特徴として、</a:t>
            </a:r>
            <a:endParaRPr lang="en-US" altLang="ja-JP"/>
          </a:p>
          <a:p>
            <a:endParaRPr kumimoji="1" lang="en-US" altLang="ja-JP"/>
          </a:p>
          <a:p>
            <a:endParaRPr kumimoji="1" lang="en-US" altLang="ja-JP"/>
          </a:p>
        </p:txBody>
      </p:sp>
      <p:sp>
        <p:nvSpPr>
          <p:cNvPr id="4" name="スライド番号プレースホルダー 3">
            <a:extLst>
              <a:ext uri="{FF2B5EF4-FFF2-40B4-BE49-F238E27FC236}">
                <a16:creationId xmlns:a16="http://schemas.microsoft.com/office/drawing/2014/main" id="{45693EB5-E740-59BE-2ACD-FC1FAAAF997D}"/>
              </a:ext>
            </a:extLst>
          </p:cNvPr>
          <p:cNvSpPr>
            <a:spLocks noGrp="1"/>
          </p:cNvSpPr>
          <p:nvPr>
            <p:ph type="sldNum" sz="quarter" idx="5"/>
          </p:nvPr>
        </p:nvSpPr>
        <p:spPr/>
        <p:txBody>
          <a:bodyPr/>
          <a:lstStyle/>
          <a:p>
            <a:fld id="{325D33EE-53BE-43DC-8715-EC4A6D4E7EEB}" type="slidenum">
              <a:rPr kumimoji="1" lang="ja-JP" altLang="en-US" smtClean="0"/>
              <a:t>4</a:t>
            </a:fld>
            <a:endParaRPr kumimoji="1" lang="ja-JP" altLang="en-US"/>
          </a:p>
        </p:txBody>
      </p:sp>
    </p:spTree>
    <p:extLst>
      <p:ext uri="{BB962C8B-B14F-4D97-AF65-F5344CB8AC3E}">
        <p14:creationId xmlns:p14="http://schemas.microsoft.com/office/powerpoint/2010/main" val="15856333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a:t>　エンコーダで学習させることによる認識精度向上を図ります。</a:t>
            </a:r>
            <a:endParaRPr lang="en-US" altLang="ja-JP"/>
          </a:p>
          <a:p>
            <a:endParaRPr lang="en-US" altLang="ja-JP"/>
          </a:p>
          <a:p>
            <a:endParaRPr lang="en-US" altLang="ja-JP"/>
          </a:p>
          <a:p>
            <a:r>
              <a:rPr lang="ja-JP" altLang="en-US"/>
              <a:t>想定質問</a:t>
            </a:r>
            <a:endParaRPr lang="en-US" altLang="ja-JP"/>
          </a:p>
          <a:p>
            <a:pPr marL="228600" indent="-228600">
              <a:buAutoNum type="arabicPeriod"/>
            </a:pPr>
            <a:r>
              <a:rPr lang="ja-JP" altLang="en-US"/>
              <a:t>エンコーダはなぜか→それはデコーダに言語モデルやモデル全体の出力の後に</a:t>
            </a:r>
            <a:r>
              <a:rPr lang="en-US" altLang="ja-JP"/>
              <a:t>LLM</a:t>
            </a:r>
            <a:r>
              <a:rPr lang="ja-JP" altLang="en-US"/>
              <a:t>を用いて修正する先行研究はありました。これらは、言語情報に依存してしまうのでその文章での造語や人の名前などの</a:t>
            </a:r>
            <a:r>
              <a:rPr lang="en-US" altLang="ja-JP"/>
              <a:t>LLM</a:t>
            </a:r>
            <a:r>
              <a:rPr lang="ja-JP" altLang="en-US"/>
              <a:t>自体の未知語があった場合に対応できていないといった課題があります。そこで、エンコーダで学習することによって視覚特徴を保持しながら言語特徴を捉えることでより高精度化が狙えるのではないかと考えています。</a:t>
            </a:r>
            <a:endParaRPr lang="en-US" altLang="ja-JP"/>
          </a:p>
          <a:p>
            <a:pPr marL="228600" indent="-228600">
              <a:buAutoNum type="arabicPeriod"/>
            </a:pPr>
            <a:endParaRPr lang="en-US" altLang="ja-JP"/>
          </a:p>
          <a:p>
            <a:pPr marL="228600" indent="-228600">
              <a:buAutoNum type="arabicPeriod"/>
            </a:pPr>
            <a:endParaRPr lang="en-US" altLang="ja-JP"/>
          </a:p>
          <a:p>
            <a:r>
              <a:rPr lang="en" altLang="ja-JP" b="1"/>
              <a:t>Q. </a:t>
            </a:r>
            <a:r>
              <a:rPr lang="ja-JP" altLang="en-US" b="1"/>
              <a:t>何が新規性（寄与）？</a:t>
            </a:r>
            <a:br>
              <a:rPr lang="ja-JP" altLang="en-US"/>
            </a:br>
            <a:r>
              <a:rPr lang="en" altLang="ja-JP" b="1"/>
              <a:t>A. LLM</a:t>
            </a:r>
            <a:r>
              <a:rPr lang="ja-JP" altLang="en-US" b="1"/>
              <a:t>を“後処理”ではなく、学習時の損失（</a:t>
            </a:r>
            <a:r>
              <a:rPr lang="en" altLang="ja-JP" b="1"/>
              <a:t>LAIL</a:t>
            </a:r>
            <a:r>
              <a:rPr lang="ja-JP" altLang="en" b="1"/>
              <a:t>）</a:t>
            </a:r>
            <a:r>
              <a:rPr lang="ja-JP" altLang="en-US" b="1"/>
              <a:t>として使ってエンコーダ表現に言語特徴を入れた点です。</a:t>
            </a:r>
            <a:r>
              <a:rPr lang="ja-JP" altLang="en-US"/>
              <a:t> </a:t>
            </a:r>
          </a:p>
          <a:p>
            <a:r>
              <a:rPr lang="en" altLang="ja-JP" b="1"/>
              <a:t>Q. </a:t>
            </a:r>
            <a:r>
              <a:rPr lang="ja-JP" altLang="en-US" b="1"/>
              <a:t>なぜ「言語特徴をエンコーダで」なの？</a:t>
            </a:r>
            <a:br>
              <a:rPr lang="ja-JP" altLang="en-US"/>
            </a:br>
            <a:r>
              <a:rPr lang="en" altLang="ja-JP" b="1"/>
              <a:t>A. </a:t>
            </a:r>
            <a:r>
              <a:rPr lang="ja-JP" altLang="en-US" b="1"/>
              <a:t>文字が曖昧なときに、出力後の補正よりも“特徴抽出段階”で文脈を使える方が効くからです。</a:t>
            </a:r>
            <a:r>
              <a:rPr lang="ja-JP" altLang="en-US"/>
              <a:t> </a:t>
            </a:r>
          </a:p>
          <a:p>
            <a:r>
              <a:rPr lang="en" altLang="ja-JP" b="1"/>
              <a:t>Q. </a:t>
            </a:r>
            <a:r>
              <a:rPr lang="ja-JP" altLang="en-US" b="1"/>
              <a:t>既存の外部言語モデル（後処理）と何が違う？</a:t>
            </a:r>
            <a:br>
              <a:rPr lang="ja-JP" altLang="en-US"/>
            </a:br>
            <a:r>
              <a:rPr lang="en" altLang="ja-JP" b="1"/>
              <a:t>A. </a:t>
            </a:r>
            <a:r>
              <a:rPr lang="ja-JP" altLang="en-US" b="1"/>
              <a:t>後処理は出力を直すだけですが、提案法はエンコーダ内部表現自体を文脈寄りに学習させます。</a:t>
            </a:r>
            <a:endParaRPr lang="ja-JP" altLang="en-US"/>
          </a:p>
          <a:p>
            <a:pPr marL="228600" indent="-228600">
              <a:buAutoNum type="arabicPeriod"/>
            </a:pPr>
            <a:endParaRPr lang="en-US" altLang="ja-JP"/>
          </a:p>
        </p:txBody>
      </p:sp>
      <p:sp>
        <p:nvSpPr>
          <p:cNvPr id="4" name="スライド番号プレースホルダー 3"/>
          <p:cNvSpPr>
            <a:spLocks noGrp="1"/>
          </p:cNvSpPr>
          <p:nvPr>
            <p:ph type="sldNum" sz="quarter" idx="5"/>
          </p:nvPr>
        </p:nvSpPr>
        <p:spPr/>
        <p:txBody>
          <a:bodyPr/>
          <a:lstStyle/>
          <a:p>
            <a:fld id="{325D33EE-53BE-43DC-8715-EC4A6D4E7EEB}" type="slidenum">
              <a:rPr kumimoji="1" lang="ja-JP" altLang="en-US" smtClean="0"/>
              <a:t>5</a:t>
            </a:fld>
            <a:endParaRPr kumimoji="1" lang="ja-JP" altLang="en-US"/>
          </a:p>
        </p:txBody>
      </p:sp>
    </p:spTree>
    <p:extLst>
      <p:ext uri="{BB962C8B-B14F-4D97-AF65-F5344CB8AC3E}">
        <p14:creationId xmlns:p14="http://schemas.microsoft.com/office/powerpoint/2010/main" val="17918538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indent="0">
              <a:buClr>
                <a:srgbClr val="4472C4"/>
              </a:buClr>
              <a:buNone/>
            </a:pPr>
            <a:r>
              <a:rPr lang="ja-JP" altLang="en-US"/>
              <a:t>　次に関連研究についてです。この研究では、</a:t>
            </a:r>
            <a:r>
              <a:rPr lang="en-US" altLang="ja-JP">
                <a:ea typeface="+mn-lt"/>
                <a:cs typeface="+mn-lt"/>
              </a:rPr>
              <a:t>Transformer</a:t>
            </a:r>
            <a:r>
              <a:rPr lang="ja-JP" altLang="en-US">
                <a:ea typeface="+mn-lt"/>
                <a:cs typeface="+mn-lt"/>
              </a:rPr>
              <a:t>ベースのエンコーダ構造を持つ手書き文字認識モデルによる精度向上化を測っていました。</a:t>
            </a:r>
            <a:endParaRPr kumimoji="1" lang="en-US" altLang="ja-JP"/>
          </a:p>
          <a:p>
            <a:r>
              <a:rPr lang="ja-JP" altLang="en-US">
                <a:ea typeface="+mn-lt"/>
                <a:cs typeface="+mn-lt"/>
              </a:rPr>
              <a:t>　エンコーダに</a:t>
            </a:r>
            <a:r>
              <a:rPr lang="en-US" altLang="ja-JP">
                <a:ea typeface="+mn-lt"/>
                <a:cs typeface="+mn-lt"/>
              </a:rPr>
              <a:t>Transformer</a:t>
            </a:r>
            <a:r>
              <a:rPr lang="ja-JP" altLang="en-US">
                <a:ea typeface="+mn-lt"/>
                <a:cs typeface="+mn-lt"/>
              </a:rPr>
              <a:t>を用いることによって、</a:t>
            </a:r>
            <a:endParaRPr kumimoji="1" lang="en-US" altLang="ja-JP"/>
          </a:p>
          <a:p>
            <a:endParaRPr kumimoji="1" lang="en-US" altLang="ja-JP"/>
          </a:p>
          <a:p>
            <a:endParaRPr kumimoji="1" lang="en-US" altLang="ja-JP"/>
          </a:p>
          <a:p>
            <a:endParaRPr kumimoji="1" lang="en-US" altLang="ja-JP"/>
          </a:p>
          <a:p>
            <a:endParaRPr kumimoji="1" lang="en-US" altLang="ja-JP"/>
          </a:p>
          <a:p>
            <a:endParaRPr kumimoji="1" lang="en-US" altLang="ja-JP"/>
          </a:p>
          <a:p>
            <a:endParaRPr kumimoji="1" lang="en-US" altLang="ja-JP"/>
          </a:p>
          <a:p>
            <a:endParaRPr kumimoji="1" lang="en-US" altLang="ja-JP"/>
          </a:p>
          <a:p>
            <a:endParaRPr kumimoji="1" lang="en-US" altLang="ja-JP"/>
          </a:p>
          <a:p>
            <a:endParaRPr kumimoji="1" lang="en-US" altLang="ja-JP"/>
          </a:p>
          <a:p>
            <a:endParaRPr kumimoji="1" lang="en-US" altLang="ja-JP"/>
          </a:p>
          <a:p>
            <a:endParaRPr kumimoji="1" lang="en-US" altLang="ja-JP"/>
          </a:p>
          <a:p>
            <a:endParaRPr kumimoji="1" lang="en-US" altLang="ja-JP"/>
          </a:p>
          <a:p>
            <a:r>
              <a:rPr kumimoji="1" lang="ja-JP" altLang="en-US"/>
              <a:t>アドバイス</a:t>
            </a:r>
            <a:endParaRPr kumimoji="1" lang="en-US" altLang="ja-JP"/>
          </a:p>
          <a:p>
            <a:r>
              <a:rPr kumimoji="1" lang="en-US" altLang="ja-JP"/>
              <a:t>- </a:t>
            </a:r>
            <a:r>
              <a:rPr kumimoji="1" lang="ja-JP" altLang="en-US"/>
              <a:t>関連研究長すぎ</a:t>
            </a:r>
            <a:endParaRPr kumimoji="1" lang="en-US" altLang="ja-JP"/>
          </a:p>
          <a:p>
            <a:pPr marL="171450" indent="-171450">
              <a:buFontTx/>
              <a:buChar char="-"/>
            </a:pPr>
            <a:r>
              <a:rPr kumimoji="1" lang="ja-JP" altLang="en-US"/>
              <a:t>喋った内容はいい</a:t>
            </a:r>
            <a:endParaRPr kumimoji="1" lang="en-US" altLang="ja-JP"/>
          </a:p>
          <a:p>
            <a:pPr marL="171450" indent="-171450">
              <a:buFontTx/>
              <a:buChar char="-"/>
            </a:pPr>
            <a:r>
              <a:rPr kumimoji="1" lang="ja-JP" altLang="en-US"/>
              <a:t>スライドにもう少し情報を載せる</a:t>
            </a:r>
            <a:endParaRPr kumimoji="1" lang="en-US" altLang="ja-JP"/>
          </a:p>
          <a:p>
            <a:pPr marL="171450" indent="-171450">
              <a:buFontTx/>
              <a:buChar char="-"/>
            </a:pPr>
            <a:r>
              <a:rPr kumimoji="1" lang="ja-JP" altLang="en-US"/>
              <a:t>エンコーダを強めに説明、前後文脈取れるよ</a:t>
            </a:r>
            <a:r>
              <a:rPr kumimoji="1" lang="en-US" altLang="ja-JP"/>
              <a:t>,transformer </a:t>
            </a:r>
            <a:r>
              <a:rPr kumimoji="1" lang="ja-JP" altLang="en-US"/>
              <a:t>を使ってる</a:t>
            </a:r>
            <a:endParaRPr kumimoji="1" lang="en-US" altLang="ja-JP"/>
          </a:p>
          <a:p>
            <a:pPr marL="171450" indent="-171450">
              <a:buFontTx/>
              <a:buChar char="-"/>
            </a:pPr>
            <a:endParaRPr kumimoji="1" lang="en-US" altLang="ja-JP"/>
          </a:p>
          <a:p>
            <a:endParaRPr kumimoji="1" lang="en-US" altLang="ja-JP"/>
          </a:p>
          <a:p>
            <a:r>
              <a:rPr kumimoji="1" lang="ja-JP" altLang="en-US"/>
              <a:t>スライド</a:t>
            </a:r>
            <a:endParaRPr kumimoji="1" lang="en-US" altLang="ja-JP"/>
          </a:p>
          <a:p>
            <a:r>
              <a:rPr kumimoji="1" lang="en-US" altLang="ja-JP"/>
              <a:t>- </a:t>
            </a:r>
            <a:r>
              <a:rPr kumimoji="1" lang="ja-JP" altLang="en-US"/>
              <a:t>エンコーダを持つ手描き文字認識もでる</a:t>
            </a:r>
            <a:endParaRPr kumimoji="1" lang="en-US" altLang="ja-JP"/>
          </a:p>
          <a:p>
            <a:r>
              <a:rPr kumimoji="1" lang="en-US" altLang="ja-JP"/>
              <a:t>- </a:t>
            </a:r>
            <a:r>
              <a:rPr kumimoji="1" lang="ja-JP" altLang="en-US"/>
              <a:t>矢印できること</a:t>
            </a:r>
            <a:endParaRPr kumimoji="1" lang="en-US" altLang="ja-JP"/>
          </a:p>
        </p:txBody>
      </p:sp>
      <p:sp>
        <p:nvSpPr>
          <p:cNvPr id="4" name="スライド番号プレースホルダー 3"/>
          <p:cNvSpPr>
            <a:spLocks noGrp="1"/>
          </p:cNvSpPr>
          <p:nvPr>
            <p:ph type="sldNum" sz="quarter" idx="5"/>
          </p:nvPr>
        </p:nvSpPr>
        <p:spPr/>
        <p:txBody>
          <a:bodyPr/>
          <a:lstStyle/>
          <a:p>
            <a:fld id="{325D33EE-53BE-43DC-8715-EC4A6D4E7EEB}" type="slidenum">
              <a:rPr kumimoji="1" lang="ja-JP" altLang="en-US" smtClean="0"/>
              <a:t>6</a:t>
            </a:fld>
            <a:endParaRPr kumimoji="1" lang="ja-JP" altLang="en-US"/>
          </a:p>
        </p:txBody>
      </p:sp>
    </p:spTree>
    <p:extLst>
      <p:ext uri="{BB962C8B-B14F-4D97-AF65-F5344CB8AC3E}">
        <p14:creationId xmlns:p14="http://schemas.microsoft.com/office/powerpoint/2010/main" val="13030584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650B5-B4B0-DF87-44E2-C413A00323E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4CAC418-01C8-EE02-8A23-09DD08302AE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7FF2DD9-DE3B-BAB5-813C-992E2DBCACF5}"/>
              </a:ext>
            </a:extLst>
          </p:cNvPr>
          <p:cNvSpPr>
            <a:spLocks noGrp="1"/>
          </p:cNvSpPr>
          <p:nvPr>
            <p:ph type="body" idx="1"/>
          </p:nvPr>
        </p:nvSpPr>
        <p:spPr/>
        <p:txBody>
          <a:bodyPr/>
          <a:lstStyle/>
          <a:p>
            <a:pPr marL="0" indent="0">
              <a:buClr>
                <a:srgbClr val="4472C4"/>
              </a:buClr>
              <a:buNone/>
            </a:pPr>
            <a:r>
              <a:rPr lang="ja-JP" altLang="en-US"/>
              <a:t>　画像内の広い範囲との関係性を取り込んだ視覚特徴の獲得ができることが強みとなっています。</a:t>
            </a:r>
            <a:endParaRPr lang="en-US" altLang="ja-JP">
              <a:ea typeface="游ゴシック"/>
            </a:endParaRPr>
          </a:p>
          <a:p>
            <a:pPr marL="0" indent="0">
              <a:buClr>
                <a:srgbClr val="4472C4"/>
              </a:buClr>
              <a:buNone/>
            </a:pPr>
            <a:endParaRPr lang="en-US" altLang="ja-JP"/>
          </a:p>
          <a:p>
            <a:endParaRPr kumimoji="1" lang="en-US" altLang="ja-JP"/>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　本研究では、この強み、私が提案する言語特徴付与との相性がいいため、</a:t>
            </a:r>
            <a:endParaRPr lang="en-US" altLang="ja-JP"/>
          </a:p>
          <a:p>
            <a:endParaRPr kumimoji="1" lang="en-US" altLang="ja-JP"/>
          </a:p>
          <a:p>
            <a:endParaRPr kumimoji="1" lang="en-US" altLang="ja-JP"/>
          </a:p>
          <a:p>
            <a:endParaRPr kumimoji="1" lang="en-US" altLang="ja-JP"/>
          </a:p>
        </p:txBody>
      </p:sp>
      <p:sp>
        <p:nvSpPr>
          <p:cNvPr id="4" name="スライド番号プレースホルダー 3">
            <a:extLst>
              <a:ext uri="{FF2B5EF4-FFF2-40B4-BE49-F238E27FC236}">
                <a16:creationId xmlns:a16="http://schemas.microsoft.com/office/drawing/2014/main" id="{FCBFF80E-8156-9F1B-89B5-0A26676C894E}"/>
              </a:ext>
            </a:extLst>
          </p:cNvPr>
          <p:cNvSpPr>
            <a:spLocks noGrp="1"/>
          </p:cNvSpPr>
          <p:nvPr>
            <p:ph type="sldNum" sz="quarter" idx="5"/>
          </p:nvPr>
        </p:nvSpPr>
        <p:spPr/>
        <p:txBody>
          <a:bodyPr/>
          <a:lstStyle/>
          <a:p>
            <a:fld id="{325D33EE-53BE-43DC-8715-EC4A6D4E7EEB}" type="slidenum">
              <a:rPr kumimoji="1" lang="ja-JP" altLang="en-US" smtClean="0"/>
              <a:t>7</a:t>
            </a:fld>
            <a:endParaRPr kumimoji="1" lang="ja-JP" altLang="en-US"/>
          </a:p>
        </p:txBody>
      </p:sp>
    </p:spTree>
    <p:extLst>
      <p:ext uri="{BB962C8B-B14F-4D97-AF65-F5344CB8AC3E}">
        <p14:creationId xmlns:p14="http://schemas.microsoft.com/office/powerpoint/2010/main" val="25093101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5F487-D5AE-154D-0BE7-2E087989047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0EF57A6-CDE4-9851-CE01-E20F4D88C76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62D4A0F-D8C8-5544-62DF-B80DBB04B19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　このモデルの学習済みエンコーダを用いて実験を行いました。</a:t>
            </a:r>
            <a:endParaRPr kumimoji="1" lang="en-US" altLang="ja-JP"/>
          </a:p>
          <a:p>
            <a:endParaRPr kumimoji="1" lang="en-US" altLang="ja-JP"/>
          </a:p>
          <a:p>
            <a:endParaRPr kumimoji="1" lang="en-US" altLang="ja-JP"/>
          </a:p>
          <a:p>
            <a:endParaRPr kumimoji="1" lang="en-US" altLang="ja-JP"/>
          </a:p>
          <a:p>
            <a:r>
              <a:rPr kumimoji="1" lang="en-US" altLang="ja-JP"/>
              <a:t>【</a:t>
            </a:r>
            <a:r>
              <a:rPr kumimoji="1" lang="ja-JP" altLang="en-US"/>
              <a:t>想定質問</a:t>
            </a:r>
            <a:r>
              <a:rPr kumimoji="1" lang="en-US" altLang="ja-JP"/>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a:t>1. </a:t>
            </a:r>
            <a:r>
              <a:rPr kumimoji="1" lang="ja-JP" altLang="en-US"/>
              <a:t>なぜエンコーダだけ使用するの？→本研究の提案手法の寄与を明確化するためです。なぜなら、この関連研究のデコーダでは言語モデルを直接使用しまっていて、本研究提案手法のエンコーダ自体に言語特徴を付与したことによる有効性をより示すためです。</a:t>
            </a:r>
            <a:endParaRPr kumimoji="1" lang="en-US" altLang="ja-JP"/>
          </a:p>
        </p:txBody>
      </p:sp>
      <p:sp>
        <p:nvSpPr>
          <p:cNvPr id="4" name="スライド番号プレースホルダー 3">
            <a:extLst>
              <a:ext uri="{FF2B5EF4-FFF2-40B4-BE49-F238E27FC236}">
                <a16:creationId xmlns:a16="http://schemas.microsoft.com/office/drawing/2014/main" id="{F759159F-9034-429F-D3E7-08AAC7AE6136}"/>
              </a:ext>
            </a:extLst>
          </p:cNvPr>
          <p:cNvSpPr>
            <a:spLocks noGrp="1"/>
          </p:cNvSpPr>
          <p:nvPr>
            <p:ph type="sldNum" sz="quarter" idx="5"/>
          </p:nvPr>
        </p:nvSpPr>
        <p:spPr/>
        <p:txBody>
          <a:bodyPr/>
          <a:lstStyle/>
          <a:p>
            <a:fld id="{325D33EE-53BE-43DC-8715-EC4A6D4E7EEB}" type="slidenum">
              <a:rPr kumimoji="1" lang="ja-JP" altLang="en-US" smtClean="0"/>
              <a:t>8</a:t>
            </a:fld>
            <a:endParaRPr kumimoji="1" lang="ja-JP" altLang="en-US"/>
          </a:p>
        </p:txBody>
      </p:sp>
    </p:spTree>
    <p:extLst>
      <p:ext uri="{BB962C8B-B14F-4D97-AF65-F5344CB8AC3E}">
        <p14:creationId xmlns:p14="http://schemas.microsoft.com/office/powerpoint/2010/main" val="15729778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CBD5B-F6C0-E383-8867-33C6C52DD75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543D525-B382-4BF3-CD54-59D7E441A64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3601A7C-8B5D-50DC-FB4A-9AD4B83454D3}"/>
              </a:ext>
            </a:extLst>
          </p:cNvPr>
          <p:cNvSpPr>
            <a:spLocks noGrp="1"/>
          </p:cNvSpPr>
          <p:nvPr>
            <p:ph type="body" idx="1"/>
          </p:nvPr>
        </p:nvSpPr>
        <p:spPr/>
        <p:txBody>
          <a:bodyPr/>
          <a:lstStyle/>
          <a:p>
            <a:pPr algn="l"/>
            <a:r>
              <a:rPr lang="ja-JP" altLang="en-US"/>
              <a:t>　もう一つの関連研究についてです。この研究では、自動音声認識における</a:t>
            </a:r>
            <a:r>
              <a:rPr lang="en-US" altLang="ja-JP"/>
              <a:t>LLM(Large Language Model) </a:t>
            </a:r>
            <a:r>
              <a:rPr lang="ja-JP" altLang="en-US"/>
              <a:t>を活用して</a:t>
            </a:r>
            <a:r>
              <a:rPr lang="en-US" altLang="ja-JP"/>
              <a:t>, </a:t>
            </a:r>
            <a:r>
              <a:rPr lang="ja-JP" altLang="en-US"/>
              <a:t>音声認識モデルを強化する学習手法が提案されていました。</a:t>
            </a:r>
            <a:endParaRPr lang="en-US" altLang="ja-JP"/>
          </a:p>
          <a:p>
            <a:pPr algn="l"/>
            <a:endParaRPr lang="en-US" altLang="ja-JP"/>
          </a:p>
          <a:p>
            <a:pPr algn="l"/>
            <a:r>
              <a:rPr lang="ja-JP" altLang="en-US"/>
              <a:t>　では、この学習フローについて説明していきたいと思います。</a:t>
            </a:r>
            <a:endParaRPr kumimoji="1" lang="en-US" altLang="ja-JP"/>
          </a:p>
          <a:p>
            <a:endParaRPr kumimoji="1" lang="en-US" altLang="ja-JP"/>
          </a:p>
          <a:p>
            <a:endParaRPr kumimoji="1" lang="en-US" altLang="ja-JP"/>
          </a:p>
          <a:p>
            <a:endParaRPr kumimoji="1" lang="en-US" altLang="ja-JP"/>
          </a:p>
          <a:p>
            <a:endParaRPr kumimoji="1" lang="en-US" altLang="ja-JP"/>
          </a:p>
          <a:p>
            <a:endParaRPr kumimoji="1" lang="en-US" altLang="ja-JP"/>
          </a:p>
          <a:p>
            <a:endParaRPr kumimoji="1" lang="en-US" altLang="ja-JP"/>
          </a:p>
        </p:txBody>
      </p:sp>
      <p:sp>
        <p:nvSpPr>
          <p:cNvPr id="4" name="スライド番号プレースホルダー 3">
            <a:extLst>
              <a:ext uri="{FF2B5EF4-FFF2-40B4-BE49-F238E27FC236}">
                <a16:creationId xmlns:a16="http://schemas.microsoft.com/office/drawing/2014/main" id="{6DD50F4E-F8C0-7D65-5023-4EAF7B9FF911}"/>
              </a:ext>
            </a:extLst>
          </p:cNvPr>
          <p:cNvSpPr>
            <a:spLocks noGrp="1"/>
          </p:cNvSpPr>
          <p:nvPr>
            <p:ph type="sldNum" sz="quarter" idx="5"/>
          </p:nvPr>
        </p:nvSpPr>
        <p:spPr/>
        <p:txBody>
          <a:bodyPr/>
          <a:lstStyle/>
          <a:p>
            <a:fld id="{325D33EE-53BE-43DC-8715-EC4A6D4E7EEB}" type="slidenum">
              <a:rPr kumimoji="1" lang="ja-JP" altLang="en-US" smtClean="0"/>
              <a:t>9</a:t>
            </a:fld>
            <a:endParaRPr kumimoji="1" lang="ja-JP" altLang="en-US"/>
          </a:p>
        </p:txBody>
      </p:sp>
    </p:spTree>
    <p:extLst>
      <p:ext uri="{BB962C8B-B14F-4D97-AF65-F5344CB8AC3E}">
        <p14:creationId xmlns:p14="http://schemas.microsoft.com/office/powerpoint/2010/main" val="5710770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B3ADC-1E33-8E3B-5364-8CC5E996A4A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69D0BEC-43C1-D76A-A635-432B4496C0D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653AFC1-DF85-8E24-71B9-32CB83AD5E75}"/>
              </a:ext>
            </a:extLst>
          </p:cNvPr>
          <p:cNvSpPr>
            <a:spLocks noGrp="1"/>
          </p:cNvSpPr>
          <p:nvPr>
            <p:ph type="body" idx="1"/>
          </p:nvPr>
        </p:nvSpPr>
        <p:spPr/>
        <p:txBody>
          <a:bodyPr/>
          <a:lstStyle/>
          <a:p>
            <a:pPr algn="l"/>
            <a:r>
              <a:rPr kumimoji="1" lang="ja-JP" altLang="en-US"/>
              <a:t>　はじめに、複数のエンコーダ内の層からコネクタ層へ入力していきます。</a:t>
            </a:r>
            <a:endParaRPr kumimoji="1" lang="en-US" altLang="ja-JP"/>
          </a:p>
          <a:p>
            <a:pPr algn="l"/>
            <a:endParaRPr kumimoji="1" lang="en-US" altLang="ja-JP"/>
          </a:p>
          <a:p>
            <a:endParaRPr kumimoji="1" lang="en-US" altLang="ja-JP"/>
          </a:p>
          <a:p>
            <a:endParaRPr kumimoji="1" lang="en-US" altLang="ja-JP"/>
          </a:p>
          <a:p>
            <a:endParaRPr kumimoji="1" lang="en-US" altLang="ja-JP"/>
          </a:p>
        </p:txBody>
      </p:sp>
      <p:sp>
        <p:nvSpPr>
          <p:cNvPr id="4" name="スライド番号プレースホルダー 3">
            <a:extLst>
              <a:ext uri="{FF2B5EF4-FFF2-40B4-BE49-F238E27FC236}">
                <a16:creationId xmlns:a16="http://schemas.microsoft.com/office/drawing/2014/main" id="{81C1235E-1086-85E6-CA4D-FF073A57F130}"/>
              </a:ext>
            </a:extLst>
          </p:cNvPr>
          <p:cNvSpPr>
            <a:spLocks noGrp="1"/>
          </p:cNvSpPr>
          <p:nvPr>
            <p:ph type="sldNum" sz="quarter" idx="5"/>
          </p:nvPr>
        </p:nvSpPr>
        <p:spPr/>
        <p:txBody>
          <a:bodyPr/>
          <a:lstStyle/>
          <a:p>
            <a:fld id="{325D33EE-53BE-43DC-8715-EC4A6D4E7EEB}" type="slidenum">
              <a:rPr kumimoji="1" lang="ja-JP" altLang="en-US" smtClean="0"/>
              <a:t>10</a:t>
            </a:fld>
            <a:endParaRPr kumimoji="1" lang="ja-JP" altLang="en-US"/>
          </a:p>
        </p:txBody>
      </p:sp>
    </p:spTree>
    <p:extLst>
      <p:ext uri="{BB962C8B-B14F-4D97-AF65-F5344CB8AC3E}">
        <p14:creationId xmlns:p14="http://schemas.microsoft.com/office/powerpoint/2010/main" val="26152895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7F34B-3E6B-4E2C-484E-80DD855AD7E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D5A44E0-BE2B-4490-3BCA-98C7AF06F5A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C66A445-58A8-2223-92F7-7B84A20A4406}"/>
              </a:ext>
            </a:extLst>
          </p:cNvPr>
          <p:cNvSpPr>
            <a:spLocks noGrp="1"/>
          </p:cNvSpPr>
          <p:nvPr>
            <p:ph type="body" idx="1"/>
          </p:nvPr>
        </p:nvSpPr>
        <p:spPr/>
        <p:txBody>
          <a:bodyPr/>
          <a:lstStyle/>
          <a:p>
            <a:pPr algn="l"/>
            <a:r>
              <a:rPr lang="ja-JP" altLang="en-US"/>
              <a:t>　次に、各コネクタ層から</a:t>
            </a:r>
            <a:r>
              <a:rPr lang="en-US" altLang="ja-JP"/>
              <a:t>LLM</a:t>
            </a:r>
            <a:r>
              <a:rPr lang="ja-JP" altLang="en-US"/>
              <a:t>へ入力します。</a:t>
            </a:r>
            <a:endParaRPr lang="en-US" altLang="ja-JP"/>
          </a:p>
        </p:txBody>
      </p:sp>
      <p:sp>
        <p:nvSpPr>
          <p:cNvPr id="4" name="スライド番号プレースホルダー 3">
            <a:extLst>
              <a:ext uri="{FF2B5EF4-FFF2-40B4-BE49-F238E27FC236}">
                <a16:creationId xmlns:a16="http://schemas.microsoft.com/office/drawing/2014/main" id="{43A32C2E-6F34-8D2D-EE38-2C9AE1937CC0}"/>
              </a:ext>
            </a:extLst>
          </p:cNvPr>
          <p:cNvSpPr>
            <a:spLocks noGrp="1"/>
          </p:cNvSpPr>
          <p:nvPr>
            <p:ph type="sldNum" sz="quarter" idx="5"/>
          </p:nvPr>
        </p:nvSpPr>
        <p:spPr/>
        <p:txBody>
          <a:bodyPr/>
          <a:lstStyle/>
          <a:p>
            <a:fld id="{325D33EE-53BE-43DC-8715-EC4A6D4E7EEB}" type="slidenum">
              <a:rPr kumimoji="1" lang="ja-JP" altLang="en-US" smtClean="0"/>
              <a:t>11</a:t>
            </a:fld>
            <a:endParaRPr kumimoji="1" lang="ja-JP" altLang="en-US"/>
          </a:p>
        </p:txBody>
      </p:sp>
    </p:spTree>
    <p:extLst>
      <p:ext uri="{BB962C8B-B14F-4D97-AF65-F5344CB8AC3E}">
        <p14:creationId xmlns:p14="http://schemas.microsoft.com/office/powerpoint/2010/main" val="33517008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2E920-4796-994D-4313-A129D7B44B0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24F0DAA-6B0E-8800-9218-AAF5CB5F9DF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F6D653C-0F52-81B5-9BB6-4C039C357011}"/>
              </a:ext>
            </a:extLst>
          </p:cNvPr>
          <p:cNvSpPr>
            <a:spLocks noGrp="1"/>
          </p:cNvSpPr>
          <p:nvPr>
            <p:ph type="body" idx="1"/>
          </p:nvPr>
        </p:nvSpPr>
        <p:spPr/>
        <p:txBody>
          <a:bodyPr/>
          <a:lstStyle/>
          <a:p>
            <a:pPr algn="l"/>
            <a:r>
              <a:rPr lang="ja-JP" altLang="en-US"/>
              <a:t>　最後に、この</a:t>
            </a:r>
            <a:r>
              <a:rPr lang="en-US" altLang="ja-JP"/>
              <a:t>LLM</a:t>
            </a:r>
            <a:r>
              <a:rPr lang="ja-JP" altLang="en-US"/>
              <a:t>から損失値を導出します。この損失値を用いて、</a:t>
            </a:r>
            <a:endParaRPr kumimoji="1" lang="en-US" altLang="ja-JP"/>
          </a:p>
          <a:p>
            <a:endParaRPr kumimoji="1" lang="en-US" altLang="ja-JP"/>
          </a:p>
          <a:p>
            <a:endParaRPr kumimoji="1" lang="en-US" altLang="ja-JP"/>
          </a:p>
          <a:p>
            <a:endParaRPr kumimoji="1" lang="en-US" altLang="ja-JP"/>
          </a:p>
          <a:p>
            <a:endParaRPr kumimoji="1" lang="en-US" altLang="ja-JP"/>
          </a:p>
          <a:p>
            <a:endParaRPr kumimoji="1" lang="en-US" altLang="ja-JP"/>
          </a:p>
          <a:p>
            <a:endParaRPr kumimoji="1" lang="en-US" altLang="ja-JP"/>
          </a:p>
          <a:p>
            <a:endParaRPr kumimoji="1" lang="en-US" altLang="ja-JP"/>
          </a:p>
        </p:txBody>
      </p:sp>
      <p:sp>
        <p:nvSpPr>
          <p:cNvPr id="4" name="スライド番号プレースホルダー 3">
            <a:extLst>
              <a:ext uri="{FF2B5EF4-FFF2-40B4-BE49-F238E27FC236}">
                <a16:creationId xmlns:a16="http://schemas.microsoft.com/office/drawing/2014/main" id="{AACD8347-EEE7-A369-91F1-E60ACD70527C}"/>
              </a:ext>
            </a:extLst>
          </p:cNvPr>
          <p:cNvSpPr>
            <a:spLocks noGrp="1"/>
          </p:cNvSpPr>
          <p:nvPr>
            <p:ph type="sldNum" sz="quarter" idx="5"/>
          </p:nvPr>
        </p:nvSpPr>
        <p:spPr/>
        <p:txBody>
          <a:bodyPr/>
          <a:lstStyle/>
          <a:p>
            <a:fld id="{325D33EE-53BE-43DC-8715-EC4A6D4E7EEB}" type="slidenum">
              <a:rPr kumimoji="1" lang="ja-JP" altLang="en-US" smtClean="0"/>
              <a:t>12</a:t>
            </a:fld>
            <a:endParaRPr kumimoji="1" lang="ja-JP" altLang="en-US"/>
          </a:p>
        </p:txBody>
      </p:sp>
    </p:spTree>
    <p:extLst>
      <p:ext uri="{BB962C8B-B14F-4D97-AF65-F5344CB8AC3E}">
        <p14:creationId xmlns:p14="http://schemas.microsoft.com/office/powerpoint/2010/main" val="6169482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BD9DB-DDFB-B68C-79C1-97DB9F0CEB7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7DB4172-1EAF-2045-74F3-4A6F7F96E19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CC1315F-7642-504F-1767-89695DCC3044}"/>
              </a:ext>
            </a:extLst>
          </p:cNvPr>
          <p:cNvSpPr>
            <a:spLocks noGrp="1"/>
          </p:cNvSpPr>
          <p:nvPr>
            <p:ph type="body" idx="1"/>
          </p:nvPr>
        </p:nvSpPr>
        <p:spPr/>
        <p:txBody>
          <a:bodyPr/>
          <a:lstStyle/>
          <a:p>
            <a:pPr algn="l"/>
            <a:r>
              <a:rPr lang="ja-JP" altLang="en-US"/>
              <a:t>　エンコーダで言語特徴を獲得するような学習を促します。ゆえに、音声認識モデルのエンコーダが</a:t>
            </a:r>
            <a:r>
              <a:rPr lang="en-US" altLang="ja-JP"/>
              <a:t>,</a:t>
            </a:r>
            <a:r>
              <a:rPr lang="ja-JP" altLang="en-US"/>
              <a:t>入力音声テキストの音声特徴だけでなく、言語特徴も同時に捉えることによって、精度が向上したといった結果が得られていました。</a:t>
            </a:r>
            <a:endParaRPr lang="en-US" altLang="ja-JP"/>
          </a:p>
          <a:p>
            <a:pPr algn="l"/>
            <a:endParaRPr lang="en-US" altLang="ja-JP"/>
          </a:p>
          <a:p>
            <a:pPr algn="l"/>
            <a:endParaRPr lang="en-US" altLang="ja-JP"/>
          </a:p>
          <a:p>
            <a:pPr algn="l"/>
            <a:endParaRPr lang="en-US" altLang="ja-JP"/>
          </a:p>
          <a:p>
            <a:pPr algn="l"/>
            <a:endParaRPr lang="en-US" altLang="ja-JP"/>
          </a:p>
        </p:txBody>
      </p:sp>
      <p:sp>
        <p:nvSpPr>
          <p:cNvPr id="4" name="スライド番号プレースホルダー 3">
            <a:extLst>
              <a:ext uri="{FF2B5EF4-FFF2-40B4-BE49-F238E27FC236}">
                <a16:creationId xmlns:a16="http://schemas.microsoft.com/office/drawing/2014/main" id="{B8E2AD0F-031C-6451-7991-664EB99A7BD4}"/>
              </a:ext>
            </a:extLst>
          </p:cNvPr>
          <p:cNvSpPr>
            <a:spLocks noGrp="1"/>
          </p:cNvSpPr>
          <p:nvPr>
            <p:ph type="sldNum" sz="quarter" idx="5"/>
          </p:nvPr>
        </p:nvSpPr>
        <p:spPr/>
        <p:txBody>
          <a:bodyPr/>
          <a:lstStyle/>
          <a:p>
            <a:fld id="{325D33EE-53BE-43DC-8715-EC4A6D4E7EEB}" type="slidenum">
              <a:rPr kumimoji="1" lang="ja-JP" altLang="en-US" smtClean="0"/>
              <a:t>13</a:t>
            </a:fld>
            <a:endParaRPr kumimoji="1" lang="ja-JP" altLang="en-US"/>
          </a:p>
        </p:txBody>
      </p:sp>
    </p:spTree>
    <p:extLst>
      <p:ext uri="{BB962C8B-B14F-4D97-AF65-F5344CB8AC3E}">
        <p14:creationId xmlns:p14="http://schemas.microsoft.com/office/powerpoint/2010/main" val="34370051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185A6-4EA3-549C-864C-58BFF2C071B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13E691C-1799-80B3-3E7B-609523723D6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250DD8F-9524-F66E-1C58-83A9EF71BEF0}"/>
              </a:ext>
            </a:extLst>
          </p:cNvPr>
          <p:cNvSpPr>
            <a:spLocks noGrp="1"/>
          </p:cNvSpPr>
          <p:nvPr>
            <p:ph type="body" idx="1"/>
          </p:nvPr>
        </p:nvSpPr>
        <p:spPr/>
        <p:txBody>
          <a:bodyPr/>
          <a:lstStyle/>
          <a:p>
            <a:pPr algn="l"/>
            <a:r>
              <a:rPr lang="ja-JP" altLang="en-US"/>
              <a:t>　本研究では</a:t>
            </a:r>
            <a:r>
              <a:rPr lang="en-US" altLang="ja-JP"/>
              <a:t>,</a:t>
            </a:r>
            <a:r>
              <a:rPr lang="ja-JP" altLang="en-US"/>
              <a:t>この学習の枠組みを手書き文字認識に拡張していきました。</a:t>
            </a:r>
            <a:endParaRPr lang="en-US" altLang="ja-JP"/>
          </a:p>
        </p:txBody>
      </p:sp>
      <p:sp>
        <p:nvSpPr>
          <p:cNvPr id="4" name="スライド番号プレースホルダー 3">
            <a:extLst>
              <a:ext uri="{FF2B5EF4-FFF2-40B4-BE49-F238E27FC236}">
                <a16:creationId xmlns:a16="http://schemas.microsoft.com/office/drawing/2014/main" id="{5BEB7ED0-2648-CBFB-B280-F4AB146CB83E}"/>
              </a:ext>
            </a:extLst>
          </p:cNvPr>
          <p:cNvSpPr>
            <a:spLocks noGrp="1"/>
          </p:cNvSpPr>
          <p:nvPr>
            <p:ph type="sldNum" sz="quarter" idx="5"/>
          </p:nvPr>
        </p:nvSpPr>
        <p:spPr/>
        <p:txBody>
          <a:bodyPr/>
          <a:lstStyle/>
          <a:p>
            <a:fld id="{325D33EE-53BE-43DC-8715-EC4A6D4E7EEB}" type="slidenum">
              <a:rPr kumimoji="1" lang="ja-JP" altLang="en-US" smtClean="0"/>
              <a:t>14</a:t>
            </a:fld>
            <a:endParaRPr kumimoji="1" lang="ja-JP" altLang="en-US"/>
          </a:p>
        </p:txBody>
      </p:sp>
    </p:spTree>
    <p:extLst>
      <p:ext uri="{BB962C8B-B14F-4D97-AF65-F5344CB8AC3E}">
        <p14:creationId xmlns:p14="http://schemas.microsoft.com/office/powerpoint/2010/main" val="41644171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8233E-D54E-59B7-A6F1-9F151FB8407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0DFDC69-AAAD-4369-9043-46A30374727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AAE163E-DE6E-B6E1-B02F-0D75E8AF310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　提案手法の説明していきたいと思います。提案するモデルでは、エンコーダに視覚特徴だけでなく、言語特徴を獲得するように学習させるモデル設計をおこないました。</a:t>
            </a:r>
            <a:endParaRPr lang="en-US" altLang="ja-JP"/>
          </a:p>
          <a:p>
            <a:endParaRPr lang="en-US" altLang="ja-JP"/>
          </a:p>
          <a:p>
            <a:endParaRPr lang="en-US" altLang="ja-JP"/>
          </a:p>
          <a:p>
            <a:endParaRPr lang="en-US" altLang="ja-JP"/>
          </a:p>
          <a:p>
            <a:endParaRPr lang="en-US" altLang="ja-JP"/>
          </a:p>
          <a:p>
            <a:endParaRPr lang="en-US" altLang="ja-JP"/>
          </a:p>
          <a:p>
            <a:endParaRPr lang="en-US" altLang="ja-JP"/>
          </a:p>
          <a:p>
            <a:endParaRPr lang="en-US" altLang="ja-JP"/>
          </a:p>
          <a:p>
            <a:endParaRPr lang="en-US" altLang="ja-JP"/>
          </a:p>
          <a:p>
            <a:endParaRPr lang="en-US" altLang="ja-JP"/>
          </a:p>
          <a:p>
            <a:endParaRPr lang="en-US" altLang="ja-JP"/>
          </a:p>
          <a:p>
            <a:endParaRPr lang="en-US" altLang="ja-JP"/>
          </a:p>
        </p:txBody>
      </p:sp>
      <p:sp>
        <p:nvSpPr>
          <p:cNvPr id="4" name="スライド番号プレースホルダー 3">
            <a:extLst>
              <a:ext uri="{FF2B5EF4-FFF2-40B4-BE49-F238E27FC236}">
                <a16:creationId xmlns:a16="http://schemas.microsoft.com/office/drawing/2014/main" id="{C2897790-ABB1-3247-542E-3D8A1EE3E71E}"/>
              </a:ext>
            </a:extLst>
          </p:cNvPr>
          <p:cNvSpPr>
            <a:spLocks noGrp="1"/>
          </p:cNvSpPr>
          <p:nvPr>
            <p:ph type="sldNum" sz="quarter" idx="5"/>
          </p:nvPr>
        </p:nvSpPr>
        <p:spPr/>
        <p:txBody>
          <a:bodyPr/>
          <a:lstStyle/>
          <a:p>
            <a:fld id="{325D33EE-53BE-43DC-8715-EC4A6D4E7EEB}" type="slidenum">
              <a:rPr kumimoji="1" lang="ja-JP" altLang="en-US" smtClean="0"/>
              <a:t>15</a:t>
            </a:fld>
            <a:endParaRPr kumimoji="1" lang="ja-JP" altLang="en-US"/>
          </a:p>
        </p:txBody>
      </p:sp>
    </p:spTree>
    <p:extLst>
      <p:ext uri="{BB962C8B-B14F-4D97-AF65-F5344CB8AC3E}">
        <p14:creationId xmlns:p14="http://schemas.microsoft.com/office/powerpoint/2010/main" val="40770780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5897F-D216-99CA-5F16-3DA0ABDAAF9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51FD383-D479-753A-EEF7-EC6CB54DE74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562524E-BA89-670E-7678-E6FAA28B915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　提案モデルでは</a:t>
            </a:r>
            <a:r>
              <a:rPr lang="en-US" altLang="ja-JP"/>
              <a:t>,</a:t>
            </a:r>
            <a:r>
              <a:rPr lang="ja-JP" altLang="en-US"/>
              <a:t>先ほどの</a:t>
            </a:r>
            <a:r>
              <a:rPr lang="en-US" altLang="ja-JP"/>
              <a:t>Transformer</a:t>
            </a:r>
            <a:r>
              <a:rPr lang="ja-JP" altLang="en-US"/>
              <a:t>ベースのエンコーダを通じてデコーダで予測されたテキストに対して</a:t>
            </a:r>
            <a:r>
              <a:rPr lang="en-US" altLang="ja-JP"/>
              <a:t>CTC</a:t>
            </a:r>
            <a:r>
              <a:rPr lang="ja-JP" altLang="en-US"/>
              <a:t>損失関数を用いて損失値を導出します。これは、一般的な手書き文字認識で使用される損失関数であり、モデル全体の最適化を促します。この損失のみだと、特にエンコーダでは、各時刻の文字を正しいか判定するだけなので、文字間の文法</a:t>
            </a:r>
            <a:r>
              <a:rPr lang="en-US" altLang="ja-JP"/>
              <a:t>/</a:t>
            </a:r>
            <a:r>
              <a:rPr lang="ja-JP" altLang="en-US"/>
              <a:t>語彙の制約が学習されにくく、特に字形が曖昧な場合の誤認識を防ぎにくいです。</a:t>
            </a:r>
            <a:endParaRPr lang="en-US" altLang="ja-JP"/>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　そこで、</a:t>
            </a:r>
            <a:r>
              <a:rPr lang="en-US" altLang="ja-JP"/>
              <a:t>Transformer</a:t>
            </a:r>
            <a:r>
              <a:rPr lang="ja-JP" altLang="en-US"/>
              <a:t>エンコーダから直接コネクタ層を通して、 </a:t>
            </a:r>
            <a:r>
              <a:rPr lang="en-US" altLang="ja-JP"/>
              <a:t>LLM </a:t>
            </a:r>
            <a:r>
              <a:rPr lang="ja-JP" altLang="en-US"/>
              <a:t>の埋め込み空間の入力とします。この各層の </a:t>
            </a:r>
            <a:r>
              <a:rPr lang="en-US" altLang="ja-JP"/>
              <a:t>LLM</a:t>
            </a:r>
            <a:r>
              <a:rPr lang="ja-JP" altLang="en-US"/>
              <a:t>デコーダから計算される損失値を後に説明する</a:t>
            </a:r>
            <a:r>
              <a:rPr lang="en-US" altLang="ja-JP"/>
              <a:t>LAIL</a:t>
            </a:r>
            <a:r>
              <a:rPr lang="ja-JP" altLang="en-US"/>
              <a:t>で導出し、使用します。</a:t>
            </a:r>
            <a:endParaRPr lang="en-US" altLang="ja-JP"/>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　なお、ここで</a:t>
            </a:r>
            <a:r>
              <a:rPr lang="en-US" altLang="ja-JP"/>
              <a:t>LLM</a:t>
            </a:r>
            <a:r>
              <a:rPr lang="ja-JP" altLang="en-US"/>
              <a:t>は内部パラメータを固定しここからデコーダを介さずこの損失値を用いてエンコーダを学習させます。</a:t>
            </a:r>
            <a:endParaRPr lang="en-US" altLang="ja-JP"/>
          </a:p>
        </p:txBody>
      </p:sp>
      <p:sp>
        <p:nvSpPr>
          <p:cNvPr id="4" name="スライド番号プレースホルダー 3">
            <a:extLst>
              <a:ext uri="{FF2B5EF4-FFF2-40B4-BE49-F238E27FC236}">
                <a16:creationId xmlns:a16="http://schemas.microsoft.com/office/drawing/2014/main" id="{A0D4388E-1289-4A19-8BDC-441748368E7A}"/>
              </a:ext>
            </a:extLst>
          </p:cNvPr>
          <p:cNvSpPr>
            <a:spLocks noGrp="1"/>
          </p:cNvSpPr>
          <p:nvPr>
            <p:ph type="sldNum" sz="quarter" idx="5"/>
          </p:nvPr>
        </p:nvSpPr>
        <p:spPr/>
        <p:txBody>
          <a:bodyPr/>
          <a:lstStyle/>
          <a:p>
            <a:fld id="{325D33EE-53BE-43DC-8715-EC4A6D4E7EEB}" type="slidenum">
              <a:rPr kumimoji="1" lang="ja-JP" altLang="en-US" smtClean="0"/>
              <a:t>16</a:t>
            </a:fld>
            <a:endParaRPr kumimoji="1" lang="ja-JP" altLang="en-US"/>
          </a:p>
        </p:txBody>
      </p:sp>
    </p:spTree>
    <p:extLst>
      <p:ext uri="{BB962C8B-B14F-4D97-AF65-F5344CB8AC3E}">
        <p14:creationId xmlns:p14="http://schemas.microsoft.com/office/powerpoint/2010/main" val="7474221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168FB-D5C4-87D3-2CE9-EF6B81CA652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E2F38D3-69B1-2B88-A7CB-C795B78C26C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89148AA-9F67-CE57-B873-7816A40EAE3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　このようなモデル構造、また損失関数によって、視覚特徴だけでなく、同時に言語特徴を獲得するように学習が促されます。</a:t>
            </a:r>
            <a:endParaRPr lang="en-US" altLang="ja-JP"/>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a:p>
          <a:p>
            <a:r>
              <a:rPr lang="en" altLang="ja-JP" b="1"/>
              <a:t>Q. </a:t>
            </a:r>
            <a:r>
              <a:rPr lang="ja-JP" altLang="en-US" b="1"/>
              <a:t>なぜデコーダを</a:t>
            </a:r>
            <a:r>
              <a:rPr lang="en" altLang="ja-JP" b="1"/>
              <a:t>CTC</a:t>
            </a:r>
            <a:r>
              <a:rPr lang="ja-JP" altLang="en-US" b="1"/>
              <a:t>にしたの？</a:t>
            </a:r>
            <a:br>
              <a:rPr lang="ja-JP" altLang="en-US"/>
            </a:br>
            <a:r>
              <a:rPr lang="en" altLang="ja-JP" b="1"/>
              <a:t>A. </a:t>
            </a:r>
            <a:r>
              <a:rPr lang="ja-JP" altLang="en-US" b="1"/>
              <a:t>デコーダ側の言語能力を弱めて、エンコーダに言語特徴を入れた効果を分離して評価するためです。</a:t>
            </a:r>
            <a:r>
              <a:rPr lang="ja-JP" altLang="en-US"/>
              <a:t> </a:t>
            </a:r>
          </a:p>
          <a:p>
            <a:r>
              <a:rPr lang="en" altLang="ja-JP" b="1"/>
              <a:t>Q. LAIL</a:t>
            </a:r>
            <a:r>
              <a:rPr lang="ja-JP" altLang="en-US" b="1"/>
              <a:t>って結局なに？</a:t>
            </a:r>
            <a:br>
              <a:rPr lang="ja-JP" altLang="en-US"/>
            </a:br>
            <a:r>
              <a:rPr lang="en" altLang="ja-JP" b="1"/>
              <a:t>A. </a:t>
            </a:r>
            <a:r>
              <a:rPr lang="ja-JP" altLang="en-US" b="1"/>
              <a:t>エンコーダ中間表現をコネクタで</a:t>
            </a:r>
            <a:r>
              <a:rPr lang="en" altLang="ja-JP" b="1"/>
              <a:t>LLM</a:t>
            </a:r>
            <a:r>
              <a:rPr lang="ja-JP" altLang="en-US" b="1"/>
              <a:t>空間に写像し、正解文字列の尤度から“言語的に良い表現”へ寄せる損失です。</a:t>
            </a:r>
            <a:r>
              <a:rPr lang="ja-JP" altLang="en-US"/>
              <a:t> </a:t>
            </a:r>
          </a:p>
          <a:p>
            <a:r>
              <a:rPr lang="en" altLang="ja-JP" b="1"/>
              <a:t>Q. </a:t>
            </a:r>
            <a:r>
              <a:rPr lang="ja-JP" altLang="en-US" b="1"/>
              <a:t>学習の損失はどうなってる？</a:t>
            </a:r>
            <a:br>
              <a:rPr lang="ja-JP" altLang="en-US"/>
            </a:br>
            <a:r>
              <a:rPr lang="en" altLang="ja-JP" b="1"/>
              <a:t>A. </a:t>
            </a:r>
            <a:r>
              <a:rPr lang="ja-JP" altLang="en-US" b="1"/>
              <a:t>文字認識の</a:t>
            </a:r>
            <a:r>
              <a:rPr lang="en" altLang="ja-JP" b="1"/>
              <a:t>CTC</a:t>
            </a:r>
            <a:r>
              <a:rPr lang="ja-JP" altLang="en-US" b="1"/>
              <a:t>損失＋</a:t>
            </a:r>
            <a:r>
              <a:rPr lang="en" altLang="ja-JP" b="1"/>
              <a:t>LAIL</a:t>
            </a:r>
            <a:r>
              <a:rPr lang="ja-JP" altLang="en-US" b="1"/>
              <a:t>損失の加重和（</a:t>
            </a:r>
            <a:r>
              <a:rPr lang="el-GR" altLang="ja-JP" b="1"/>
              <a:t>α</a:t>
            </a:r>
            <a:r>
              <a:rPr lang="ja-JP" altLang="en-US" b="1"/>
              <a:t>で調整）です。</a:t>
            </a:r>
            <a:r>
              <a:rPr lang="ja-JP" altLang="en-US"/>
              <a:t> </a:t>
            </a:r>
          </a:p>
          <a:p>
            <a:r>
              <a:rPr lang="en" altLang="ja-JP" b="1"/>
              <a:t>Q. </a:t>
            </a:r>
            <a:r>
              <a:rPr lang="ja-JP" altLang="en-US" b="1"/>
              <a:t>推論時も</a:t>
            </a:r>
            <a:r>
              <a:rPr lang="en" altLang="ja-JP" b="1"/>
              <a:t>LLM</a:t>
            </a:r>
            <a:r>
              <a:rPr lang="ja-JP" altLang="en-US" b="1"/>
              <a:t>を使うの？重くない？</a:t>
            </a:r>
            <a:br>
              <a:rPr lang="ja-JP" altLang="en-US"/>
            </a:br>
            <a:r>
              <a:rPr lang="en" altLang="ja-JP" b="1"/>
              <a:t>A. </a:t>
            </a:r>
            <a:r>
              <a:rPr lang="ja-JP" altLang="en-US" b="1"/>
              <a:t>いいえ、</a:t>
            </a:r>
            <a:r>
              <a:rPr lang="en" altLang="ja-JP" b="1"/>
              <a:t>LLM</a:t>
            </a:r>
            <a:r>
              <a:rPr lang="ja-JP" altLang="en-US" b="1"/>
              <a:t>は学習時の損失計算に使うだけで、推論は</a:t>
            </a:r>
            <a:r>
              <a:rPr lang="en" altLang="ja-JP" b="1"/>
              <a:t>CTC</a:t>
            </a:r>
            <a:r>
              <a:rPr lang="ja-JP" altLang="en-US" b="1"/>
              <a:t>デコーダで回します。</a:t>
            </a:r>
            <a:r>
              <a:rPr lang="ja-JP" altLang="en-US"/>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a:p>
        </p:txBody>
      </p:sp>
      <p:sp>
        <p:nvSpPr>
          <p:cNvPr id="4" name="スライド番号プレースホルダー 3">
            <a:extLst>
              <a:ext uri="{FF2B5EF4-FFF2-40B4-BE49-F238E27FC236}">
                <a16:creationId xmlns:a16="http://schemas.microsoft.com/office/drawing/2014/main" id="{8BA50537-7916-6A50-AF42-DA58CD381DB1}"/>
              </a:ext>
            </a:extLst>
          </p:cNvPr>
          <p:cNvSpPr>
            <a:spLocks noGrp="1"/>
          </p:cNvSpPr>
          <p:nvPr>
            <p:ph type="sldNum" sz="quarter" idx="5"/>
          </p:nvPr>
        </p:nvSpPr>
        <p:spPr/>
        <p:txBody>
          <a:bodyPr/>
          <a:lstStyle/>
          <a:p>
            <a:fld id="{325D33EE-53BE-43DC-8715-EC4A6D4E7EEB}" type="slidenum">
              <a:rPr kumimoji="1" lang="ja-JP" altLang="en-US" smtClean="0"/>
              <a:t>17</a:t>
            </a:fld>
            <a:endParaRPr kumimoji="1" lang="ja-JP" altLang="en-US"/>
          </a:p>
        </p:txBody>
      </p:sp>
    </p:spTree>
    <p:extLst>
      <p:ext uri="{BB962C8B-B14F-4D97-AF65-F5344CB8AC3E}">
        <p14:creationId xmlns:p14="http://schemas.microsoft.com/office/powerpoint/2010/main" val="33588180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b="0"/>
              <a:t>　具体的な損失関数の式を説明していきます。</a:t>
            </a:r>
            <a:endParaRPr lang="en-US" altLang="ja-JP" b="0"/>
          </a:p>
          <a:p>
            <a:r>
              <a:rPr lang="ja-JP" altLang="en-US" b="0"/>
              <a:t>　</a:t>
            </a:r>
            <a:r>
              <a:rPr lang="en-US" altLang="ja-JP" b="0"/>
              <a:t>LAIL</a:t>
            </a:r>
            <a:r>
              <a:rPr lang="ja-JP" altLang="en-US" b="0"/>
              <a:t>はこのような式になっています。エンコーダ内の特定</a:t>
            </a:r>
            <a:r>
              <a:rPr lang="ja-JP" altLang="en-US"/>
              <a:t>層の特徴 </a:t>
            </a:r>
            <a:r>
              <a:rPr kumimoji="1" lang="en-US" altLang="ja-JP" sz="1200" i="0" kern="1200" err="1">
                <a:solidFill>
                  <a:schemeClr val="tx1"/>
                </a:solidFill>
                <a:latin typeface="+mn-lt"/>
                <a:ea typeface="+mn-ea"/>
                <a:cs typeface="+mn-cs"/>
              </a:rPr>
              <a:t>ℎ</a:t>
            </a:r>
            <a:r>
              <a:rPr kumimoji="1" lang="ja-JP" altLang="en-US" sz="1200" b="0" i="0" kern="1200">
                <a:solidFill>
                  <a:schemeClr val="tx1"/>
                </a:solidFill>
                <a:latin typeface="+mn-lt"/>
                <a:ea typeface="+mn-ea"/>
                <a:cs typeface="+mn-cs"/>
              </a:rPr>
              <a:t>を</a:t>
            </a:r>
            <a:r>
              <a:rPr lang="ja-JP" altLang="en-US"/>
              <a:t>条件として，正解文字列</a:t>
            </a:r>
            <a:r>
              <a:rPr lang="en-US" altLang="ja-JP"/>
              <a:t> y </a:t>
            </a:r>
            <a:r>
              <a:rPr lang="ja-JP" altLang="en-US"/>
              <a:t>の各時刻の出現確率 </a:t>
            </a:r>
            <a:r>
              <a:rPr kumimoji="1" lang="ja-JP" altLang="en-US" sz="1200" i="0" kern="1200">
                <a:solidFill>
                  <a:schemeClr val="tx1"/>
                </a:solidFill>
                <a:latin typeface="+mn-lt"/>
                <a:ea typeface="+mn-ea"/>
                <a:cs typeface="+mn-cs"/>
              </a:rPr>
              <a:t>𝑃（）</a:t>
            </a:r>
            <a:r>
              <a:rPr lang="ja-JP" altLang="en-US"/>
              <a:t>を最大化することでエンコーダで獲得する特徴が</a:t>
            </a:r>
            <a:r>
              <a:rPr lang="en-US" altLang="ja-JP"/>
              <a:t>LLM</a:t>
            </a:r>
            <a:r>
              <a:rPr lang="ja-JP" altLang="en-US"/>
              <a:t>にとって予測可能な特徴になるよう制約を与える損失関数です。</a:t>
            </a:r>
            <a:endParaRPr lang="en-US" altLang="ja-JP" b="0"/>
          </a:p>
        </p:txBody>
      </p:sp>
      <p:sp>
        <p:nvSpPr>
          <p:cNvPr id="4" name="スライド番号プレースホルダー 3"/>
          <p:cNvSpPr>
            <a:spLocks noGrp="1"/>
          </p:cNvSpPr>
          <p:nvPr>
            <p:ph type="sldNum" sz="quarter" idx="5"/>
          </p:nvPr>
        </p:nvSpPr>
        <p:spPr/>
        <p:txBody>
          <a:bodyPr/>
          <a:lstStyle/>
          <a:p>
            <a:fld id="{325D33EE-53BE-43DC-8715-EC4A6D4E7EEB}" type="slidenum">
              <a:rPr kumimoji="1" lang="ja-JP" altLang="en-US" smtClean="0"/>
              <a:t>18</a:t>
            </a:fld>
            <a:endParaRPr kumimoji="1" lang="ja-JP" altLang="en-US"/>
          </a:p>
        </p:txBody>
      </p:sp>
    </p:spTree>
    <p:extLst>
      <p:ext uri="{BB962C8B-B14F-4D97-AF65-F5344CB8AC3E}">
        <p14:creationId xmlns:p14="http://schemas.microsoft.com/office/powerpoint/2010/main" val="4080950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97BF-1266-FB3D-A2E3-3484835EBF1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2563761-BB2B-21FE-41D5-66755FEE289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27D44C6-3ABF-ED18-BDBD-401A772FA352}"/>
              </a:ext>
            </a:extLst>
          </p:cNvPr>
          <p:cNvSpPr>
            <a:spLocks noGrp="1"/>
          </p:cNvSpPr>
          <p:nvPr>
            <p:ph type="body" idx="1"/>
          </p:nvPr>
        </p:nvSpPr>
        <p:spPr/>
        <p:txBody>
          <a:bodyPr/>
          <a:lstStyle/>
          <a:p>
            <a:r>
              <a:rPr lang="ja-JP" altLang="en-US" b="0"/>
              <a:t>　次に</a:t>
            </a:r>
            <a:r>
              <a:rPr lang="en-US" altLang="ja-JP" b="0"/>
              <a:t>CTC</a:t>
            </a:r>
            <a:r>
              <a:rPr lang="ja-JP" altLang="en-US" b="0"/>
              <a:t>損失関数についてです。　</a:t>
            </a:r>
            <a:endParaRPr lang="en-US" altLang="ja-JP" b="0"/>
          </a:p>
          <a:p>
            <a:r>
              <a:rPr lang="ja-JP" altLang="en-US" b="0"/>
              <a:t>　一般的に手書き文字認識で使用されている損失関数です。</a:t>
            </a:r>
            <a:r>
              <a:rPr lang="en-US" altLang="ja-JP" b="0"/>
              <a:t>CTC</a:t>
            </a:r>
            <a:r>
              <a:rPr lang="ja-JP" altLang="en-US" b="0"/>
              <a:t>損失関数は、</a:t>
            </a:r>
            <a:r>
              <a:rPr kumimoji="1" lang="ja-JP" altLang="en-US"/>
              <a:t>入力の各時刻と、出力ラベルをどう対応づけるのかを明示せず、モデルの予測が正解出力系列</a:t>
            </a:r>
            <a:r>
              <a:rPr kumimoji="1" lang="en-US" altLang="ja-JP"/>
              <a:t> y </a:t>
            </a:r>
            <a:r>
              <a:rPr kumimoji="1" lang="ja-JP" altLang="en-US"/>
              <a:t>全体となるような確率</a:t>
            </a:r>
            <a:r>
              <a:rPr kumimoji="1" lang="en-US" altLang="ja-JP"/>
              <a:t>P</a:t>
            </a:r>
            <a:r>
              <a:rPr kumimoji="1" lang="ja-JP" altLang="en-US"/>
              <a:t>を最大化する損失です。</a:t>
            </a:r>
            <a:endParaRPr kumimoji="1" lang="en-US" altLang="ja-JP"/>
          </a:p>
          <a:p>
            <a:endParaRPr kumimoji="1" lang="en-US" altLang="ja-JP"/>
          </a:p>
          <a:p>
            <a:endParaRPr kumimoji="1" lang="en-US" altLang="ja-JP"/>
          </a:p>
          <a:p>
            <a:endParaRPr kumimoji="1" lang="en-US" altLang="ja-JP"/>
          </a:p>
        </p:txBody>
      </p:sp>
      <p:sp>
        <p:nvSpPr>
          <p:cNvPr id="4" name="スライド番号プレースホルダー 3">
            <a:extLst>
              <a:ext uri="{FF2B5EF4-FFF2-40B4-BE49-F238E27FC236}">
                <a16:creationId xmlns:a16="http://schemas.microsoft.com/office/drawing/2014/main" id="{DA4F00B2-4AC7-62E1-E5CB-62CB91A9F956}"/>
              </a:ext>
            </a:extLst>
          </p:cNvPr>
          <p:cNvSpPr>
            <a:spLocks noGrp="1"/>
          </p:cNvSpPr>
          <p:nvPr>
            <p:ph type="sldNum" sz="quarter" idx="5"/>
          </p:nvPr>
        </p:nvSpPr>
        <p:spPr/>
        <p:txBody>
          <a:bodyPr/>
          <a:lstStyle/>
          <a:p>
            <a:fld id="{325D33EE-53BE-43DC-8715-EC4A6D4E7EEB}" type="slidenum">
              <a:rPr kumimoji="1" lang="ja-JP" altLang="en-US" smtClean="0"/>
              <a:t>19</a:t>
            </a:fld>
            <a:endParaRPr kumimoji="1" lang="ja-JP" altLang="en-US"/>
          </a:p>
        </p:txBody>
      </p:sp>
    </p:spTree>
    <p:extLst>
      <p:ext uri="{BB962C8B-B14F-4D97-AF65-F5344CB8AC3E}">
        <p14:creationId xmlns:p14="http://schemas.microsoft.com/office/powerpoint/2010/main" val="17098860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5E992-5448-E3B4-110E-09C6BEEE9B6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0AA9BF5-DB59-97A5-95F6-196B61503616}"/>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ノート プレースホルダー 2">
                <a:extLst>
                  <a:ext uri="{FF2B5EF4-FFF2-40B4-BE49-F238E27FC236}">
                    <a16:creationId xmlns:a16="http://schemas.microsoft.com/office/drawing/2014/main" id="{21DF7A1F-EF53-6FB1-CC35-30E653599F52}"/>
                  </a:ext>
                </a:extLst>
              </p:cNvPr>
              <p:cNvSpPr>
                <a:spLocks noGrp="1"/>
              </p:cNvSpPr>
              <p:nvPr>
                <p:ph type="body" idx="1"/>
              </p:nvPr>
            </p:nvSpPr>
            <p:spPr/>
            <p:txBody>
              <a:bodyPr/>
              <a:lstStyle/>
              <a:p>
                <a:r>
                  <a:rPr lang="ja-JP" altLang="en-US" b="0"/>
                  <a:t>　最終損失は</a:t>
                </a:r>
                <a:r>
                  <a:rPr lang="en-US" altLang="ja-JP" b="0"/>
                  <a:t>CTC</a:t>
                </a:r>
                <a:r>
                  <a:rPr lang="ja-JP" altLang="en-US" b="0"/>
                  <a:t>損失 と </a:t>
                </a:r>
                <a14:m>
                  <m:oMath xmlns:m="http://schemas.openxmlformats.org/officeDocument/2006/math">
                    <m:r>
                      <a:rPr kumimoji="1" lang="ja-JP" altLang="en-US" sz="1200" b="0" i="1" kern="1200" smtClean="0">
                        <a:solidFill>
                          <a:schemeClr val="tx1"/>
                        </a:solidFill>
                        <a:latin typeface="Cambria Math" panose="02040503050406030204" pitchFamily="18" charset="0"/>
                        <a:ea typeface="+mn-ea"/>
                        <a:cs typeface="+mn-cs"/>
                      </a:rPr>
                      <m:t>𝛼</m:t>
                    </m:r>
                  </m:oMath>
                </a14:m>
                <a:r>
                  <a:rPr lang="ja-JP" altLang="en-US" b="0"/>
                  <a:t>で重みづけした</a:t>
                </a:r>
                <a:r>
                  <a:rPr lang="en-US" altLang="ja-JP" b="0"/>
                  <a:t>LAIL</a:t>
                </a:r>
                <a:r>
                  <a:rPr lang="ja-JP" altLang="en-US" b="0"/>
                  <a:t>を加算したものになります。</a:t>
                </a:r>
                <a:endParaRPr kumimoji="1" lang="en-US" altLang="ja-JP"/>
              </a:p>
            </p:txBody>
          </p:sp>
        </mc:Choice>
        <mc:Fallback xmlns="">
          <p:sp>
            <p:nvSpPr>
              <p:cNvPr id="3" name="ノート プレースホルダー 2">
                <a:extLst>
                  <a:ext uri="{FF2B5EF4-FFF2-40B4-BE49-F238E27FC236}">
                    <a16:creationId xmlns:a16="http://schemas.microsoft.com/office/drawing/2014/main" id="{21DF7A1F-EF53-6FB1-CC35-30E653599F52}"/>
                  </a:ext>
                </a:extLst>
              </p:cNvPr>
              <p:cNvSpPr>
                <a:spLocks noGrp="1"/>
              </p:cNvSpPr>
              <p:nvPr>
                <p:ph type="body" idx="1"/>
              </p:nvPr>
            </p:nvSpPr>
            <p:spPr/>
            <p:txBody>
              <a:bodyPr/>
              <a:lstStyle/>
              <a:p>
                <a:r>
                  <a:rPr lang="ja-JP" altLang="en-US" b="0"/>
                  <a:t>　最終損失は</a:t>
                </a:r>
                <a:r>
                  <a:rPr lang="en-US" altLang="ja-JP" b="0"/>
                  <a:t>CTC</a:t>
                </a:r>
                <a:r>
                  <a:rPr lang="ja-JP" altLang="en-US" b="0"/>
                  <a:t>損失 と </a:t>
                </a:r>
                <a:r>
                  <a:rPr kumimoji="1" lang="ja-JP" altLang="en-US" sz="1200" b="0" i="0" kern="1200">
                    <a:solidFill>
                      <a:schemeClr val="tx1"/>
                    </a:solidFill>
                    <a:latin typeface="Cambria Math" panose="02040503050406030204" pitchFamily="18" charset="0"/>
                    <a:ea typeface="+mn-ea"/>
                    <a:cs typeface="+mn-cs"/>
                  </a:rPr>
                  <a:t>𝛼</a:t>
                </a:r>
                <a:r>
                  <a:rPr lang="ja-JP" altLang="en-US" b="0"/>
                  <a:t>で重みづけした</a:t>
                </a:r>
                <a:r>
                  <a:rPr lang="en-US" altLang="ja-JP" b="0"/>
                  <a:t>LAIL</a:t>
                </a:r>
                <a:r>
                  <a:rPr lang="ja-JP" altLang="en-US" b="0"/>
                  <a:t>を加算したものになります。</a:t>
                </a:r>
                <a:endParaRPr kumimoji="1" lang="en-US" altLang="ja-JP"/>
              </a:p>
            </p:txBody>
          </p:sp>
        </mc:Fallback>
      </mc:AlternateContent>
      <p:sp>
        <p:nvSpPr>
          <p:cNvPr id="4" name="スライド番号プレースホルダー 3">
            <a:extLst>
              <a:ext uri="{FF2B5EF4-FFF2-40B4-BE49-F238E27FC236}">
                <a16:creationId xmlns:a16="http://schemas.microsoft.com/office/drawing/2014/main" id="{A526EF35-8376-C999-1145-6BFE10542F22}"/>
              </a:ext>
            </a:extLst>
          </p:cNvPr>
          <p:cNvSpPr>
            <a:spLocks noGrp="1"/>
          </p:cNvSpPr>
          <p:nvPr>
            <p:ph type="sldNum" sz="quarter" idx="5"/>
          </p:nvPr>
        </p:nvSpPr>
        <p:spPr/>
        <p:txBody>
          <a:bodyPr/>
          <a:lstStyle/>
          <a:p>
            <a:fld id="{325D33EE-53BE-43DC-8715-EC4A6D4E7EEB}" type="slidenum">
              <a:rPr kumimoji="1" lang="ja-JP" altLang="en-US" smtClean="0"/>
              <a:t>20</a:t>
            </a:fld>
            <a:endParaRPr kumimoji="1" lang="ja-JP" altLang="en-US"/>
          </a:p>
        </p:txBody>
      </p:sp>
    </p:spTree>
    <p:extLst>
      <p:ext uri="{BB962C8B-B14F-4D97-AF65-F5344CB8AC3E}">
        <p14:creationId xmlns:p14="http://schemas.microsoft.com/office/powerpoint/2010/main" val="32990866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E5750-62D1-C976-43DF-92FD66EFA08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7974EDC-5AD4-ADF2-B78E-5389CF370FFF}"/>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ノート プレースホルダー 2">
                <a:extLst>
                  <a:ext uri="{FF2B5EF4-FFF2-40B4-BE49-F238E27FC236}">
                    <a16:creationId xmlns:a16="http://schemas.microsoft.com/office/drawing/2014/main" id="{9881B08A-8763-8A7A-7A1B-519E931473BE}"/>
                  </a:ext>
                </a:extLst>
              </p:cNvPr>
              <p:cNvSpPr>
                <a:spLocks noGrp="1"/>
              </p:cNvSpPr>
              <p:nvPr>
                <p:ph type="body" idx="1"/>
              </p:nvPr>
            </p:nvSpPr>
            <p:spPr/>
            <p:txBody>
              <a:bodyPr/>
              <a:lstStyle/>
              <a:p>
                <a:r>
                  <a:rPr lang="en-US" altLang="ja-JP" b="0"/>
                  <a:t>LAIL</a:t>
                </a:r>
                <a:r>
                  <a:rPr lang="ja-JP" altLang="en-US" b="0"/>
                  <a:t>（</a:t>
                </a:r>
                <a:r>
                  <a:rPr lang="en-US" altLang="ja-JP" b="0"/>
                  <a:t>Language-Aware Intermediate Loss</a:t>
                </a:r>
                <a:r>
                  <a:rPr lang="ja-JP" altLang="en-US" b="0"/>
                  <a:t>）は、</a:t>
                </a:r>
                <a:r>
                  <a:rPr lang="en-US" altLang="ja-JP" b="0"/>
                  <a:t>LLM</a:t>
                </a:r>
                <a:r>
                  <a:rPr lang="ja-JP" altLang="en-US" b="0"/>
                  <a:t>が持つ言語知識を学習中にエンコーダの中間特徴へ反映させるための損失。視覚特徴だけでなく、文全体の構文的一貫性・語彙的整合性の学習を促す。</a:t>
                </a:r>
              </a:p>
              <a:p>
                <a:r>
                  <a:rPr lang="en-US" altLang="ja-JP" b="0"/>
                  <a:t>Connector Layer</a:t>
                </a:r>
                <a:r>
                  <a:rPr lang="ja-JP" altLang="en-US" b="0"/>
                  <a:t>でエンコーダ中間層出力を</a:t>
                </a:r>
                <a:r>
                  <a:rPr lang="en-US" altLang="ja-JP" b="0"/>
                  <a:t>LLM</a:t>
                </a:r>
                <a:r>
                  <a:rPr lang="ja-JP" altLang="en-US" b="0"/>
                  <a:t>の埋め込み空間へ写像し、その特徴 </a:t>
                </a:r>
                <a14:m>
                  <m:oMath xmlns:m="http://schemas.openxmlformats.org/officeDocument/2006/math">
                    <m:sSub>
                      <m:sSubPr>
                        <m:ctrlPr>
                          <a:rPr kumimoji="1" lang="ja-JP" altLang="en-US" sz="1200" b="0" i="1" kern="1200">
                            <a:solidFill>
                              <a:schemeClr val="tx1"/>
                            </a:solidFill>
                            <a:latin typeface="Cambria Math" panose="02040503050406030204" pitchFamily="18" charset="0"/>
                            <a:ea typeface="+mn-ea"/>
                            <a:cs typeface="+mn-cs"/>
                          </a:rPr>
                        </m:ctrlPr>
                      </m:sSubPr>
                      <m:e>
                        <m:r>
                          <a:rPr kumimoji="1" lang="en-US" altLang="ja-JP" sz="1200" b="0" i="1" kern="1200" smtClean="0">
                            <a:solidFill>
                              <a:schemeClr val="tx1"/>
                            </a:solidFill>
                            <a:latin typeface="Cambria Math" panose="02040503050406030204" pitchFamily="18" charset="0"/>
                            <a:ea typeface="+mn-ea"/>
                            <a:cs typeface="+mn-cs"/>
                          </a:rPr>
                          <m:t>h</m:t>
                        </m:r>
                      </m:e>
                      <m:sub>
                        <m:r>
                          <m:rPr>
                            <m:nor/>
                          </m:rPr>
                          <a:rPr kumimoji="1" lang="en-US" altLang="ja-JP" sz="1200" b="0" i="1" kern="1200">
                            <a:solidFill>
                              <a:schemeClr val="tx1"/>
                            </a:solidFill>
                            <a:latin typeface="+mn-lt"/>
                            <a:ea typeface="+mn-ea"/>
                            <a:cs typeface="+mn-cs"/>
                          </a:rPr>
                          <m:t>proj</m:t>
                        </m:r>
                      </m:sub>
                    </m:sSub>
                  </m:oMath>
                </a14:m>
                <a:r>
                  <a:rPr lang="ja-JP" altLang="en-US" b="0"/>
                  <a:t>から正解テキストに対して </a:t>
                </a:r>
                <a:r>
                  <a:rPr lang="en-US" altLang="ja-JP" b="0"/>
                  <a:t>CLM loss</a:t>
                </a:r>
                <a:r>
                  <a:rPr lang="ja-JP" altLang="en-US" b="0"/>
                  <a:t>（次トークン予測の負の対数尤度）を計算：</a:t>
                </a:r>
              </a:p>
              <a:p>
                <a:r>
                  <a:rPr lang="ja-JP" altLang="en-US" b="0"/>
                  <a:t>中間層集合 </a:t>
                </a:r>
                <a14:m>
                  <m:oMath xmlns:m="http://schemas.openxmlformats.org/officeDocument/2006/math">
                    <m:r>
                      <a:rPr kumimoji="1" lang="ja-JP" altLang="en-US" sz="1200" b="0" i="1" kern="1200" smtClean="0">
                        <a:solidFill>
                          <a:schemeClr val="tx1"/>
                        </a:solidFill>
                        <a:latin typeface="Cambria Math" panose="02040503050406030204" pitchFamily="18" charset="0"/>
                        <a:ea typeface="+mn-ea"/>
                        <a:cs typeface="+mn-cs"/>
                      </a:rPr>
                      <m:t>𝑆</m:t>
                    </m:r>
                  </m:oMath>
                </a14:m>
                <a:r>
                  <a:rPr lang="ja-JP" altLang="en-US" b="0"/>
                  <a:t>の各層 </a:t>
                </a:r>
                <a14:m>
                  <m:oMath xmlns:m="http://schemas.openxmlformats.org/officeDocument/2006/math">
                    <m:r>
                      <a:rPr kumimoji="1" lang="ja-JP" altLang="en-US" sz="1200" b="0" i="1" kern="1200" smtClean="0">
                        <a:solidFill>
                          <a:schemeClr val="tx1"/>
                        </a:solidFill>
                        <a:latin typeface="Cambria Math" panose="02040503050406030204" pitchFamily="18" charset="0"/>
                        <a:ea typeface="+mn-ea"/>
                        <a:cs typeface="+mn-cs"/>
                      </a:rPr>
                      <m:t>𝑙</m:t>
                    </m:r>
                  </m:oMath>
                </a14:m>
                <a:r>
                  <a:rPr lang="ja-JP" altLang="en-US" b="0"/>
                  <a:t>で得た </a:t>
                </a:r>
                <a14:m>
                  <m:oMath xmlns:m="http://schemas.openxmlformats.org/officeDocument/2006/math">
                    <m:sSubSup>
                      <m:sSubSupPr>
                        <m:ctrlPr>
                          <a:rPr kumimoji="1" lang="ja-JP" altLang="en-US" sz="1200" b="0" i="1" kern="1200">
                            <a:solidFill>
                              <a:schemeClr val="tx1"/>
                            </a:solidFill>
                            <a:latin typeface="Cambria Math" panose="02040503050406030204" pitchFamily="18" charset="0"/>
                            <a:ea typeface="+mn-ea"/>
                            <a:cs typeface="+mn-cs"/>
                          </a:rPr>
                        </m:ctrlPr>
                      </m:sSubSupPr>
                      <m:e>
                        <m:r>
                          <a:rPr kumimoji="1" lang="ja-JP" altLang="en-US" sz="1200" b="0" i="1" kern="1200" smtClean="0">
                            <a:solidFill>
                              <a:schemeClr val="tx1"/>
                            </a:solidFill>
                            <a:latin typeface="Cambria Math" panose="02040503050406030204" pitchFamily="18" charset="0"/>
                            <a:ea typeface="+mn-ea"/>
                            <a:cs typeface="+mn-cs"/>
                          </a:rPr>
                          <m:t>𝐿</m:t>
                        </m:r>
                      </m:e>
                      <m:sub>
                        <m:r>
                          <m:rPr>
                            <m:nor/>
                          </m:rPr>
                          <a:rPr kumimoji="1" lang="en-US" altLang="ja-JP" sz="1200" b="0" i="1" kern="1200">
                            <a:solidFill>
                              <a:schemeClr val="tx1"/>
                            </a:solidFill>
                            <a:latin typeface="+mn-lt"/>
                            <a:ea typeface="+mn-ea"/>
                            <a:cs typeface="+mn-cs"/>
                          </a:rPr>
                          <m:t>CLM</m:t>
                        </m:r>
                      </m:sub>
                      <m:sup>
                        <m:d>
                          <m:dPr>
                            <m:ctrlPr>
                              <a:rPr kumimoji="1" lang="ja-JP" altLang="en-US" sz="1200" b="0" i="1" kern="1200">
                                <a:solidFill>
                                  <a:schemeClr val="tx1"/>
                                </a:solidFill>
                                <a:latin typeface="Cambria Math" panose="02040503050406030204" pitchFamily="18" charset="0"/>
                                <a:ea typeface="+mn-ea"/>
                                <a:cs typeface="+mn-cs"/>
                              </a:rPr>
                            </m:ctrlPr>
                          </m:dPr>
                          <m:e>
                            <m:r>
                              <a:rPr kumimoji="1" lang="ja-JP" altLang="en-US" sz="1200" b="0" i="1" kern="1200" smtClean="0">
                                <a:solidFill>
                                  <a:schemeClr val="tx1"/>
                                </a:solidFill>
                                <a:latin typeface="Cambria Math" panose="02040503050406030204" pitchFamily="18" charset="0"/>
                                <a:ea typeface="+mn-ea"/>
                                <a:cs typeface="+mn-cs"/>
                              </a:rPr>
                              <m:t>𝑙</m:t>
                            </m:r>
                          </m:e>
                        </m:d>
                      </m:sup>
                    </m:sSubSup>
                  </m:oMath>
                </a14:m>
                <a:r>
                  <a:rPr lang="ja-JP" altLang="en-US" b="0"/>
                  <a:t>を層ごとの重み </a:t>
                </a:r>
                <a14:m>
                  <m:oMath xmlns:m="http://schemas.openxmlformats.org/officeDocument/2006/math">
                    <m:sSub>
                      <m:sSubPr>
                        <m:ctrlPr>
                          <a:rPr kumimoji="1" lang="ja-JP" altLang="en-US" sz="1200" b="0" i="1" kern="1200">
                            <a:solidFill>
                              <a:schemeClr val="tx1"/>
                            </a:solidFill>
                            <a:latin typeface="Cambria Math" panose="02040503050406030204" pitchFamily="18" charset="0"/>
                            <a:ea typeface="+mn-ea"/>
                            <a:cs typeface="+mn-cs"/>
                          </a:rPr>
                        </m:ctrlPr>
                      </m:sSubPr>
                      <m:e>
                        <m:r>
                          <a:rPr kumimoji="1" lang="ja-JP" altLang="en-US" sz="1200" b="0" i="1" kern="1200" smtClean="0">
                            <a:solidFill>
                              <a:schemeClr val="tx1"/>
                            </a:solidFill>
                            <a:latin typeface="Cambria Math" panose="02040503050406030204" pitchFamily="18" charset="0"/>
                            <a:ea typeface="+mn-ea"/>
                            <a:cs typeface="+mn-cs"/>
                          </a:rPr>
                          <m:t>𝜆</m:t>
                        </m:r>
                      </m:e>
                      <m:sub>
                        <m:r>
                          <a:rPr kumimoji="1" lang="ja-JP" altLang="en-US" sz="1200" b="0" i="1" kern="1200" smtClean="0">
                            <a:solidFill>
                              <a:schemeClr val="tx1"/>
                            </a:solidFill>
                            <a:latin typeface="Cambria Math" panose="02040503050406030204" pitchFamily="18" charset="0"/>
                            <a:ea typeface="+mn-ea"/>
                            <a:cs typeface="+mn-cs"/>
                          </a:rPr>
                          <m:t>𝑙</m:t>
                        </m:r>
                      </m:sub>
                    </m:sSub>
                  </m:oMath>
                </a14:m>
                <a:r>
                  <a:rPr lang="ja-JP" altLang="en-US" b="0"/>
                  <a:t>で加重して </a:t>
                </a:r>
                <a:r>
                  <a:rPr lang="en-US" altLang="ja-JP" b="0"/>
                  <a:t>LAIL</a:t>
                </a:r>
                <a:r>
                  <a:rPr lang="ja-JP" altLang="en-US" b="0"/>
                  <a:t> を定義：</a:t>
                </a:r>
                <a:endParaRPr lang="en-US" altLang="ja-JP" b="0"/>
              </a:p>
              <a:p>
                <a:r>
                  <a:rPr lang="ja-JP" altLang="en-US" b="0"/>
                  <a:t>最終損失は </a:t>
                </a:r>
                <a:r>
                  <a:rPr lang="en-US" altLang="ja-JP" b="0" err="1"/>
                  <a:t>TrOCR</a:t>
                </a:r>
                <a:r>
                  <a:rPr lang="ja-JP" altLang="en-US" b="0"/>
                  <a:t>の</a:t>
                </a:r>
                <a:r>
                  <a:rPr lang="en-US" altLang="ja-JP" b="0"/>
                  <a:t>CTC</a:t>
                </a:r>
                <a:r>
                  <a:rPr lang="ja-JP" altLang="en-US" b="0"/>
                  <a:t>損失 </a:t>
                </a:r>
                <a14:m>
                  <m:oMath xmlns:m="http://schemas.openxmlformats.org/officeDocument/2006/math">
                    <m:sSub>
                      <m:sSubPr>
                        <m:ctrlPr>
                          <a:rPr kumimoji="1" lang="ja-JP" altLang="en-US" sz="1200" b="0" i="1" kern="1200">
                            <a:solidFill>
                              <a:schemeClr val="tx1"/>
                            </a:solidFill>
                            <a:latin typeface="Cambria Math" panose="02040503050406030204" pitchFamily="18" charset="0"/>
                            <a:ea typeface="+mn-ea"/>
                            <a:cs typeface="+mn-cs"/>
                          </a:rPr>
                        </m:ctrlPr>
                      </m:sSubPr>
                      <m:e>
                        <m:r>
                          <a:rPr kumimoji="1" lang="ja-JP" altLang="en-US" sz="1200" b="0" i="1" kern="1200" smtClean="0">
                            <a:solidFill>
                              <a:schemeClr val="tx1"/>
                            </a:solidFill>
                            <a:latin typeface="Cambria Math" panose="02040503050406030204" pitchFamily="18" charset="0"/>
                            <a:ea typeface="+mn-ea"/>
                            <a:cs typeface="+mn-cs"/>
                          </a:rPr>
                          <m:t>𝐿</m:t>
                        </m:r>
                      </m:e>
                      <m:sub>
                        <m:r>
                          <m:rPr>
                            <m:nor/>
                          </m:rPr>
                          <a:rPr kumimoji="1" lang="en-US" altLang="ja-JP" sz="1200" b="0" i="1" kern="1200">
                            <a:solidFill>
                              <a:schemeClr val="tx1"/>
                            </a:solidFill>
                            <a:latin typeface="+mn-lt"/>
                            <a:ea typeface="+mn-ea"/>
                            <a:cs typeface="+mn-cs"/>
                          </a:rPr>
                          <m:t>CTC</m:t>
                        </m:r>
                      </m:sub>
                    </m:sSub>
                  </m:oMath>
                </a14:m>
                <a:r>
                  <a:rPr lang="ja-JP" altLang="en-US" b="0"/>
                  <a:t>と </a:t>
                </a:r>
                <a:r>
                  <a:rPr lang="en-US" altLang="ja-JP" b="0"/>
                  <a:t>LAIL </a:t>
                </a:r>
                <a:r>
                  <a:rPr lang="ja-JP" altLang="en-US" b="0"/>
                  <a:t>を係数 </a:t>
                </a:r>
                <a14:m>
                  <m:oMath xmlns:m="http://schemas.openxmlformats.org/officeDocument/2006/math">
                    <m:r>
                      <a:rPr kumimoji="1" lang="ja-JP" altLang="en-US" sz="1200" b="0" i="1" kern="1200" smtClean="0">
                        <a:solidFill>
                          <a:schemeClr val="tx1"/>
                        </a:solidFill>
                        <a:latin typeface="Cambria Math" panose="02040503050406030204" pitchFamily="18" charset="0"/>
                        <a:ea typeface="+mn-ea"/>
                        <a:cs typeface="+mn-cs"/>
                      </a:rPr>
                      <m:t>𝛼</m:t>
                    </m:r>
                  </m:oMath>
                </a14:m>
                <a:r>
                  <a:rPr lang="ja-JP" altLang="en-US" b="0"/>
                  <a:t>で混ぜたもの：</a:t>
                </a:r>
                <a:endParaRPr lang="en-US" altLang="ja-JP" b="0"/>
              </a:p>
              <a:p>
                <a:r>
                  <a:rPr lang="ja-JP" altLang="en-US" b="0"/>
                  <a:t>この </a:t>
                </a:r>
                <a14:m>
                  <m:oMath xmlns:m="http://schemas.openxmlformats.org/officeDocument/2006/math">
                    <m:sSub>
                      <m:sSubPr>
                        <m:ctrlPr>
                          <a:rPr kumimoji="1" lang="ja-JP" altLang="en-US" sz="1200" b="0" i="1" kern="1200">
                            <a:solidFill>
                              <a:schemeClr val="tx1"/>
                            </a:solidFill>
                            <a:latin typeface="Cambria Math" panose="02040503050406030204" pitchFamily="18" charset="0"/>
                            <a:ea typeface="+mn-ea"/>
                            <a:cs typeface="+mn-cs"/>
                          </a:rPr>
                        </m:ctrlPr>
                      </m:sSubPr>
                      <m:e>
                        <m:r>
                          <a:rPr kumimoji="1" lang="ja-JP" altLang="en-US" sz="1200" b="0" i="1" kern="1200" smtClean="0">
                            <a:solidFill>
                              <a:schemeClr val="tx1"/>
                            </a:solidFill>
                            <a:latin typeface="Cambria Math" panose="02040503050406030204" pitchFamily="18" charset="0"/>
                            <a:ea typeface="+mn-ea"/>
                            <a:cs typeface="+mn-cs"/>
                          </a:rPr>
                          <m:t>𝐿</m:t>
                        </m:r>
                      </m:e>
                      <m:sub>
                        <m:r>
                          <m:rPr>
                            <m:nor/>
                          </m:rPr>
                          <a:rPr kumimoji="1" lang="en-US" altLang="ja-JP" sz="1200" b="0" i="1" kern="1200">
                            <a:solidFill>
                              <a:schemeClr val="tx1"/>
                            </a:solidFill>
                            <a:latin typeface="+mn-lt"/>
                            <a:ea typeface="+mn-ea"/>
                            <a:cs typeface="+mn-cs"/>
                          </a:rPr>
                          <m:t>total</m:t>
                        </m:r>
                      </m:sub>
                    </m:sSub>
                  </m:oMath>
                </a14:m>
                <a:r>
                  <a:rPr lang="ja-JP" altLang="en-US" b="0"/>
                  <a:t>を最小化することで、エンコーダが</a:t>
                </a:r>
                <a:r>
                  <a:rPr lang="en-US" altLang="ja-JP" b="0"/>
                  <a:t>LLM</a:t>
                </a:r>
                <a:r>
                  <a:rPr lang="ja-JP" altLang="en-US" b="0"/>
                  <a:t>由来の言語的制約も取り込むように学習される。</a:t>
                </a:r>
                <a:endParaRPr kumimoji="1" lang="ja-JP" altLang="en-US" b="0"/>
              </a:p>
            </p:txBody>
          </p:sp>
        </mc:Choice>
        <mc:Fallback xmlns="">
          <p:sp>
            <p:nvSpPr>
              <p:cNvPr id="3" name="ノート プレースホルダー 2">
                <a:extLst>
                  <a:ext uri="{FF2B5EF4-FFF2-40B4-BE49-F238E27FC236}">
                    <a16:creationId xmlns:a16="http://schemas.microsoft.com/office/drawing/2014/main" id="{9881B08A-8763-8A7A-7A1B-519E931473BE}"/>
                  </a:ext>
                </a:extLst>
              </p:cNvPr>
              <p:cNvSpPr>
                <a:spLocks noGrp="1"/>
              </p:cNvSpPr>
              <p:nvPr>
                <p:ph type="body" idx="1"/>
              </p:nvPr>
            </p:nvSpPr>
            <p:spPr/>
            <p:txBody>
              <a:bodyPr/>
              <a:lstStyle/>
              <a:p>
                <a:r>
                  <a:rPr lang="en-US" altLang="ja-JP" b="0"/>
                  <a:t>LAIL</a:t>
                </a:r>
                <a:r>
                  <a:rPr lang="ja-JP" altLang="en-US" b="0"/>
                  <a:t>（</a:t>
                </a:r>
                <a:r>
                  <a:rPr lang="en-US" altLang="ja-JP" b="0"/>
                  <a:t>Language-Aware Intermediate Loss</a:t>
                </a:r>
                <a:r>
                  <a:rPr lang="ja-JP" altLang="en-US" b="0"/>
                  <a:t>）は、</a:t>
                </a:r>
                <a:r>
                  <a:rPr lang="en-US" altLang="ja-JP" b="0"/>
                  <a:t>LLM</a:t>
                </a:r>
                <a:r>
                  <a:rPr lang="ja-JP" altLang="en-US" b="0"/>
                  <a:t>が持つ言語知識を学習中にエンコーダの中間特徴へ反映させるための損失。視覚特徴だけでなく、文全体の構文的一貫性・語彙的整合性の学習を促す。</a:t>
                </a:r>
              </a:p>
              <a:p>
                <a:r>
                  <a:rPr lang="en-US" altLang="ja-JP" b="0"/>
                  <a:t>Connector Layer</a:t>
                </a:r>
                <a:r>
                  <a:rPr lang="ja-JP" altLang="en-US" b="0"/>
                  <a:t>でエンコーダ中間層出力を</a:t>
                </a:r>
                <a:r>
                  <a:rPr lang="en-US" altLang="ja-JP" b="0"/>
                  <a:t>LLM</a:t>
                </a:r>
                <a:r>
                  <a:rPr lang="ja-JP" altLang="en-US" b="0"/>
                  <a:t>の埋め込み空間へ写像し、その特徴 </a:t>
                </a:r>
                <a:r>
                  <a:rPr kumimoji="1" lang="en-US" altLang="ja-JP" sz="1200" b="0" i="0" kern="1200">
                    <a:solidFill>
                      <a:schemeClr val="tx1"/>
                    </a:solidFill>
                    <a:latin typeface="Cambria Math" panose="02040503050406030204" pitchFamily="18" charset="0"/>
                    <a:ea typeface="+mn-ea"/>
                    <a:cs typeface="+mn-cs"/>
                  </a:rPr>
                  <a:t>ℎ</a:t>
                </a:r>
                <a:r>
                  <a:rPr kumimoji="1" lang="ja-JP" altLang="en-US" sz="1200" b="0" i="0" kern="1200">
                    <a:solidFill>
                      <a:schemeClr val="tx1"/>
                    </a:solidFill>
                    <a:latin typeface="Cambria Math" panose="02040503050406030204" pitchFamily="18" charset="0"/>
                    <a:ea typeface="+mn-ea"/>
                    <a:cs typeface="+mn-cs"/>
                  </a:rPr>
                  <a:t>_</a:t>
                </a:r>
                <a:r>
                  <a:rPr kumimoji="1" lang="en-US" altLang="ja-JP" sz="1200" b="0" i="0" kern="1200">
                    <a:solidFill>
                      <a:schemeClr val="tx1"/>
                    </a:solidFill>
                    <a:latin typeface="+mn-lt"/>
                    <a:ea typeface="+mn-ea"/>
                    <a:cs typeface="+mn-cs"/>
                  </a:rPr>
                  <a:t>"proj</a:t>
                </a:r>
                <a:r>
                  <a:rPr kumimoji="1" lang="en-US" altLang="ja-JP" sz="1200" b="0" i="0" kern="1200">
                    <a:solidFill>
                      <a:schemeClr val="tx1"/>
                    </a:solidFill>
                    <a:latin typeface="Cambria Math" panose="02040503050406030204" pitchFamily="18" charset="0"/>
                    <a:ea typeface="+mn-ea"/>
                    <a:cs typeface="+mn-cs"/>
                  </a:rPr>
                  <a:t>" </a:t>
                </a:r>
                <a:r>
                  <a:rPr lang="ja-JP" altLang="en-US" b="0"/>
                  <a:t>から正解テキストに対して </a:t>
                </a:r>
                <a:r>
                  <a:rPr lang="en-US" altLang="ja-JP" b="0"/>
                  <a:t>CLM loss</a:t>
                </a:r>
                <a:r>
                  <a:rPr lang="ja-JP" altLang="en-US" b="0"/>
                  <a:t>（次トークン予測の負の対数尤度）を計算：</a:t>
                </a:r>
              </a:p>
              <a:p>
                <a:r>
                  <a:rPr lang="ja-JP" altLang="en-US" b="0"/>
                  <a:t>中間層集合 </a:t>
                </a:r>
                <a:r>
                  <a:rPr kumimoji="1" lang="ja-JP" altLang="en-US" sz="1200" b="0" i="0" kern="1200">
                    <a:solidFill>
                      <a:schemeClr val="tx1"/>
                    </a:solidFill>
                    <a:latin typeface="Cambria Math" panose="02040503050406030204" pitchFamily="18" charset="0"/>
                    <a:ea typeface="+mn-ea"/>
                    <a:cs typeface="+mn-cs"/>
                  </a:rPr>
                  <a:t>𝑆</a:t>
                </a:r>
                <a:r>
                  <a:rPr lang="ja-JP" altLang="en-US" b="0"/>
                  <a:t>の各層 </a:t>
                </a:r>
                <a:r>
                  <a:rPr kumimoji="1" lang="ja-JP" altLang="en-US" sz="1200" b="0" i="0" kern="1200">
                    <a:solidFill>
                      <a:schemeClr val="tx1"/>
                    </a:solidFill>
                    <a:latin typeface="Cambria Math" panose="02040503050406030204" pitchFamily="18" charset="0"/>
                    <a:ea typeface="+mn-ea"/>
                    <a:cs typeface="+mn-cs"/>
                  </a:rPr>
                  <a:t>𝑙</a:t>
                </a:r>
                <a:r>
                  <a:rPr lang="ja-JP" altLang="en-US" b="0"/>
                  <a:t>で得た </a:t>
                </a:r>
                <a:r>
                  <a:rPr kumimoji="1" lang="ja-JP" altLang="en-US" sz="1200" b="0" i="0" kern="1200">
                    <a:solidFill>
                      <a:schemeClr val="tx1"/>
                    </a:solidFill>
                    <a:latin typeface="Cambria Math" panose="02040503050406030204" pitchFamily="18" charset="0"/>
                    <a:ea typeface="+mn-ea"/>
                    <a:cs typeface="+mn-cs"/>
                  </a:rPr>
                  <a:t>𝐿_</a:t>
                </a:r>
                <a:r>
                  <a:rPr kumimoji="1" lang="en-US" altLang="ja-JP" sz="1200" b="0" i="0" kern="1200">
                    <a:solidFill>
                      <a:schemeClr val="tx1"/>
                    </a:solidFill>
                    <a:latin typeface="+mn-lt"/>
                    <a:ea typeface="+mn-ea"/>
                    <a:cs typeface="+mn-cs"/>
                  </a:rPr>
                  <a:t>"CLM</a:t>
                </a:r>
                <a:r>
                  <a:rPr kumimoji="1" lang="en-US" altLang="ja-JP" sz="1200" b="0" i="0" kern="1200">
                    <a:solidFill>
                      <a:schemeClr val="tx1"/>
                    </a:solidFill>
                    <a:latin typeface="Cambria Math" panose="02040503050406030204" pitchFamily="18" charset="0"/>
                    <a:ea typeface="+mn-ea"/>
                    <a:cs typeface="+mn-cs"/>
                  </a:rPr>
                  <a:t>" ^</a:t>
                </a:r>
                <a:r>
                  <a:rPr kumimoji="1" lang="ja-JP" altLang="en-US" sz="1200" b="0" i="0" kern="1200">
                    <a:solidFill>
                      <a:schemeClr val="tx1"/>
                    </a:solidFill>
                    <a:latin typeface="Cambria Math" panose="02040503050406030204" pitchFamily="18" charset="0"/>
                    <a:ea typeface="+mn-ea"/>
                    <a:cs typeface="+mn-cs"/>
                  </a:rPr>
                  <a:t>((𝑙) )</a:t>
                </a:r>
                <a:r>
                  <a:rPr lang="ja-JP" altLang="en-US" b="0"/>
                  <a:t>を層ごとの重み </a:t>
                </a:r>
                <a:r>
                  <a:rPr kumimoji="1" lang="ja-JP" altLang="en-US" sz="1200" b="0" i="0" kern="1200">
                    <a:solidFill>
                      <a:schemeClr val="tx1"/>
                    </a:solidFill>
                    <a:latin typeface="Cambria Math" panose="02040503050406030204" pitchFamily="18" charset="0"/>
                    <a:ea typeface="+mn-ea"/>
                    <a:cs typeface="+mn-cs"/>
                  </a:rPr>
                  <a:t>𝜆_𝑙</a:t>
                </a:r>
                <a:r>
                  <a:rPr lang="ja-JP" altLang="en-US" b="0"/>
                  <a:t>で加重して </a:t>
                </a:r>
                <a:r>
                  <a:rPr lang="en-US" altLang="ja-JP" b="0"/>
                  <a:t>LAIL</a:t>
                </a:r>
                <a:r>
                  <a:rPr lang="ja-JP" altLang="en-US" b="0"/>
                  <a:t> を定義：</a:t>
                </a:r>
                <a:endParaRPr lang="en-US" altLang="ja-JP" b="0"/>
              </a:p>
              <a:p>
                <a:r>
                  <a:rPr lang="ja-JP" altLang="en-US" b="0"/>
                  <a:t>最終損失は </a:t>
                </a:r>
                <a:r>
                  <a:rPr lang="en-US" altLang="ja-JP" b="0" err="1"/>
                  <a:t>TrOCR</a:t>
                </a:r>
                <a:r>
                  <a:rPr lang="ja-JP" altLang="en-US" b="0"/>
                  <a:t>の</a:t>
                </a:r>
                <a:r>
                  <a:rPr lang="en-US" altLang="ja-JP" b="0"/>
                  <a:t>CTC</a:t>
                </a:r>
                <a:r>
                  <a:rPr lang="ja-JP" altLang="en-US" b="0"/>
                  <a:t>損失 </a:t>
                </a:r>
                <a:r>
                  <a:rPr kumimoji="1" lang="ja-JP" altLang="en-US" sz="1200" b="0" i="0" kern="1200">
                    <a:solidFill>
                      <a:schemeClr val="tx1"/>
                    </a:solidFill>
                    <a:latin typeface="Cambria Math" panose="02040503050406030204" pitchFamily="18" charset="0"/>
                    <a:ea typeface="+mn-ea"/>
                    <a:cs typeface="+mn-cs"/>
                  </a:rPr>
                  <a:t>𝐿_</a:t>
                </a:r>
                <a:r>
                  <a:rPr kumimoji="1" lang="en-US" altLang="ja-JP" sz="1200" b="0" i="0" kern="1200">
                    <a:solidFill>
                      <a:schemeClr val="tx1"/>
                    </a:solidFill>
                    <a:latin typeface="+mn-lt"/>
                    <a:ea typeface="+mn-ea"/>
                    <a:cs typeface="+mn-cs"/>
                  </a:rPr>
                  <a:t>"CTC</a:t>
                </a:r>
                <a:r>
                  <a:rPr kumimoji="1" lang="en-US" altLang="ja-JP" sz="1200" b="0" i="0" kern="1200">
                    <a:solidFill>
                      <a:schemeClr val="tx1"/>
                    </a:solidFill>
                    <a:latin typeface="Cambria Math" panose="02040503050406030204" pitchFamily="18" charset="0"/>
                    <a:ea typeface="+mn-ea"/>
                    <a:cs typeface="+mn-cs"/>
                  </a:rPr>
                  <a:t>" </a:t>
                </a:r>
                <a:r>
                  <a:rPr lang="ja-JP" altLang="en-US" b="0"/>
                  <a:t>と </a:t>
                </a:r>
                <a:r>
                  <a:rPr lang="en-US" altLang="ja-JP" b="0"/>
                  <a:t>LAIL </a:t>
                </a:r>
                <a:r>
                  <a:rPr lang="ja-JP" altLang="en-US" b="0"/>
                  <a:t>を係数 </a:t>
                </a:r>
                <a:r>
                  <a:rPr kumimoji="1" lang="ja-JP" altLang="en-US" sz="1200" b="0" i="0" kern="1200">
                    <a:solidFill>
                      <a:schemeClr val="tx1"/>
                    </a:solidFill>
                    <a:latin typeface="Cambria Math" panose="02040503050406030204" pitchFamily="18" charset="0"/>
                    <a:ea typeface="+mn-ea"/>
                    <a:cs typeface="+mn-cs"/>
                  </a:rPr>
                  <a:t>𝛼</a:t>
                </a:r>
                <a:r>
                  <a:rPr lang="ja-JP" altLang="en-US" b="0"/>
                  <a:t>で混ぜたもの：</a:t>
                </a:r>
                <a:endParaRPr lang="en-US" altLang="ja-JP" b="0"/>
              </a:p>
              <a:p>
                <a:r>
                  <a:rPr lang="ja-JP" altLang="en-US" b="0"/>
                  <a:t>この </a:t>
                </a:r>
                <a:r>
                  <a:rPr kumimoji="1" lang="ja-JP" altLang="en-US" sz="1200" b="0" i="0" kern="1200">
                    <a:solidFill>
                      <a:schemeClr val="tx1"/>
                    </a:solidFill>
                    <a:latin typeface="Cambria Math" panose="02040503050406030204" pitchFamily="18" charset="0"/>
                    <a:ea typeface="+mn-ea"/>
                    <a:cs typeface="+mn-cs"/>
                  </a:rPr>
                  <a:t>𝐿_</a:t>
                </a:r>
                <a:r>
                  <a:rPr kumimoji="1" lang="en-US" altLang="ja-JP" sz="1200" b="0" i="0" kern="1200">
                    <a:solidFill>
                      <a:schemeClr val="tx1"/>
                    </a:solidFill>
                    <a:latin typeface="+mn-lt"/>
                    <a:ea typeface="+mn-ea"/>
                    <a:cs typeface="+mn-cs"/>
                  </a:rPr>
                  <a:t>"total</a:t>
                </a:r>
                <a:r>
                  <a:rPr kumimoji="1" lang="en-US" altLang="ja-JP" sz="1200" b="0" i="0" kern="1200">
                    <a:solidFill>
                      <a:schemeClr val="tx1"/>
                    </a:solidFill>
                    <a:latin typeface="Cambria Math" panose="02040503050406030204" pitchFamily="18" charset="0"/>
                    <a:ea typeface="+mn-ea"/>
                    <a:cs typeface="+mn-cs"/>
                  </a:rPr>
                  <a:t>" </a:t>
                </a:r>
                <a:r>
                  <a:rPr lang="ja-JP" altLang="en-US" b="0"/>
                  <a:t>を最小化することで、エンコーダが</a:t>
                </a:r>
                <a:r>
                  <a:rPr lang="en-US" altLang="ja-JP" b="0"/>
                  <a:t>LLM</a:t>
                </a:r>
                <a:r>
                  <a:rPr lang="ja-JP" altLang="en-US" b="0"/>
                  <a:t>由来の言語的制約も取り込むように学習される。</a:t>
                </a:r>
                <a:endParaRPr kumimoji="1" lang="ja-JP" altLang="en-US" b="0"/>
              </a:p>
            </p:txBody>
          </p:sp>
        </mc:Fallback>
      </mc:AlternateContent>
      <p:sp>
        <p:nvSpPr>
          <p:cNvPr id="4" name="スライド番号プレースホルダー 3">
            <a:extLst>
              <a:ext uri="{FF2B5EF4-FFF2-40B4-BE49-F238E27FC236}">
                <a16:creationId xmlns:a16="http://schemas.microsoft.com/office/drawing/2014/main" id="{984C044C-24AF-D2BE-1578-4A759162A04E}"/>
              </a:ext>
            </a:extLst>
          </p:cNvPr>
          <p:cNvSpPr>
            <a:spLocks noGrp="1"/>
          </p:cNvSpPr>
          <p:nvPr>
            <p:ph type="sldNum" sz="quarter" idx="5"/>
          </p:nvPr>
        </p:nvSpPr>
        <p:spPr/>
        <p:txBody>
          <a:bodyPr/>
          <a:lstStyle/>
          <a:p>
            <a:fld id="{325D33EE-53BE-43DC-8715-EC4A6D4E7EEB}" type="slidenum">
              <a:rPr kumimoji="1" lang="ja-JP" altLang="en-US" smtClean="0"/>
              <a:t>21</a:t>
            </a:fld>
            <a:endParaRPr kumimoji="1" lang="ja-JP" altLang="en-US"/>
          </a:p>
        </p:txBody>
      </p:sp>
    </p:spTree>
    <p:extLst>
      <p:ext uri="{BB962C8B-B14F-4D97-AF65-F5344CB8AC3E}">
        <p14:creationId xmlns:p14="http://schemas.microsoft.com/office/powerpoint/2010/main" val="17120636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実験設定はこのようになっています</a:t>
            </a:r>
          </a:p>
        </p:txBody>
      </p:sp>
      <p:sp>
        <p:nvSpPr>
          <p:cNvPr id="4" name="スライド番号プレースホルダー 3"/>
          <p:cNvSpPr>
            <a:spLocks noGrp="1"/>
          </p:cNvSpPr>
          <p:nvPr>
            <p:ph type="sldNum" sz="quarter" idx="5"/>
          </p:nvPr>
        </p:nvSpPr>
        <p:spPr/>
        <p:txBody>
          <a:bodyPr/>
          <a:lstStyle/>
          <a:p>
            <a:fld id="{325D33EE-53BE-43DC-8715-EC4A6D4E7EEB}" type="slidenum">
              <a:rPr kumimoji="1" lang="ja-JP" altLang="en-US" smtClean="0"/>
              <a:t>22</a:t>
            </a:fld>
            <a:endParaRPr kumimoji="1" lang="ja-JP" altLang="en-US"/>
          </a:p>
        </p:txBody>
      </p:sp>
    </p:spTree>
    <p:extLst>
      <p:ext uri="{BB962C8B-B14F-4D97-AF65-F5344CB8AC3E}">
        <p14:creationId xmlns:p14="http://schemas.microsoft.com/office/powerpoint/2010/main" val="2552084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DA047-A5B2-95E5-1101-54E2CC95F27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793807B-C739-D5EC-5C53-9BFD5CD380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A69194D-13F4-86F4-B5A9-788DE8451765}"/>
              </a:ext>
            </a:extLst>
          </p:cNvPr>
          <p:cNvSpPr>
            <a:spLocks noGrp="1"/>
          </p:cNvSpPr>
          <p:nvPr>
            <p:ph type="body" idx="1"/>
          </p:nvPr>
        </p:nvSpPr>
        <p:spPr/>
        <p:txBody>
          <a:bodyPr/>
          <a:lstStyle/>
          <a:p>
            <a:r>
              <a:rPr kumimoji="1" lang="ja-JP" altLang="en-US"/>
              <a:t>　実験結果についてです。この表では、言語特徴導入する</a:t>
            </a:r>
            <a:r>
              <a:rPr kumimoji="1" lang="en-US" altLang="ja-JP"/>
              <a:t>LAIL</a:t>
            </a:r>
            <a:r>
              <a:rPr kumimoji="1" lang="ja-JP" altLang="en-US"/>
              <a:t>を用いないベースラインとの比較を行いました。また、評価指標としては</a:t>
            </a:r>
            <a:r>
              <a:rPr kumimoji="1" lang="en-US" altLang="ja-JP"/>
              <a:t>CER</a:t>
            </a:r>
            <a:r>
              <a:rPr kumimoji="1" lang="ja-JP" altLang="en-US"/>
              <a:t>という文字誤り率を算出して、全テストデータ</a:t>
            </a:r>
            <a:r>
              <a:rPr kumimoji="1" lang="en-US" altLang="ja-JP"/>
              <a:t>2915</a:t>
            </a:r>
            <a:r>
              <a:rPr kumimoji="1" lang="ja-JP" altLang="en-US"/>
              <a:t>枚の</a:t>
            </a:r>
            <a:r>
              <a:rPr kumimoji="1" lang="en-US" altLang="ja-JP"/>
              <a:t>CER</a:t>
            </a:r>
            <a:r>
              <a:rPr kumimoji="1" lang="ja-JP" altLang="en-US"/>
              <a:t>の平均値を載せています。この表からベースラインと比較して精度が大幅に向上したことがわかる。</a:t>
            </a:r>
            <a:endParaRPr kumimoji="1" lang="en-US" altLang="ja-JP"/>
          </a:p>
          <a:p>
            <a:endParaRPr kumimoji="1" lang="en-US" altLang="ja-JP"/>
          </a:p>
          <a:p>
            <a:endParaRPr lang="en-US" altLang="ja-JP"/>
          </a:p>
          <a:p>
            <a:r>
              <a:rPr lang="en" altLang="ja-JP" b="1"/>
              <a:t>Q. </a:t>
            </a:r>
            <a:r>
              <a:rPr lang="ja-JP" altLang="en-US" b="1"/>
              <a:t>データセットは？なぜ</a:t>
            </a:r>
            <a:r>
              <a:rPr lang="en" altLang="ja-JP" b="1"/>
              <a:t>IAM</a:t>
            </a:r>
            <a:r>
              <a:rPr lang="ja-JP" altLang="en" b="1"/>
              <a:t>？</a:t>
            </a:r>
            <a:br>
              <a:rPr lang="en" altLang="ja-JP"/>
            </a:br>
            <a:r>
              <a:rPr lang="en" altLang="ja-JP" b="1"/>
              <a:t>A. </a:t>
            </a:r>
            <a:r>
              <a:rPr lang="ja-JP" altLang="en-US" b="1"/>
              <a:t>手書き英文の標準ベンチで比較しやすく、曖昧字形の誤りが出やすいからです。</a:t>
            </a:r>
            <a:r>
              <a:rPr lang="ja-JP" altLang="en-US"/>
              <a:t> </a:t>
            </a:r>
          </a:p>
          <a:p>
            <a:r>
              <a:rPr lang="en" altLang="ja-JP" b="1"/>
              <a:t>Q. </a:t>
            </a:r>
            <a:r>
              <a:rPr lang="ja-JP" altLang="en-US" b="1"/>
              <a:t>指標</a:t>
            </a:r>
            <a:r>
              <a:rPr lang="en" altLang="ja-JP" b="1"/>
              <a:t>CER</a:t>
            </a:r>
            <a:r>
              <a:rPr lang="ja-JP" altLang="en-US" b="1"/>
              <a:t>を使った理由は？</a:t>
            </a:r>
            <a:br>
              <a:rPr lang="ja-JP" altLang="en-US"/>
            </a:br>
            <a:r>
              <a:rPr lang="en" altLang="ja-JP" b="1"/>
              <a:t>A. </a:t>
            </a:r>
            <a:r>
              <a:rPr lang="ja-JP" altLang="en-US" b="1"/>
              <a:t>文字単位での誤り（置換</a:t>
            </a:r>
            <a:r>
              <a:rPr lang="en-US" altLang="ja-JP" b="1"/>
              <a:t>/</a:t>
            </a:r>
            <a:r>
              <a:rPr lang="ja-JP" altLang="en-US" b="1"/>
              <a:t>挿入</a:t>
            </a:r>
            <a:r>
              <a:rPr lang="en-US" altLang="ja-JP" b="1"/>
              <a:t>/</a:t>
            </a:r>
            <a:r>
              <a:rPr lang="ja-JP" altLang="en-US" b="1"/>
              <a:t>削除）を直接見れて、</a:t>
            </a:r>
            <a:r>
              <a:rPr lang="en" altLang="ja-JP" b="1"/>
              <a:t>OCR</a:t>
            </a:r>
            <a:r>
              <a:rPr lang="ja-JP" altLang="en-US" b="1"/>
              <a:t>の改善を説明しやすいからです。</a:t>
            </a:r>
            <a:r>
              <a:rPr lang="ja-JP" altLang="en-US"/>
              <a:t> </a:t>
            </a:r>
          </a:p>
          <a:p>
            <a:r>
              <a:rPr lang="ja-JP" altLang="en-US" b="1"/>
              <a:t>どれくらい改善した？</a:t>
            </a:r>
            <a:br>
              <a:rPr lang="ja-JP" altLang="en-US"/>
            </a:br>
            <a:r>
              <a:rPr lang="en" altLang="ja-JP" b="1"/>
              <a:t>A. </a:t>
            </a:r>
            <a:r>
              <a:rPr lang="ja-JP" altLang="en-US" b="1"/>
              <a:t>ベースライン</a:t>
            </a:r>
            <a:r>
              <a:rPr lang="en-US" altLang="ja-JP" b="1"/>
              <a:t>13.64%→</a:t>
            </a:r>
            <a:r>
              <a:rPr lang="ja-JP" altLang="en-US" b="1"/>
              <a:t>提案</a:t>
            </a:r>
            <a:r>
              <a:rPr lang="en-US" altLang="ja-JP" b="1"/>
              <a:t>10.77%</a:t>
            </a:r>
            <a:r>
              <a:rPr lang="ja-JP" altLang="en-US" b="1"/>
              <a:t>で、</a:t>
            </a:r>
            <a:r>
              <a:rPr lang="en" altLang="ja-JP" b="1"/>
              <a:t>CER</a:t>
            </a:r>
            <a:r>
              <a:rPr lang="ja-JP" altLang="en-US" b="1"/>
              <a:t>が約</a:t>
            </a:r>
            <a:r>
              <a:rPr lang="en-US" altLang="ja-JP" b="1"/>
              <a:t>2.9</a:t>
            </a:r>
            <a:r>
              <a:rPr lang="en" altLang="ja-JP" b="1"/>
              <a:t>pt</a:t>
            </a:r>
            <a:r>
              <a:rPr lang="ja-JP" altLang="en-US" b="1"/>
              <a:t>改善です。</a:t>
            </a:r>
            <a:endParaRPr lang="en-US" altLang="ja-JP"/>
          </a:p>
          <a:p>
            <a:endParaRPr lang="en-US" altLang="ja-JP"/>
          </a:p>
          <a:p>
            <a:endParaRPr lang="en-US" altLang="ja-JP"/>
          </a:p>
          <a:p>
            <a:endParaRPr lang="en-US" altLang="ja-JP"/>
          </a:p>
          <a:p>
            <a:endParaRPr lang="en-US" altLang="ja-JP"/>
          </a:p>
          <a:p>
            <a:endParaRPr lang="en-US" altLang="ja-JP"/>
          </a:p>
          <a:p>
            <a:endParaRPr lang="en-US" altLang="ja-JP"/>
          </a:p>
          <a:p>
            <a:endParaRPr lang="en-US" altLang="ja-JP"/>
          </a:p>
          <a:p>
            <a:r>
              <a:rPr lang="ja-JP" altLang="en-US"/>
              <a:t>二つ目理由</a:t>
            </a:r>
            <a:endParaRPr lang="en-US" altLang="ja-JP"/>
          </a:p>
          <a:p>
            <a:r>
              <a:rPr lang="en-US" altLang="ja-JP"/>
              <a:t>- </a:t>
            </a:r>
            <a:r>
              <a:rPr lang="ja-JP" altLang="en-US"/>
              <a:t>層を増やしすぎることは、改善に直結しない可能性が示唆される。要因の一つとして、学習データ規模に対して</a:t>
            </a:r>
            <a:r>
              <a:rPr lang="en-US" altLang="ja-JP"/>
              <a:t>3B </a:t>
            </a:r>
            <a:r>
              <a:rPr lang="ja-JP" altLang="en-US"/>
              <a:t>モデルの容量が大きく、過学習が生じやすかった可能性が考えられる。</a:t>
            </a:r>
            <a:endParaRPr lang="en-US" altLang="ja-JP"/>
          </a:p>
          <a:p>
            <a:endParaRPr lang="en-US" altLang="ja-JP"/>
          </a:p>
          <a:p>
            <a:r>
              <a:rPr lang="ja-JP" altLang="en-US"/>
              <a:t>三つ目理由</a:t>
            </a:r>
            <a:endParaRPr lang="en-US" altLang="ja-JP"/>
          </a:p>
          <a:p>
            <a:r>
              <a:rPr lang="en-US" altLang="ja-JP"/>
              <a:t>- </a:t>
            </a:r>
            <a:r>
              <a:rPr lang="ja-JP" altLang="en-US"/>
              <a:t>多すぎると、</a:t>
            </a:r>
            <a:r>
              <a:rPr lang="en-US" altLang="ja-JP"/>
              <a:t>LAIL</a:t>
            </a:r>
            <a:r>
              <a:rPr lang="ja-JP" altLang="en-US"/>
              <a:t>の損失値が大きくてで言語バイアス過多で精度悪化</a:t>
            </a:r>
            <a:endParaRPr lang="en-US" altLang="ja-JP"/>
          </a:p>
          <a:p>
            <a:r>
              <a:rPr lang="en-US" altLang="ja-JP"/>
              <a:t>- </a:t>
            </a:r>
          </a:p>
          <a:p>
            <a:endParaRPr lang="en-US" altLang="ja-JP"/>
          </a:p>
          <a:p>
            <a:endParaRPr lang="en-US" altLang="ja-JP"/>
          </a:p>
          <a:p>
            <a:endParaRPr lang="en-US" altLang="ja-JP"/>
          </a:p>
          <a:p>
            <a:r>
              <a:rPr lang="ja-JP" altLang="en-US"/>
              <a:t>アドバイス</a:t>
            </a:r>
            <a:endParaRPr lang="en-US" altLang="ja-JP"/>
          </a:p>
          <a:p>
            <a:r>
              <a:rPr lang="en-US" altLang="ja-JP"/>
              <a:t>- </a:t>
            </a:r>
            <a:r>
              <a:rPr lang="ja-JP" altLang="en-US"/>
              <a:t>それぞれ２、３言欲しい</a:t>
            </a:r>
            <a:endParaRPr lang="en-US" altLang="ja-JP"/>
          </a:p>
          <a:p>
            <a:endParaRPr lang="ja-JP" altLang="en-US"/>
          </a:p>
        </p:txBody>
      </p:sp>
      <p:sp>
        <p:nvSpPr>
          <p:cNvPr id="4" name="スライド番号プレースホルダー 3">
            <a:extLst>
              <a:ext uri="{FF2B5EF4-FFF2-40B4-BE49-F238E27FC236}">
                <a16:creationId xmlns:a16="http://schemas.microsoft.com/office/drawing/2014/main" id="{664FCD11-E04D-6F73-2284-6097DD41E641}"/>
              </a:ext>
            </a:extLst>
          </p:cNvPr>
          <p:cNvSpPr>
            <a:spLocks noGrp="1"/>
          </p:cNvSpPr>
          <p:nvPr>
            <p:ph type="sldNum" sz="quarter" idx="5"/>
          </p:nvPr>
        </p:nvSpPr>
        <p:spPr/>
        <p:txBody>
          <a:bodyPr/>
          <a:lstStyle/>
          <a:p>
            <a:fld id="{325D33EE-53BE-43DC-8715-EC4A6D4E7EEB}" type="slidenum">
              <a:rPr kumimoji="1" lang="ja-JP" altLang="en-US" smtClean="0"/>
              <a:t>24</a:t>
            </a:fld>
            <a:endParaRPr kumimoji="1" lang="ja-JP" altLang="en-US"/>
          </a:p>
        </p:txBody>
      </p:sp>
    </p:spTree>
    <p:extLst>
      <p:ext uri="{BB962C8B-B14F-4D97-AF65-F5344CB8AC3E}">
        <p14:creationId xmlns:p14="http://schemas.microsoft.com/office/powerpoint/2010/main" val="33800578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D9510-E3B6-BE9F-DD8B-49D3A2B0D79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BE11689-DB31-6EBC-20A8-6AFE4F33F07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1BBCF4A-4C87-47D1-BB8B-9E82E8C038A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　二つ目は、接続する層の配置による精度の変化を確認しました。この表から、</a:t>
            </a:r>
            <a:r>
              <a:rPr lang="en-US" altLang="ja-JP"/>
              <a:t>2</a:t>
            </a:r>
            <a:r>
              <a:rPr lang="ja-JP" altLang="en-US"/>
              <a:t>層</a:t>
            </a:r>
            <a:r>
              <a:rPr lang="en-US" altLang="ja-JP"/>
              <a:t>11,12</a:t>
            </a:r>
            <a:r>
              <a:rPr lang="ja-JP" altLang="en-US"/>
              <a:t>層目から損失を流すことが適切だとわかった。</a:t>
            </a:r>
            <a:endParaRPr lang="en-US" altLang="ja-JP"/>
          </a:p>
          <a:p>
            <a:endParaRPr lang="en-US" altLang="ja-JP"/>
          </a:p>
        </p:txBody>
      </p:sp>
      <p:sp>
        <p:nvSpPr>
          <p:cNvPr id="4" name="スライド番号プレースホルダー 3">
            <a:extLst>
              <a:ext uri="{FF2B5EF4-FFF2-40B4-BE49-F238E27FC236}">
                <a16:creationId xmlns:a16="http://schemas.microsoft.com/office/drawing/2014/main" id="{63BFCA30-D0CE-6959-A6F4-D17C2DF233A5}"/>
              </a:ext>
            </a:extLst>
          </p:cNvPr>
          <p:cNvSpPr>
            <a:spLocks noGrp="1"/>
          </p:cNvSpPr>
          <p:nvPr>
            <p:ph type="sldNum" sz="quarter" idx="5"/>
          </p:nvPr>
        </p:nvSpPr>
        <p:spPr/>
        <p:txBody>
          <a:bodyPr/>
          <a:lstStyle/>
          <a:p>
            <a:fld id="{325D33EE-53BE-43DC-8715-EC4A6D4E7EEB}" type="slidenum">
              <a:rPr kumimoji="1" lang="ja-JP" altLang="en-US" smtClean="0"/>
              <a:t>25</a:t>
            </a:fld>
            <a:endParaRPr kumimoji="1" lang="ja-JP" altLang="en-US"/>
          </a:p>
        </p:txBody>
      </p:sp>
    </p:spTree>
    <p:extLst>
      <p:ext uri="{BB962C8B-B14F-4D97-AF65-F5344CB8AC3E}">
        <p14:creationId xmlns:p14="http://schemas.microsoft.com/office/powerpoint/2010/main" val="169402982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7F071-1870-1804-AD03-2F2BAE2C979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1087EB0-79B4-57B4-E85C-F8A8DDA77A3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90CE50B-BDA4-D2D0-A331-A59D6E6E07C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　三つ目の表は、</a:t>
            </a:r>
            <a:r>
              <a:rPr lang="en-US" altLang="ja-JP"/>
              <a:t>LLM</a:t>
            </a:r>
            <a:r>
              <a:rPr lang="ja-JP" altLang="en-US"/>
              <a:t>の性能差による精度の変化を調査した結果になります。これは、精度の差が見られませんでした。</a:t>
            </a:r>
            <a:endParaRPr lang="en-US" altLang="ja-JP"/>
          </a:p>
          <a:p>
            <a:endParaRPr lang="en-US" altLang="ja-JP"/>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　これら表より、この</a:t>
            </a:r>
            <a:r>
              <a:rPr lang="en-US" altLang="ja-JP"/>
              <a:t>LLM</a:t>
            </a:r>
            <a:r>
              <a:rPr lang="ja-JP" altLang="en-US"/>
              <a:t>のモデルサイズ・数を増やしても線形的に精度が上がりませんでした。これは、増やせば増やすほど</a:t>
            </a:r>
            <a:endParaRPr lang="en-US" altLang="ja-JP"/>
          </a:p>
          <a:p>
            <a:endParaRPr lang="en-US" altLang="ja-JP"/>
          </a:p>
          <a:p>
            <a:endParaRPr lang="en-US" altLang="ja-JP"/>
          </a:p>
          <a:p>
            <a:endParaRPr lang="en-US" altLang="ja-JP"/>
          </a:p>
        </p:txBody>
      </p:sp>
      <p:sp>
        <p:nvSpPr>
          <p:cNvPr id="4" name="スライド番号プレースホルダー 3">
            <a:extLst>
              <a:ext uri="{FF2B5EF4-FFF2-40B4-BE49-F238E27FC236}">
                <a16:creationId xmlns:a16="http://schemas.microsoft.com/office/drawing/2014/main" id="{20EAC90E-7E09-BC47-A072-2A5C24F43D0B}"/>
              </a:ext>
            </a:extLst>
          </p:cNvPr>
          <p:cNvSpPr>
            <a:spLocks noGrp="1"/>
          </p:cNvSpPr>
          <p:nvPr>
            <p:ph type="sldNum" sz="quarter" idx="5"/>
          </p:nvPr>
        </p:nvSpPr>
        <p:spPr/>
        <p:txBody>
          <a:bodyPr/>
          <a:lstStyle/>
          <a:p>
            <a:fld id="{325D33EE-53BE-43DC-8715-EC4A6D4E7EEB}" type="slidenum">
              <a:rPr kumimoji="1" lang="ja-JP" altLang="en-US" smtClean="0"/>
              <a:t>26</a:t>
            </a:fld>
            <a:endParaRPr kumimoji="1" lang="ja-JP" altLang="en-US"/>
          </a:p>
        </p:txBody>
      </p:sp>
    </p:spTree>
    <p:extLst>
      <p:ext uri="{BB962C8B-B14F-4D97-AF65-F5344CB8AC3E}">
        <p14:creationId xmlns:p14="http://schemas.microsoft.com/office/powerpoint/2010/main" val="35360682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6A335-75BF-FB7C-82A5-116534E16EC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2509763-C145-1296-B1DD-143A8DB3AF9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9071DBB-F383-E1E4-9328-0F93214BDD5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　　それに対応する最適なエンコーダにするための表現能力が足りないためだと考えられます。</a:t>
            </a:r>
            <a:endParaRPr lang="en-US" altLang="ja-JP"/>
          </a:p>
          <a:p>
            <a:endParaRPr lang="en-US" altLang="ja-JP"/>
          </a:p>
          <a:p>
            <a:endParaRPr lang="en-US" altLang="ja-JP"/>
          </a:p>
          <a:p>
            <a:endParaRPr lang="en-US" altLang="ja-JP"/>
          </a:p>
          <a:p>
            <a:endParaRPr lang="en-US" altLang="ja-JP"/>
          </a:p>
          <a:p>
            <a:endParaRPr lang="en-US" altLang="ja-JP"/>
          </a:p>
          <a:p>
            <a:r>
              <a:rPr lang="ja-JP" altLang="en-US"/>
              <a:t>想定質問</a:t>
            </a:r>
            <a:endParaRPr lang="en-US" altLang="ja-JP"/>
          </a:p>
          <a:p>
            <a:pPr marL="0" indent="0">
              <a:buFontTx/>
              <a:buNone/>
            </a:pPr>
            <a:r>
              <a:rPr lang="en-US" altLang="ja-JP"/>
              <a:t>1. </a:t>
            </a:r>
            <a:r>
              <a:rPr lang="ja-JP" altLang="en-US"/>
              <a:t>なぜ後続の方が精度が良くなっているのか？→本研究で用いた</a:t>
            </a:r>
            <a:r>
              <a:rPr lang="en-US" altLang="ja-JP"/>
              <a:t>Transformer</a:t>
            </a:r>
            <a:r>
              <a:rPr lang="ja-JP" altLang="en-US"/>
              <a:t>ブロックの性質である、上位層ほど抽象的で文脈的な表現になり、</a:t>
            </a:r>
            <a:r>
              <a:rPr lang="en" altLang="ja-JP"/>
              <a:t>LLM</a:t>
            </a:r>
            <a:r>
              <a:rPr lang="ja-JP" altLang="en-US"/>
              <a:t>由来の言語特徴が噛み合いやすいからだと考えています</a:t>
            </a:r>
            <a:endParaRPr lang="en-US" altLang="ja-JP"/>
          </a:p>
          <a:p>
            <a:pPr marL="0" indent="0">
              <a:buFontTx/>
              <a:buNone/>
            </a:pPr>
            <a:endParaRPr lang="en-US" altLang="ja-JP"/>
          </a:p>
          <a:p>
            <a:pPr marL="0" indent="0">
              <a:buFontTx/>
              <a:buNone/>
            </a:pPr>
            <a:r>
              <a:rPr lang="en" altLang="ja-JP" b="1"/>
              <a:t>2. 12</a:t>
            </a:r>
            <a:r>
              <a:rPr lang="ja-JP" altLang="en-US" b="1"/>
              <a:t>層だけより</a:t>
            </a:r>
            <a:r>
              <a:rPr lang="en-US" altLang="ja-JP" b="1"/>
              <a:t>11,12</a:t>
            </a:r>
            <a:r>
              <a:rPr lang="ja-JP" altLang="en-US" b="1"/>
              <a:t>の方が良いのはなぜ？</a:t>
            </a:r>
            <a:br>
              <a:rPr lang="ja-JP" altLang="en-US"/>
            </a:br>
            <a:r>
              <a:rPr lang="en" altLang="ja-JP" b="1"/>
              <a:t>A. </a:t>
            </a:r>
            <a:r>
              <a:rPr lang="en-US" altLang="ja-JP" b="1"/>
              <a:t>1</a:t>
            </a:r>
            <a:r>
              <a:rPr lang="ja-JP" altLang="en-US" b="1"/>
              <a:t>層手前も補助すると学習信号が入りやすい可能性があります</a:t>
            </a:r>
            <a:endParaRPr lang="en-US" altLang="ja-JP" b="1"/>
          </a:p>
          <a:p>
            <a:pPr marL="0" indent="0">
              <a:buFontTx/>
              <a:buNone/>
            </a:pPr>
            <a:endParaRPr lang="en-US" altLang="ja-JP" b="1"/>
          </a:p>
          <a:p>
            <a:pPr marL="0" indent="0">
              <a:buFontTx/>
              <a:buNone/>
            </a:pPr>
            <a:r>
              <a:rPr lang="en" altLang="ja-JP" b="1"/>
              <a:t>Q. 3,12</a:t>
            </a:r>
            <a:r>
              <a:rPr lang="ja-JP" altLang="en-US" b="1"/>
              <a:t>や</a:t>
            </a:r>
            <a:r>
              <a:rPr lang="en-US" altLang="ja-JP" b="1"/>
              <a:t>6,12</a:t>
            </a:r>
            <a:r>
              <a:rPr lang="ja-JP" altLang="en-US" b="1"/>
              <a:t>が悪いのはなぜ？</a:t>
            </a:r>
            <a:br>
              <a:rPr lang="ja-JP" altLang="en-US"/>
            </a:br>
            <a:r>
              <a:rPr lang="en" altLang="ja-JP" b="1"/>
              <a:t>A. </a:t>
            </a:r>
            <a:r>
              <a:rPr lang="ja-JP" altLang="en-US" b="1"/>
              <a:t>低層に入れると視覚特徴の形成を乱しやすく、言語信号との干渉が起きた可能性があります。</a:t>
            </a:r>
            <a:endParaRPr lang="en-US" altLang="ja-JP"/>
          </a:p>
        </p:txBody>
      </p:sp>
      <p:sp>
        <p:nvSpPr>
          <p:cNvPr id="4" name="スライド番号プレースホルダー 3">
            <a:extLst>
              <a:ext uri="{FF2B5EF4-FFF2-40B4-BE49-F238E27FC236}">
                <a16:creationId xmlns:a16="http://schemas.microsoft.com/office/drawing/2014/main" id="{02523906-E79B-7802-29EA-A87147AF9F82}"/>
              </a:ext>
            </a:extLst>
          </p:cNvPr>
          <p:cNvSpPr>
            <a:spLocks noGrp="1"/>
          </p:cNvSpPr>
          <p:nvPr>
            <p:ph type="sldNum" sz="quarter" idx="5"/>
          </p:nvPr>
        </p:nvSpPr>
        <p:spPr/>
        <p:txBody>
          <a:bodyPr/>
          <a:lstStyle/>
          <a:p>
            <a:fld id="{325D33EE-53BE-43DC-8715-EC4A6D4E7EEB}" type="slidenum">
              <a:rPr kumimoji="1" lang="ja-JP" altLang="en-US" smtClean="0"/>
              <a:t>27</a:t>
            </a:fld>
            <a:endParaRPr kumimoji="1" lang="ja-JP" altLang="en-US"/>
          </a:p>
        </p:txBody>
      </p:sp>
    </p:spTree>
    <p:extLst>
      <p:ext uri="{BB962C8B-B14F-4D97-AF65-F5344CB8AC3E}">
        <p14:creationId xmlns:p14="http://schemas.microsoft.com/office/powerpoint/2010/main" val="32399823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D2792-D4BD-02DF-940A-E2C088CBB4B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F7381A2-E3BE-4A4A-289D-3B14A556C98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21561C0-F7AF-6F3A-E001-7C661889B5E0}"/>
              </a:ext>
            </a:extLst>
          </p:cNvPr>
          <p:cNvSpPr>
            <a:spLocks noGrp="1"/>
          </p:cNvSpPr>
          <p:nvPr>
            <p:ph type="body" idx="1"/>
          </p:nvPr>
        </p:nvSpPr>
        <p:spPr/>
        <p:txBody>
          <a:bodyPr/>
          <a:lstStyle/>
          <a:p>
            <a:r>
              <a:rPr kumimoji="1" lang="ja-JP" altLang="en-US"/>
              <a:t>　また、出力例を示していきたいと思います。</a:t>
            </a:r>
            <a:endParaRPr kumimoji="1" lang="en-US" altLang="ja-JP"/>
          </a:p>
          <a:p>
            <a:r>
              <a:rPr kumimoji="1" lang="ja-JP" altLang="en-US"/>
              <a:t>まず、こちらが入力画像と対応する正解文字列になっています。</a:t>
            </a:r>
            <a:endParaRPr kumimoji="1" lang="en-US" altLang="ja-JP"/>
          </a:p>
        </p:txBody>
      </p:sp>
      <p:sp>
        <p:nvSpPr>
          <p:cNvPr id="4" name="スライド番号プレースホルダー 3">
            <a:extLst>
              <a:ext uri="{FF2B5EF4-FFF2-40B4-BE49-F238E27FC236}">
                <a16:creationId xmlns:a16="http://schemas.microsoft.com/office/drawing/2014/main" id="{CB758CBD-8CE7-82D5-9656-139C4EA43814}"/>
              </a:ext>
            </a:extLst>
          </p:cNvPr>
          <p:cNvSpPr>
            <a:spLocks noGrp="1"/>
          </p:cNvSpPr>
          <p:nvPr>
            <p:ph type="sldNum" sz="quarter" idx="5"/>
          </p:nvPr>
        </p:nvSpPr>
        <p:spPr/>
        <p:txBody>
          <a:bodyPr/>
          <a:lstStyle/>
          <a:p>
            <a:fld id="{325D33EE-53BE-43DC-8715-EC4A6D4E7EEB}" type="slidenum">
              <a:rPr kumimoji="1" lang="ja-JP" altLang="en-US" smtClean="0"/>
              <a:t>28</a:t>
            </a:fld>
            <a:endParaRPr kumimoji="1" lang="ja-JP" altLang="en-US"/>
          </a:p>
        </p:txBody>
      </p:sp>
    </p:spTree>
    <p:extLst>
      <p:ext uri="{BB962C8B-B14F-4D97-AF65-F5344CB8AC3E}">
        <p14:creationId xmlns:p14="http://schemas.microsoft.com/office/powerpoint/2010/main" val="35074041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06BD9-46B3-35A5-22EB-1F4B6564726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B88D319-6F45-A456-1D19-860340E9134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42B4CA3-8DC4-7617-6F69-0A369BF84CB3}"/>
              </a:ext>
            </a:extLst>
          </p:cNvPr>
          <p:cNvSpPr>
            <a:spLocks noGrp="1"/>
          </p:cNvSpPr>
          <p:nvPr>
            <p:ph type="body" idx="1"/>
          </p:nvPr>
        </p:nvSpPr>
        <p:spPr/>
        <p:txBody>
          <a:bodyPr/>
          <a:lstStyle/>
          <a:p>
            <a:r>
              <a:rPr lang="ja-JP" altLang="en-US"/>
              <a:t>　ベースラインモデルの予測では、入力画像の字形の曖昧さによる誤認識が発生していた。例えば、</a:t>
            </a:r>
            <a:r>
              <a:rPr lang="en-US" altLang="ja-JP"/>
              <a:t>come what may </a:t>
            </a:r>
            <a:r>
              <a:rPr lang="ja-JP" altLang="en-US"/>
              <a:t>のところは画像では</a:t>
            </a:r>
            <a:r>
              <a:rPr lang="en-US" altLang="ja-JP"/>
              <a:t> what </a:t>
            </a:r>
            <a:r>
              <a:rPr lang="ja-JP" altLang="en-US"/>
              <a:t>の</a:t>
            </a:r>
            <a:r>
              <a:rPr lang="en-US" altLang="ja-JP"/>
              <a:t> h </a:t>
            </a:r>
            <a:r>
              <a:rPr lang="ja-JP" altLang="en-US"/>
              <a:t>が</a:t>
            </a:r>
            <a:r>
              <a:rPr lang="en-US" altLang="ja-JP"/>
              <a:t> l </a:t>
            </a:r>
            <a:r>
              <a:rPr lang="ja-JP" altLang="en-US"/>
              <a:t>筆記体と似ているためです。</a:t>
            </a:r>
            <a:endParaRPr lang="en-US" altLang="ja-JP"/>
          </a:p>
          <a:p>
            <a:endParaRPr lang="en-US" altLang="ja-JP"/>
          </a:p>
        </p:txBody>
      </p:sp>
      <p:sp>
        <p:nvSpPr>
          <p:cNvPr id="4" name="スライド番号プレースホルダー 3">
            <a:extLst>
              <a:ext uri="{FF2B5EF4-FFF2-40B4-BE49-F238E27FC236}">
                <a16:creationId xmlns:a16="http://schemas.microsoft.com/office/drawing/2014/main" id="{FEA8C361-605C-2B84-A168-30EB83D9886B}"/>
              </a:ext>
            </a:extLst>
          </p:cNvPr>
          <p:cNvSpPr>
            <a:spLocks noGrp="1"/>
          </p:cNvSpPr>
          <p:nvPr>
            <p:ph type="sldNum" sz="quarter" idx="5"/>
          </p:nvPr>
        </p:nvSpPr>
        <p:spPr/>
        <p:txBody>
          <a:bodyPr/>
          <a:lstStyle/>
          <a:p>
            <a:fld id="{325D33EE-53BE-43DC-8715-EC4A6D4E7EEB}" type="slidenum">
              <a:rPr kumimoji="1" lang="ja-JP" altLang="en-US" smtClean="0"/>
              <a:t>29</a:t>
            </a:fld>
            <a:endParaRPr kumimoji="1" lang="ja-JP" altLang="en-US"/>
          </a:p>
        </p:txBody>
      </p:sp>
    </p:spTree>
    <p:extLst>
      <p:ext uri="{BB962C8B-B14F-4D97-AF65-F5344CB8AC3E}">
        <p14:creationId xmlns:p14="http://schemas.microsoft.com/office/powerpoint/2010/main" val="136074011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4DC1B-BE8A-53A6-D7FF-99D1D872383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27894EE-7189-31EE-7AA7-48602625DC9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6FD1DE-95F1-3EB8-A56E-F521139BF777}"/>
              </a:ext>
            </a:extLst>
          </p:cNvPr>
          <p:cNvSpPr>
            <a:spLocks noGrp="1"/>
          </p:cNvSpPr>
          <p:nvPr>
            <p:ph type="body" idx="1"/>
          </p:nvPr>
        </p:nvSpPr>
        <p:spPr/>
        <p:txBody>
          <a:bodyPr/>
          <a:lstStyle/>
          <a:p>
            <a:r>
              <a:rPr lang="ja-JP" altLang="en-US"/>
              <a:t>　一方で、提案手法モデルではこれら２サンプルすべて正しく予測できています。特に、</a:t>
            </a:r>
            <a:r>
              <a:rPr lang="en-US" altLang="ja-JP"/>
              <a:t>come what may </a:t>
            </a:r>
            <a:r>
              <a:rPr lang="ja-JP" altLang="en-US"/>
              <a:t>の文章では、</a:t>
            </a:r>
            <a:r>
              <a:rPr lang="en-US" altLang="ja-JP"/>
              <a:t>LLM </a:t>
            </a:r>
            <a:r>
              <a:rPr lang="ja-JP" altLang="en-US"/>
              <a:t>で事前学習された言語知識、英語の文法イディオム等のような言語知識を言語特徴として本モデルのエンコーダが獲得できたため正しく予測ができたからだと考えられる。</a:t>
            </a:r>
            <a:endParaRPr lang="en-US" altLang="ja-JP"/>
          </a:p>
          <a:p>
            <a:endParaRPr lang="en-US" altLang="ja-JP"/>
          </a:p>
          <a:p>
            <a:endParaRPr kumimoji="1" lang="en-US" altLang="ja-JP"/>
          </a:p>
          <a:p>
            <a:r>
              <a:rPr lang="en" altLang="ja-JP" b="1"/>
              <a:t>Q. </a:t>
            </a:r>
            <a:r>
              <a:rPr lang="ja-JP" altLang="en-US" b="1"/>
              <a:t>逆に苦手は？</a:t>
            </a:r>
            <a:br>
              <a:rPr lang="ja-JP" altLang="en-US"/>
            </a:br>
            <a:r>
              <a:rPr lang="en" altLang="ja-JP" b="1"/>
              <a:t>A. </a:t>
            </a:r>
            <a:r>
              <a:rPr lang="ja-JP" altLang="en-US" b="1"/>
              <a:t>記号列や固有表現は文脈補正が逆効果になりうるので、そこは今後の課題です。</a:t>
            </a:r>
            <a:r>
              <a:rPr lang="ja-JP" altLang="en-US"/>
              <a:t> </a:t>
            </a:r>
          </a:p>
          <a:p>
            <a:endParaRPr kumimoji="1" lang="en-US" altLang="ja-JP"/>
          </a:p>
        </p:txBody>
      </p:sp>
      <p:sp>
        <p:nvSpPr>
          <p:cNvPr id="4" name="スライド番号プレースホルダー 3">
            <a:extLst>
              <a:ext uri="{FF2B5EF4-FFF2-40B4-BE49-F238E27FC236}">
                <a16:creationId xmlns:a16="http://schemas.microsoft.com/office/drawing/2014/main" id="{FFBFC582-BB39-0FF3-396B-E30F2E3CD111}"/>
              </a:ext>
            </a:extLst>
          </p:cNvPr>
          <p:cNvSpPr>
            <a:spLocks noGrp="1"/>
          </p:cNvSpPr>
          <p:nvPr>
            <p:ph type="sldNum" sz="quarter" idx="5"/>
          </p:nvPr>
        </p:nvSpPr>
        <p:spPr/>
        <p:txBody>
          <a:bodyPr/>
          <a:lstStyle/>
          <a:p>
            <a:fld id="{325D33EE-53BE-43DC-8715-EC4A6D4E7EEB}" type="slidenum">
              <a:rPr kumimoji="1" lang="ja-JP" altLang="en-US" smtClean="0"/>
              <a:t>30</a:t>
            </a:fld>
            <a:endParaRPr kumimoji="1" lang="ja-JP" altLang="en-US"/>
          </a:p>
        </p:txBody>
      </p:sp>
    </p:spTree>
    <p:extLst>
      <p:ext uri="{BB962C8B-B14F-4D97-AF65-F5344CB8AC3E}">
        <p14:creationId xmlns:p14="http://schemas.microsoft.com/office/powerpoint/2010/main" val="387108851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325D33EE-53BE-43DC-8715-EC4A6D4E7EEB}" type="slidenum">
              <a:rPr kumimoji="1" lang="ja-JP" altLang="en-US" smtClean="0"/>
              <a:t>31</a:t>
            </a:fld>
            <a:endParaRPr kumimoji="1" lang="ja-JP" altLang="en-US"/>
          </a:p>
        </p:txBody>
      </p:sp>
    </p:spTree>
    <p:extLst>
      <p:ext uri="{BB962C8B-B14F-4D97-AF65-F5344CB8AC3E}">
        <p14:creationId xmlns:p14="http://schemas.microsoft.com/office/powerpoint/2010/main" val="261007900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結論としては、手書き文字認識モデルへの言語特徴付与は有効であることが結果からわかりました。</a:t>
            </a:r>
            <a:endParaRPr kumimoji="1" lang="en-US" altLang="ja-JP"/>
          </a:p>
          <a:p>
            <a:endParaRPr kumimoji="1" lang="en-US" altLang="ja-JP"/>
          </a:p>
          <a:p>
            <a:r>
              <a:rPr kumimoji="1" lang="ja-JP" altLang="en-US"/>
              <a:t>ご清聴ありがとうございました。</a:t>
            </a:r>
            <a:br>
              <a:rPr kumimoji="1" lang="en-US" altLang="ja-JP"/>
            </a:br>
            <a:endParaRPr kumimoji="1" lang="en-US" altLang="ja-JP"/>
          </a:p>
          <a:p>
            <a:endParaRPr kumimoji="1" lang="en-US" altLang="ja-JP"/>
          </a:p>
          <a:p>
            <a:r>
              <a:rPr lang="en" altLang="ja-JP" b="1"/>
              <a:t>Q. </a:t>
            </a:r>
            <a:r>
              <a:rPr lang="ja-JP" altLang="en-US" b="1"/>
              <a:t>今後の改善方針は？</a:t>
            </a:r>
            <a:br>
              <a:rPr lang="ja-JP" altLang="en-US"/>
            </a:br>
            <a:r>
              <a:rPr lang="en" altLang="ja-JP" b="1"/>
              <a:t>A. </a:t>
            </a:r>
            <a:r>
              <a:rPr lang="ja-JP" altLang="en-US" b="1"/>
              <a:t>コネクタ層の“配置・数”と、</a:t>
            </a:r>
            <a:r>
              <a:rPr lang="en" altLang="ja-JP" b="1"/>
              <a:t>LLM</a:t>
            </a:r>
            <a:r>
              <a:rPr lang="ja-JP" altLang="en-US" b="1"/>
              <a:t>サイズに対して</a:t>
            </a:r>
            <a:r>
              <a:rPr lang="el-GR" altLang="ja-JP" b="1"/>
              <a:t>α</a:t>
            </a:r>
            <a:r>
              <a:rPr lang="ja-JP" altLang="en-US" b="1"/>
              <a:t>などの重み設計を詰めるのが次の一手です。</a:t>
            </a:r>
            <a:endParaRPr lang="ja-JP" altLang="en-US"/>
          </a:p>
          <a:p>
            <a:endParaRPr kumimoji="1" lang="en-US" altLang="ja-JP"/>
          </a:p>
        </p:txBody>
      </p:sp>
      <p:sp>
        <p:nvSpPr>
          <p:cNvPr id="4" name="スライド番号プレースホルダー 3"/>
          <p:cNvSpPr>
            <a:spLocks noGrp="1"/>
          </p:cNvSpPr>
          <p:nvPr>
            <p:ph type="sldNum" sz="quarter" idx="5"/>
          </p:nvPr>
        </p:nvSpPr>
        <p:spPr/>
        <p:txBody>
          <a:bodyPr/>
          <a:lstStyle/>
          <a:p>
            <a:fld id="{325D33EE-53BE-43DC-8715-EC4A6D4E7EEB}" type="slidenum">
              <a:rPr kumimoji="1" lang="ja-JP" altLang="en-US" smtClean="0"/>
              <a:t>32</a:t>
            </a:fld>
            <a:endParaRPr kumimoji="1" lang="ja-JP" altLang="en-US"/>
          </a:p>
        </p:txBody>
      </p:sp>
    </p:spTree>
    <p:extLst>
      <p:ext uri="{BB962C8B-B14F-4D97-AF65-F5344CB8AC3E}">
        <p14:creationId xmlns:p14="http://schemas.microsoft.com/office/powerpoint/2010/main" val="15891527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3200"/>
            <a:ext cx="9144000" cy="1990800"/>
          </a:xfrm>
        </p:spPr>
        <p:txBody>
          <a:bodyPr anchor="b"/>
          <a:lstStyle>
            <a:lvl1pPr algn="ctr">
              <a:defRPr sz="6000"/>
            </a:lvl1pPr>
          </a:lstStyle>
          <a:p>
            <a:r>
              <a:rPr kumimoji="1" lang="ja-JP" altLang="en-US"/>
              <a:t>マスター タイトルの書式設定</a:t>
            </a:r>
          </a:p>
        </p:txBody>
      </p:sp>
      <p:sp>
        <p:nvSpPr>
          <p:cNvPr id="3" name="サブタイトル 2"/>
          <p:cNvSpPr>
            <a:spLocks noGrp="1"/>
          </p:cNvSpPr>
          <p:nvPr>
            <p:ph type="subTitle" idx="1"/>
          </p:nvPr>
        </p:nvSpPr>
        <p:spPr>
          <a:xfrm>
            <a:off x="1524000" y="3963600"/>
            <a:ext cx="9144000" cy="235080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E8842660-15F3-4A26-AD68-66EAC70F9B27}" type="datetime1">
              <a:rPr kumimoji="1" lang="ja-JP" altLang="en-US" smtClean="0"/>
              <a:t>2026/2/12</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97E558F-9F61-480E-94CF-2C9CB5412042}" type="slidenum">
              <a:rPr kumimoji="1" lang="ja-JP" altLang="en-US" smtClean="0"/>
              <a:t>‹#›</a:t>
            </a:fld>
            <a:endParaRPr kumimoji="1" lang="ja-JP" altLang="en-US"/>
          </a:p>
        </p:txBody>
      </p:sp>
      <p:sp>
        <p:nvSpPr>
          <p:cNvPr id="7" name="正方形/長方形 6"/>
          <p:cNvSpPr/>
          <p:nvPr userDrawn="1"/>
        </p:nvSpPr>
        <p:spPr>
          <a:xfrm>
            <a:off x="1524000" y="3401963"/>
            <a:ext cx="9144000" cy="10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7881068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8200" y="144000"/>
            <a:ext cx="10515600" cy="1325563"/>
          </a:xfrm>
        </p:spPr>
        <p:txBody>
          <a:bodyPr/>
          <a:lstStyle>
            <a:lvl1pPr>
              <a:defRPr sz="4400">
                <a:solidFill>
                  <a:schemeClr val="accent5"/>
                </a:solidFill>
              </a:defRPr>
            </a:lvl1pPr>
          </a:lstStyle>
          <a:p>
            <a:r>
              <a:rPr kumimoji="1" lang="ja-JP" altLang="en-US"/>
              <a:t>マスター タイトルの書式設定</a:t>
            </a:r>
          </a:p>
        </p:txBody>
      </p:sp>
      <p:sp>
        <p:nvSpPr>
          <p:cNvPr id="3" name="コンテンツ プレースホルダー 2"/>
          <p:cNvSpPr>
            <a:spLocks noGrp="1"/>
          </p:cNvSpPr>
          <p:nvPr>
            <p:ph idx="1"/>
          </p:nvPr>
        </p:nvSpPr>
        <p:spPr>
          <a:xfrm>
            <a:off x="838200" y="1584000"/>
            <a:ext cx="10515600" cy="4500000"/>
          </a:xfrm>
        </p:spPr>
        <p:txBody>
          <a:bodyPr/>
          <a:lstStyle>
            <a:lvl1pPr>
              <a:buClr>
                <a:schemeClr val="accent5"/>
              </a:buClr>
              <a:defRPr/>
            </a:lvl1pPr>
            <a:lvl2pPr>
              <a:buClr>
                <a:schemeClr val="accent5">
                  <a:lumMod val="60000"/>
                  <a:lumOff val="40000"/>
                </a:schemeClr>
              </a:buClr>
              <a:defRPr/>
            </a:lvl2pPr>
            <a:lvl3pPr>
              <a:buClr>
                <a:schemeClr val="accent5">
                  <a:lumMod val="75000"/>
                </a:schemeClr>
              </a:buClr>
              <a:defRPr/>
            </a:lvl3pPr>
            <a:lvl4pPr>
              <a:buClr>
                <a:schemeClr val="accent5">
                  <a:lumMod val="50000"/>
                </a:schemeClr>
              </a:buClr>
              <a:defRPr/>
            </a:lvl4pPr>
            <a:lvl5pPr>
              <a:buClr>
                <a:schemeClr val="accent5">
                  <a:lumMod val="50000"/>
                </a:schemeClr>
              </a:buClr>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8C77B6CA-EFF6-46E7-9A0B-CF1D66CDAD28}" type="datetime1">
              <a:rPr kumimoji="1" lang="ja-JP" altLang="en-US" smtClean="0"/>
              <a:t>2026/2/12</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a:xfrm>
            <a:off x="8640000" y="6356350"/>
            <a:ext cx="3247103" cy="365125"/>
          </a:xfrm>
        </p:spPr>
        <p:txBody>
          <a:bodyPr/>
          <a:lstStyle>
            <a:lvl1pPr>
              <a:defRPr sz="1600">
                <a:solidFill>
                  <a:schemeClr val="tx1"/>
                </a:solidFill>
              </a:defRPr>
            </a:lvl1pPr>
          </a:lstStyle>
          <a:p>
            <a:fld id="{397E558F-9F61-480E-94CF-2C9CB5412042}" type="slidenum">
              <a:rPr lang="ja-JP" altLang="en-US" smtClean="0"/>
              <a:pPr/>
              <a:t>‹#›</a:t>
            </a:fld>
            <a:endParaRPr lang="ja-JP" altLang="en-US"/>
          </a:p>
        </p:txBody>
      </p:sp>
      <p:sp>
        <p:nvSpPr>
          <p:cNvPr id="7" name="正方形/長方形 6"/>
          <p:cNvSpPr/>
          <p:nvPr userDrawn="1"/>
        </p:nvSpPr>
        <p:spPr>
          <a:xfrm>
            <a:off x="1" y="0"/>
            <a:ext cx="894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0282013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0D5DB140-8B11-4C69-BD09-328CBD5B3348}" type="datetime1">
              <a:rPr kumimoji="1" lang="ja-JP" altLang="en-US" smtClean="0"/>
              <a:t>2026/2/12</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a:xfrm>
            <a:off x="9180000" y="6356350"/>
            <a:ext cx="2743200" cy="365125"/>
          </a:xfrm>
        </p:spPr>
        <p:txBody>
          <a:bodyPr/>
          <a:lstStyle>
            <a:lvl1pPr>
              <a:defRPr sz="1600">
                <a:solidFill>
                  <a:schemeClr val="tx1"/>
                </a:solidFill>
              </a:defRPr>
            </a:lvl1pPr>
          </a:lstStyle>
          <a:p>
            <a:fld id="{397E558F-9F61-480E-94CF-2C9CB5412042}" type="slidenum">
              <a:rPr lang="ja-JP" altLang="en-US" smtClean="0"/>
              <a:pPr/>
              <a:t>‹#›</a:t>
            </a:fld>
            <a:endParaRPr lang="ja-JP" altLang="en-US"/>
          </a:p>
        </p:txBody>
      </p:sp>
    </p:spTree>
    <p:extLst>
      <p:ext uri="{BB962C8B-B14F-4D97-AF65-F5344CB8AC3E}">
        <p14:creationId xmlns:p14="http://schemas.microsoft.com/office/powerpoint/2010/main" val="34198091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80DBFDF8-A03D-4EFE-95DD-AE72DA2995E3}" type="datetime1">
              <a:rPr kumimoji="1" lang="ja-JP" altLang="en-US" smtClean="0"/>
              <a:t>2026/2/12</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397E558F-9F61-480E-94CF-2C9CB5412042}" type="slidenum">
              <a:rPr kumimoji="1" lang="ja-JP" altLang="en-US" smtClean="0"/>
              <a:t>‹#›</a:t>
            </a:fld>
            <a:endParaRPr kumimoji="1" lang="ja-JP" altLang="en-US"/>
          </a:p>
        </p:txBody>
      </p:sp>
    </p:spTree>
    <p:extLst>
      <p:ext uri="{BB962C8B-B14F-4D97-AF65-F5344CB8AC3E}">
        <p14:creationId xmlns:p14="http://schemas.microsoft.com/office/powerpoint/2010/main" val="17290102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FBAC8402-8638-48C3-AF7D-4D14FBDE229E}" type="datetime1">
              <a:rPr kumimoji="1" lang="ja-JP" altLang="en-US" smtClean="0"/>
              <a:t>2026/2/12</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397E558F-9F61-480E-94CF-2C9CB5412042}" type="slidenum">
              <a:rPr kumimoji="1" lang="ja-JP" altLang="en-US" smtClean="0"/>
              <a:t>‹#›</a:t>
            </a:fld>
            <a:endParaRPr kumimoji="1" lang="ja-JP" altLang="en-US"/>
          </a:p>
        </p:txBody>
      </p:sp>
    </p:spTree>
    <p:extLst>
      <p:ext uri="{BB962C8B-B14F-4D97-AF65-F5344CB8AC3E}">
        <p14:creationId xmlns:p14="http://schemas.microsoft.com/office/powerpoint/2010/main" val="26173398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665C900A-EC05-47B7-968E-A2224B0980F8}" type="datetime1">
              <a:rPr kumimoji="1" lang="ja-JP" altLang="en-US" smtClean="0"/>
              <a:t>2026/2/12</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397E558F-9F61-480E-94CF-2C9CB5412042}" type="slidenum">
              <a:rPr kumimoji="1" lang="ja-JP" altLang="en-US" smtClean="0"/>
              <a:t>‹#›</a:t>
            </a:fld>
            <a:endParaRPr kumimoji="1" lang="ja-JP" altLang="en-US"/>
          </a:p>
        </p:txBody>
      </p:sp>
    </p:spTree>
    <p:extLst>
      <p:ext uri="{BB962C8B-B14F-4D97-AF65-F5344CB8AC3E}">
        <p14:creationId xmlns:p14="http://schemas.microsoft.com/office/powerpoint/2010/main" val="39010201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DDD490C1-CF2B-4E2A-B615-795AAAC82098}" type="datetime1">
              <a:rPr kumimoji="1" lang="ja-JP" altLang="en-US" smtClean="0"/>
              <a:t>2026/2/12</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397E558F-9F61-480E-94CF-2C9CB5412042}" type="slidenum">
              <a:rPr kumimoji="1" lang="ja-JP" altLang="en-US" smtClean="0"/>
              <a:t>‹#›</a:t>
            </a:fld>
            <a:endParaRPr kumimoji="1" lang="ja-JP" altLang="en-US"/>
          </a:p>
        </p:txBody>
      </p:sp>
    </p:spTree>
    <p:extLst>
      <p:ext uri="{BB962C8B-B14F-4D97-AF65-F5344CB8AC3E}">
        <p14:creationId xmlns:p14="http://schemas.microsoft.com/office/powerpoint/2010/main" val="12831430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C1DCC9B8-1D90-4F0A-9AAC-A3A7AF5C7C0C}" type="datetime1">
              <a:rPr kumimoji="1" lang="ja-JP" altLang="en-US" smtClean="0"/>
              <a:t>2026/2/12</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397E558F-9F61-480E-94CF-2C9CB5412042}" type="slidenum">
              <a:rPr kumimoji="1" lang="ja-JP" altLang="en-US" smtClean="0"/>
              <a:t>‹#›</a:t>
            </a:fld>
            <a:endParaRPr kumimoji="1" lang="ja-JP" altLang="en-US"/>
          </a:p>
        </p:txBody>
      </p:sp>
    </p:spTree>
    <p:extLst>
      <p:ext uri="{BB962C8B-B14F-4D97-AF65-F5344CB8AC3E}">
        <p14:creationId xmlns:p14="http://schemas.microsoft.com/office/powerpoint/2010/main" val="15121742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8F08DF3F-E4D7-42A7-A4C3-FBEA939C05D5}" type="datetime1">
              <a:rPr kumimoji="1" lang="ja-JP" altLang="en-US" smtClean="0"/>
              <a:t>2026/2/12</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397E558F-9F61-480E-94CF-2C9CB5412042}" type="slidenum">
              <a:rPr kumimoji="1" lang="ja-JP" altLang="en-US" smtClean="0"/>
              <a:t>‹#›</a:t>
            </a:fld>
            <a:endParaRPr kumimoji="1" lang="ja-JP" altLang="en-US"/>
          </a:p>
        </p:txBody>
      </p:sp>
    </p:spTree>
    <p:extLst>
      <p:ext uri="{BB962C8B-B14F-4D97-AF65-F5344CB8AC3E}">
        <p14:creationId xmlns:p14="http://schemas.microsoft.com/office/powerpoint/2010/main" val="42594035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D34A0E47-DAEE-42F4-B930-4026DD4D3985}" type="datetime1">
              <a:rPr kumimoji="1" lang="ja-JP" altLang="en-US" smtClean="0"/>
              <a:t>2026/2/12</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97E558F-9F61-480E-94CF-2C9CB5412042}" type="slidenum">
              <a:rPr kumimoji="1" lang="ja-JP" altLang="en-US" smtClean="0"/>
              <a:t>‹#›</a:t>
            </a:fld>
            <a:endParaRPr kumimoji="1" lang="ja-JP" altLang="en-US"/>
          </a:p>
        </p:txBody>
      </p:sp>
    </p:spTree>
    <p:extLst>
      <p:ext uri="{BB962C8B-B14F-4D97-AF65-F5344CB8AC3E}">
        <p14:creationId xmlns:p14="http://schemas.microsoft.com/office/powerpoint/2010/main" val="1255565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76E94B3D-00B5-4AB7-89D0-BD2A345C2275}" type="datetime1">
              <a:rPr kumimoji="1" lang="ja-JP" altLang="en-US" smtClean="0"/>
              <a:t>2026/2/12</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97E558F-9F61-480E-94CF-2C9CB5412042}" type="slidenum">
              <a:rPr kumimoji="1" lang="ja-JP" altLang="en-US" smtClean="0"/>
              <a:t>‹#›</a:t>
            </a:fld>
            <a:endParaRPr kumimoji="1" lang="ja-JP" altLang="en-US"/>
          </a:p>
        </p:txBody>
      </p:sp>
    </p:spTree>
    <p:extLst>
      <p:ext uri="{BB962C8B-B14F-4D97-AF65-F5344CB8AC3E}">
        <p14:creationId xmlns:p14="http://schemas.microsoft.com/office/powerpoint/2010/main" val="8892673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A3D58D-ECAC-402C-B400-C4E585D7FF49}" type="datetime1">
              <a:rPr kumimoji="1" lang="ja-JP" altLang="en-US" smtClean="0"/>
              <a:t>2026/2/12</a:t>
            </a:fld>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7E558F-9F61-480E-94CF-2C9CB5412042}" type="slidenum">
              <a:rPr kumimoji="1" lang="ja-JP" altLang="en-US" smtClean="0"/>
              <a:t>‹#›</a:t>
            </a:fld>
            <a:endParaRPr kumimoji="1" lang="ja-JP" altLang="en-US"/>
          </a:p>
        </p:txBody>
      </p:sp>
    </p:spTree>
    <p:extLst>
      <p:ext uri="{BB962C8B-B14F-4D97-AF65-F5344CB8AC3E}">
        <p14:creationId xmlns:p14="http://schemas.microsoft.com/office/powerpoint/2010/main" val="32000031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9252002-15F5-4A33-893A-48B6C509494E}"/>
              </a:ext>
            </a:extLst>
          </p:cNvPr>
          <p:cNvSpPr>
            <a:spLocks noGrp="1"/>
          </p:cNvSpPr>
          <p:nvPr>
            <p:ph type="ctrTitle"/>
          </p:nvPr>
        </p:nvSpPr>
        <p:spPr>
          <a:xfrm>
            <a:off x="794426" y="1312349"/>
            <a:ext cx="10603148" cy="1871906"/>
          </a:xfrm>
        </p:spPr>
        <p:txBody>
          <a:bodyPr vert="horz" lIns="91440" tIns="45720" rIns="91440" bIns="45720" rtlCol="0" anchor="b">
            <a:noAutofit/>
          </a:bodyPr>
          <a:lstStyle/>
          <a:p>
            <a:pPr>
              <a:lnSpc>
                <a:spcPct val="100000"/>
              </a:lnSpc>
            </a:pPr>
            <a:r>
              <a:rPr lang="ja-JP" altLang="en-US" sz="4400">
                <a:ea typeface="+mj-lt"/>
                <a:cs typeface="+mj-lt"/>
              </a:rPr>
              <a:t>手書き文字認識モデルエンコーダへの</a:t>
            </a:r>
            <a:br>
              <a:rPr lang="ja-JP" altLang="en-US" sz="4400">
                <a:ea typeface="+mj-lt"/>
                <a:cs typeface="+mj-lt"/>
              </a:rPr>
            </a:br>
            <a:r>
              <a:rPr lang="ja-JP" altLang="en-US" sz="4400">
                <a:ea typeface="+mj-lt"/>
                <a:cs typeface="+mj-lt"/>
              </a:rPr>
              <a:t>言語特徴付与による有効性</a:t>
            </a:r>
            <a:endParaRPr lang="en-US"/>
          </a:p>
        </p:txBody>
      </p:sp>
      <p:sp>
        <p:nvSpPr>
          <p:cNvPr id="3" name="字幕 2">
            <a:extLst>
              <a:ext uri="{FF2B5EF4-FFF2-40B4-BE49-F238E27FC236}">
                <a16:creationId xmlns:a16="http://schemas.microsoft.com/office/drawing/2014/main" id="{D001F7A2-1EE7-40E8-9ED6-CE0C147F2E0D}"/>
              </a:ext>
            </a:extLst>
          </p:cNvPr>
          <p:cNvSpPr>
            <a:spLocks noGrp="1"/>
          </p:cNvSpPr>
          <p:nvPr>
            <p:ph type="subTitle" idx="1"/>
          </p:nvPr>
        </p:nvSpPr>
        <p:spPr/>
        <p:txBody>
          <a:bodyPr vert="horz" lIns="91440" tIns="45720" rIns="91440" bIns="45720" rtlCol="0" anchor="t">
            <a:normAutofit/>
          </a:bodyPr>
          <a:lstStyle/>
          <a:p>
            <a:r>
              <a:rPr lang="ja-JP" altLang="en-US" sz="1800"/>
              <a:t>大阪工業大学 ロボティクス</a:t>
            </a:r>
            <a:r>
              <a:rPr lang="en-US" altLang="ja-JP" sz="1800"/>
              <a:t>&amp;</a:t>
            </a:r>
            <a:r>
              <a:rPr lang="ja-JP" altLang="en-US" sz="1800"/>
              <a:t>デザイン工学部 システムデザイン工学科</a:t>
            </a:r>
            <a:endParaRPr lang="en-US" altLang="ja-JP" sz="1800"/>
          </a:p>
          <a:p>
            <a:r>
              <a:rPr lang="ja-JP" altLang="en-US" sz="1800">
                <a:ea typeface="游ゴシック"/>
              </a:rPr>
              <a:t>学生番号：922022</a:t>
            </a:r>
            <a:endParaRPr lang="en-US" altLang="ja-JP" sz="1800">
              <a:ea typeface="游ゴシック"/>
            </a:endParaRPr>
          </a:p>
          <a:p>
            <a:r>
              <a:rPr lang="ja-JP" altLang="en-US">
                <a:ea typeface="游ゴシック"/>
              </a:rPr>
              <a:t>氏名:工藤滉青</a:t>
            </a:r>
            <a:endParaRPr lang="en-US" altLang="ja-JP"/>
          </a:p>
          <a:p>
            <a:endParaRPr lang="en-US" altLang="ja-JP" sz="1800"/>
          </a:p>
          <a:p>
            <a:r>
              <a:rPr kumimoji="1" lang="ja-JP" altLang="en-US" sz="1800"/>
              <a:t>指導教員：瀬尾昌孝</a:t>
            </a:r>
          </a:p>
        </p:txBody>
      </p:sp>
      <p:sp>
        <p:nvSpPr>
          <p:cNvPr id="5" name="テキスト ボックス 4">
            <a:extLst>
              <a:ext uri="{FF2B5EF4-FFF2-40B4-BE49-F238E27FC236}">
                <a16:creationId xmlns:a16="http://schemas.microsoft.com/office/drawing/2014/main" id="{224FE8FA-3E8A-4400-A356-65B80A21D873}"/>
              </a:ext>
            </a:extLst>
          </p:cNvPr>
          <p:cNvSpPr txBox="1"/>
          <p:nvPr/>
        </p:nvSpPr>
        <p:spPr>
          <a:xfrm>
            <a:off x="4064834" y="753032"/>
            <a:ext cx="4062331" cy="369332"/>
          </a:xfrm>
          <a:prstGeom prst="rect">
            <a:avLst/>
          </a:prstGeom>
          <a:noFill/>
        </p:spPr>
        <p:txBody>
          <a:bodyPr wrap="none" lIns="91440" tIns="45720" rIns="91440" bIns="45720" rtlCol="0" anchor="t">
            <a:spAutoFit/>
          </a:bodyPr>
          <a:lstStyle/>
          <a:p>
            <a:r>
              <a:rPr lang="en-US" altLang="ja-JP">
                <a:ea typeface="游ゴシック"/>
              </a:rPr>
              <a:t>2026.02.06</a:t>
            </a:r>
            <a:r>
              <a:rPr kumimoji="1" lang="en-US" altLang="ja-JP">
                <a:ea typeface="游ゴシック"/>
              </a:rPr>
              <a:t> </a:t>
            </a:r>
            <a:r>
              <a:rPr kumimoji="1" lang="ja-JP" altLang="en-US">
                <a:ea typeface="游ゴシック"/>
              </a:rPr>
              <a:t>令和</a:t>
            </a:r>
            <a:r>
              <a:rPr kumimoji="1" lang="en-US" altLang="ja-JP">
                <a:ea typeface="游ゴシック"/>
              </a:rPr>
              <a:t>7</a:t>
            </a:r>
            <a:r>
              <a:rPr kumimoji="1" lang="ja-JP" altLang="en-US">
                <a:ea typeface="游ゴシック"/>
              </a:rPr>
              <a:t>年度</a:t>
            </a:r>
            <a:r>
              <a:rPr lang="zh-TW" altLang="en-US">
                <a:ea typeface="游ゴシック"/>
              </a:rPr>
              <a:t>卒業論文審査会</a:t>
            </a:r>
            <a:endParaRPr kumimoji="1" lang="ja-JP" altLang="en-US">
              <a:ea typeface="游ゴシック"/>
            </a:endParaRPr>
          </a:p>
        </p:txBody>
      </p:sp>
      <p:sp>
        <p:nvSpPr>
          <p:cNvPr id="4" name="スライド番号プレースホルダー 3">
            <a:extLst>
              <a:ext uri="{FF2B5EF4-FFF2-40B4-BE49-F238E27FC236}">
                <a16:creationId xmlns:a16="http://schemas.microsoft.com/office/drawing/2014/main" id="{EBFA4124-69B0-719F-ECFD-D075CC55F834}"/>
              </a:ext>
            </a:extLst>
          </p:cNvPr>
          <p:cNvSpPr>
            <a:spLocks noGrp="1"/>
          </p:cNvSpPr>
          <p:nvPr>
            <p:ph type="sldNum" sz="quarter" idx="12"/>
          </p:nvPr>
        </p:nvSpPr>
        <p:spPr/>
        <p:txBody>
          <a:bodyPr/>
          <a:lstStyle/>
          <a:p>
            <a:fld id="{397E558F-9F61-480E-94CF-2C9CB5412042}" type="slidenum">
              <a:rPr kumimoji="1" lang="ja-JP" altLang="en-US" smtClean="0">
                <a:solidFill>
                  <a:schemeClr val="bg1"/>
                </a:solidFill>
              </a:rPr>
              <a:t>1</a:t>
            </a:fld>
            <a:endParaRPr kumimoji="1" lang="ja-JP" altLang="en-US">
              <a:solidFill>
                <a:schemeClr val="bg1"/>
              </a:solidFill>
            </a:endParaRPr>
          </a:p>
        </p:txBody>
      </p:sp>
    </p:spTree>
    <p:extLst>
      <p:ext uri="{BB962C8B-B14F-4D97-AF65-F5344CB8AC3E}">
        <p14:creationId xmlns:p14="http://schemas.microsoft.com/office/powerpoint/2010/main" val="20706816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57A9DD5-2DBE-4D20-AE71-E6759FFBF10A}"/>
              </a:ext>
            </a:extLst>
          </p:cNvPr>
          <p:cNvSpPr>
            <a:spLocks noGrp="1"/>
          </p:cNvSpPr>
          <p:nvPr>
            <p:ph type="title"/>
          </p:nvPr>
        </p:nvSpPr>
        <p:spPr/>
        <p:txBody>
          <a:bodyPr/>
          <a:lstStyle/>
          <a:p>
            <a:r>
              <a:rPr kumimoji="1" lang="ja-JP" altLang="en-US"/>
              <a:t>アウトライン</a:t>
            </a:r>
          </a:p>
        </p:txBody>
      </p:sp>
      <p:sp>
        <p:nvSpPr>
          <p:cNvPr id="3" name="コンテンツ プレースホルダー 2">
            <a:extLst>
              <a:ext uri="{FF2B5EF4-FFF2-40B4-BE49-F238E27FC236}">
                <a16:creationId xmlns:a16="http://schemas.microsoft.com/office/drawing/2014/main" id="{9F19FEDF-5202-4E18-AF2C-46CEAAACBE48}"/>
              </a:ext>
            </a:extLst>
          </p:cNvPr>
          <p:cNvSpPr>
            <a:spLocks noGrp="1"/>
          </p:cNvSpPr>
          <p:nvPr>
            <p:ph idx="1"/>
          </p:nvPr>
        </p:nvSpPr>
        <p:spPr>
          <a:xfrm>
            <a:off x="838199" y="1677600"/>
            <a:ext cx="11048903" cy="5180400"/>
          </a:xfrm>
        </p:spPr>
        <p:txBody>
          <a:bodyPr vert="horz" lIns="91440" tIns="45720" rIns="91440" bIns="45720" rtlCol="0" anchor="t">
            <a:normAutofit/>
          </a:bodyPr>
          <a:lstStyle/>
          <a:p>
            <a:pPr marL="514350" indent="-514350">
              <a:spcAft>
                <a:spcPts val="1200"/>
              </a:spcAft>
              <a:buFont typeface="+mj-lt"/>
              <a:buAutoNum type="arabicPeriod"/>
            </a:pPr>
            <a:r>
              <a:rPr kumimoji="1" lang="ja-JP" altLang="en-US" sz="3200">
                <a:ea typeface="游ゴシック"/>
              </a:rPr>
              <a:t>研究</a:t>
            </a:r>
            <a:r>
              <a:rPr lang="ja-JP" altLang="en-US" sz="3200">
                <a:ea typeface="游ゴシック"/>
              </a:rPr>
              <a:t>テーマ</a:t>
            </a:r>
            <a:endParaRPr kumimoji="1" lang="en-US" altLang="ja-JP" sz="3200">
              <a:ea typeface="游ゴシック"/>
            </a:endParaRPr>
          </a:p>
          <a:p>
            <a:pPr marL="514350" indent="-514350">
              <a:spcAft>
                <a:spcPts val="1200"/>
              </a:spcAft>
              <a:buFont typeface="+mj-lt"/>
              <a:buAutoNum type="arabicPeriod"/>
            </a:pPr>
            <a:r>
              <a:rPr lang="ja-JP" altLang="en-US" sz="3200">
                <a:ea typeface="游ゴシック"/>
              </a:rPr>
              <a:t>関連研究</a:t>
            </a:r>
          </a:p>
          <a:p>
            <a:pPr marL="742950" lvl="1" indent="0">
              <a:spcAft>
                <a:spcPts val="1200"/>
              </a:spcAft>
              <a:buClr>
                <a:srgbClr val="8FAADC"/>
              </a:buClr>
              <a:buNone/>
            </a:pPr>
            <a:r>
              <a:rPr lang="ja-JP" altLang="en-US" sz="2800">
                <a:solidFill>
                  <a:schemeClr val="accent5"/>
                </a:solidFill>
                <a:ea typeface="游ゴシック"/>
              </a:rPr>
              <a:t>2. 1.</a:t>
            </a:r>
            <a:r>
              <a:rPr lang="ja-JP" altLang="en-US" sz="2800">
                <a:ea typeface="游ゴシック"/>
              </a:rPr>
              <a:t> </a:t>
            </a:r>
            <a:r>
              <a:rPr lang="en-US" altLang="ja-JP" sz="2800"/>
              <a:t>Transformer-based OCR(</a:t>
            </a:r>
            <a:r>
              <a:rPr lang="en-US" altLang="ja-JP" sz="2800" err="1">
                <a:ea typeface="游ゴシック"/>
              </a:rPr>
              <a:t>TrOCR</a:t>
            </a:r>
            <a:r>
              <a:rPr lang="en-US" altLang="ja-JP" sz="2800">
                <a:ea typeface="游ゴシック"/>
              </a:rPr>
              <a:t>)</a:t>
            </a:r>
            <a:endParaRPr lang="ja-JP" altLang="en-US" sz="2800">
              <a:ea typeface="游ゴシック"/>
            </a:endParaRPr>
          </a:p>
          <a:p>
            <a:pPr marL="742950" lvl="1" indent="0">
              <a:spcAft>
                <a:spcPts val="1200"/>
              </a:spcAft>
              <a:buNone/>
            </a:pPr>
            <a:r>
              <a:rPr lang="ja-JP" altLang="en-US" sz="2800">
                <a:solidFill>
                  <a:schemeClr val="accent5"/>
                </a:solidFill>
                <a:ea typeface="游ゴシック"/>
              </a:rPr>
              <a:t>2. 2. </a:t>
            </a:r>
            <a:r>
              <a:rPr lang="en" altLang="ja-JP" sz="2800"/>
              <a:t>LLM</a:t>
            </a:r>
            <a:r>
              <a:rPr lang="ja-JP" altLang="en-US" sz="2800"/>
              <a:t>損失によるエンコーダ学習</a:t>
            </a:r>
            <a:endParaRPr lang="ja-JP" altLang="en-US" sz="2800">
              <a:solidFill>
                <a:srgbClr val="000000"/>
              </a:solidFill>
              <a:ea typeface="游ゴシック"/>
            </a:endParaRPr>
          </a:p>
          <a:p>
            <a:pPr marL="514350" indent="-514350">
              <a:spcAft>
                <a:spcPts val="1200"/>
              </a:spcAft>
              <a:buAutoNum type="arabicPeriod"/>
            </a:pPr>
            <a:r>
              <a:rPr lang="ja-JP" altLang="en-US" sz="3200">
                <a:ea typeface="游ゴシック"/>
              </a:rPr>
              <a:t>エンコーダへの言語特徴付与</a:t>
            </a:r>
            <a:endParaRPr lang="en-US" altLang="ja-JP" sz="3200">
              <a:ea typeface="游ゴシック"/>
            </a:endParaRPr>
          </a:p>
          <a:p>
            <a:pPr marL="514350" indent="-514350">
              <a:spcAft>
                <a:spcPts val="1200"/>
              </a:spcAft>
              <a:buAutoNum type="arabicPeriod"/>
            </a:pPr>
            <a:r>
              <a:rPr lang="ja-JP" altLang="en-US" sz="3200">
                <a:ea typeface="游ゴシック"/>
              </a:rPr>
              <a:t>実験</a:t>
            </a:r>
          </a:p>
          <a:p>
            <a:pPr marL="514350" indent="-514350">
              <a:spcAft>
                <a:spcPts val="1200"/>
              </a:spcAft>
              <a:buFont typeface="+mj-lt"/>
              <a:buAutoNum type="arabicPeriod"/>
            </a:pPr>
            <a:r>
              <a:rPr lang="ja-JP" altLang="en-US" sz="3200">
                <a:ea typeface="游ゴシック"/>
              </a:rPr>
              <a:t>まとめ</a:t>
            </a:r>
          </a:p>
        </p:txBody>
      </p:sp>
      <p:sp>
        <p:nvSpPr>
          <p:cNvPr id="4" name="スライド番号プレースホルダー 3">
            <a:extLst>
              <a:ext uri="{FF2B5EF4-FFF2-40B4-BE49-F238E27FC236}">
                <a16:creationId xmlns:a16="http://schemas.microsoft.com/office/drawing/2014/main" id="{E16544E6-DEE8-455A-84DE-FD6BAF2282DB}"/>
              </a:ext>
            </a:extLst>
          </p:cNvPr>
          <p:cNvSpPr>
            <a:spLocks noGrp="1"/>
          </p:cNvSpPr>
          <p:nvPr>
            <p:ph type="sldNum" sz="quarter" idx="12"/>
          </p:nvPr>
        </p:nvSpPr>
        <p:spPr/>
        <p:txBody>
          <a:bodyPr/>
          <a:lstStyle/>
          <a:p>
            <a:fld id="{397E558F-9F61-480E-94CF-2C9CB5412042}" type="slidenum">
              <a:rPr lang="ja-JP" altLang="en-US" smtClean="0"/>
              <a:pPr/>
              <a:t>2</a:t>
            </a:fld>
            <a:endParaRPr lang="ja-JP" altLang="en-US"/>
          </a:p>
        </p:txBody>
      </p:sp>
    </p:spTree>
    <p:extLst>
      <p:ext uri="{BB962C8B-B14F-4D97-AF65-F5344CB8AC3E}">
        <p14:creationId xmlns:p14="http://schemas.microsoft.com/office/powerpoint/2010/main" val="32378218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A1DFA-CFD4-581D-1729-62287067DED8}"/>
            </a:ext>
          </a:extLst>
        </p:cNvPr>
        <p:cNvGrpSpPr/>
        <p:nvPr/>
      </p:nvGrpSpPr>
      <p:grpSpPr>
        <a:xfrm>
          <a:off x="0" y="0"/>
          <a:ext cx="0" cy="0"/>
          <a:chOff x="0" y="0"/>
          <a:chExt cx="0" cy="0"/>
        </a:xfrm>
      </p:grpSpPr>
      <p:pic>
        <p:nvPicPr>
          <p:cNvPr id="11" name="図 10" descr="ダイアグラム&#10;&#10;AI 生成コンテンツは誤りを含む可能性があります。">
            <a:extLst>
              <a:ext uri="{FF2B5EF4-FFF2-40B4-BE49-F238E27FC236}">
                <a16:creationId xmlns:a16="http://schemas.microsoft.com/office/drawing/2014/main" id="{7638E340-10E7-BC4F-16C2-FDF9B02ADB5E}"/>
              </a:ext>
            </a:extLst>
          </p:cNvPr>
          <p:cNvPicPr>
            <a:picLocks noChangeAspect="1"/>
          </p:cNvPicPr>
          <p:nvPr/>
        </p:nvPicPr>
        <p:blipFill>
          <a:blip r:embed="rId3">
            <a:extLst>
              <a:ext uri="{28A0092B-C50C-407E-A947-70E740481C1C}">
                <a14:useLocalDpi xmlns:a14="http://schemas.microsoft.com/office/drawing/2010/main" val="0"/>
              </a:ext>
            </a:extLst>
          </a:blip>
          <a:srcRect t="13750"/>
          <a:stretch>
            <a:fillRect/>
          </a:stretch>
        </p:blipFill>
        <p:spPr>
          <a:xfrm>
            <a:off x="2624873" y="2876532"/>
            <a:ext cx="6942254" cy="3262851"/>
          </a:xfrm>
          <a:prstGeom prst="rect">
            <a:avLst/>
          </a:prstGeom>
        </p:spPr>
      </p:pic>
      <p:sp>
        <p:nvSpPr>
          <p:cNvPr id="2" name="タイトル 1">
            <a:extLst>
              <a:ext uri="{FF2B5EF4-FFF2-40B4-BE49-F238E27FC236}">
                <a16:creationId xmlns:a16="http://schemas.microsoft.com/office/drawing/2014/main" id="{167CEE20-1987-BAF3-5D4F-FEB56A29DCC2}"/>
              </a:ext>
            </a:extLst>
          </p:cNvPr>
          <p:cNvSpPr>
            <a:spLocks noGrp="1"/>
          </p:cNvSpPr>
          <p:nvPr>
            <p:ph type="title"/>
          </p:nvPr>
        </p:nvSpPr>
        <p:spPr/>
        <p:txBody>
          <a:bodyPr/>
          <a:lstStyle/>
          <a:p>
            <a:pPr>
              <a:lnSpc>
                <a:spcPct val="100000"/>
              </a:lnSpc>
            </a:pPr>
            <a:r>
              <a:rPr kumimoji="1" lang="ja-JP" altLang="en-US" sz="3200">
                <a:ea typeface="游ゴシック Light"/>
              </a:rPr>
              <a:t>研究</a:t>
            </a:r>
            <a:r>
              <a:rPr lang="ja-JP" altLang="en-US" sz="3200">
                <a:ea typeface="游ゴシック Light"/>
              </a:rPr>
              <a:t>テーマ</a:t>
            </a:r>
            <a:br>
              <a:rPr lang="en-US" altLang="ja-JP"/>
            </a:br>
            <a:r>
              <a:rPr lang="ja-JP" altLang="en-US">
                <a:solidFill>
                  <a:schemeClr val="tx1"/>
                </a:solidFill>
                <a:ea typeface="游ゴシック Light"/>
              </a:rPr>
              <a:t>手書き文字画像認識の問題点</a:t>
            </a:r>
          </a:p>
        </p:txBody>
      </p:sp>
      <p:sp>
        <p:nvSpPr>
          <p:cNvPr id="3" name="コンテンツ プレースホルダー 2">
            <a:extLst>
              <a:ext uri="{FF2B5EF4-FFF2-40B4-BE49-F238E27FC236}">
                <a16:creationId xmlns:a16="http://schemas.microsoft.com/office/drawing/2014/main" id="{9C979870-749A-1E39-CF94-8480DA85E426}"/>
              </a:ext>
            </a:extLst>
          </p:cNvPr>
          <p:cNvSpPr>
            <a:spLocks noGrp="1"/>
          </p:cNvSpPr>
          <p:nvPr>
            <p:ph idx="1"/>
          </p:nvPr>
        </p:nvSpPr>
        <p:spPr>
          <a:xfrm>
            <a:off x="838200" y="1584000"/>
            <a:ext cx="10515600" cy="2535418"/>
          </a:xfrm>
        </p:spPr>
        <p:txBody>
          <a:bodyPr vert="horz" lIns="91440" tIns="45720" rIns="91440" bIns="45720" rtlCol="0" anchor="t">
            <a:normAutofit/>
          </a:bodyPr>
          <a:lstStyle/>
          <a:p>
            <a:pPr marL="0" indent="0">
              <a:buNone/>
            </a:pPr>
            <a:r>
              <a:rPr lang="ja-JP" altLang="en-US">
                <a:ea typeface="+mn-lt"/>
                <a:cs typeface="+mn-lt"/>
              </a:rPr>
              <a:t>課題</a:t>
            </a:r>
            <a:r>
              <a:rPr lang="ja-JP">
                <a:ea typeface="+mn-lt"/>
                <a:cs typeface="+mn-lt"/>
              </a:rPr>
              <a:t>：</a:t>
            </a:r>
            <a:endParaRPr lang="en-US" altLang="ja-JP">
              <a:ea typeface="+mn-lt"/>
              <a:cs typeface="+mn-lt"/>
            </a:endParaRPr>
          </a:p>
          <a:p>
            <a:pPr marL="0" indent="0">
              <a:buNone/>
            </a:pPr>
            <a:r>
              <a:rPr lang="en-US" altLang="ja-JP">
                <a:ea typeface="+mn-lt"/>
                <a:cs typeface="+mn-lt"/>
              </a:rPr>
              <a:t>	</a:t>
            </a:r>
            <a:r>
              <a:rPr lang="ja-JP" altLang="en-US" sz="2400"/>
              <a:t>画像を取り扱うエンコーダ</a:t>
            </a:r>
            <a:r>
              <a:rPr lang="ja-JP" altLang="ja-JP" sz="2400"/>
              <a:t>では</a:t>
            </a:r>
            <a:r>
              <a:rPr lang="ja-JP" altLang="ja-JP" sz="2400" b="1">
                <a:solidFill>
                  <a:schemeClr val="accent5">
                    <a:lumMod val="75000"/>
                  </a:schemeClr>
                </a:solidFill>
              </a:rPr>
              <a:t>視覚特徴</a:t>
            </a:r>
            <a:r>
              <a:rPr lang="ja-JP" altLang="ja-JP" sz="2400"/>
              <a:t>に依存</a:t>
            </a:r>
            <a:endParaRPr lang="en-US" altLang="ja-JP" sz="2400"/>
          </a:p>
          <a:p>
            <a:pPr marL="457200" lvl="1" indent="0">
              <a:buNone/>
            </a:pPr>
            <a:endParaRPr lang="en-US" altLang="ja-JP">
              <a:ea typeface="游ゴシック" panose="020F0502020204030204"/>
            </a:endParaRPr>
          </a:p>
          <a:p>
            <a:pPr marL="457200" lvl="1" indent="0">
              <a:buNone/>
            </a:pPr>
            <a:endParaRPr lang="en-US" altLang="ja-JP">
              <a:ea typeface="游ゴシック" panose="020F0502020204030204"/>
            </a:endParaRPr>
          </a:p>
        </p:txBody>
      </p:sp>
      <p:sp>
        <p:nvSpPr>
          <p:cNvPr id="4" name="スライド番号プレースホルダー 3">
            <a:extLst>
              <a:ext uri="{FF2B5EF4-FFF2-40B4-BE49-F238E27FC236}">
                <a16:creationId xmlns:a16="http://schemas.microsoft.com/office/drawing/2014/main" id="{1A4C7CDF-7171-C62C-834A-362BE6D486FF}"/>
              </a:ext>
            </a:extLst>
          </p:cNvPr>
          <p:cNvSpPr>
            <a:spLocks noGrp="1"/>
          </p:cNvSpPr>
          <p:nvPr>
            <p:ph type="sldNum" sz="quarter" idx="12"/>
          </p:nvPr>
        </p:nvSpPr>
        <p:spPr/>
        <p:txBody>
          <a:bodyPr/>
          <a:lstStyle/>
          <a:p>
            <a:fld id="{397E558F-9F61-480E-94CF-2C9CB5412042}" type="slidenum">
              <a:rPr lang="ja-JP" altLang="en-US" smtClean="0"/>
              <a:pPr/>
              <a:t>3</a:t>
            </a:fld>
            <a:endParaRPr lang="ja-JP" altLang="en-US"/>
          </a:p>
        </p:txBody>
      </p:sp>
      <p:sp>
        <p:nvSpPr>
          <p:cNvPr id="10" name="AutoShape 4">
            <a:extLst>
              <a:ext uri="{FF2B5EF4-FFF2-40B4-BE49-F238E27FC236}">
                <a16:creationId xmlns:a16="http://schemas.microsoft.com/office/drawing/2014/main" id="{8DCA9687-3763-B6D0-898A-8A5D83367E1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sp>
        <p:nvSpPr>
          <p:cNvPr id="27" name="正方形/長方形 26">
            <a:extLst>
              <a:ext uri="{FF2B5EF4-FFF2-40B4-BE49-F238E27FC236}">
                <a16:creationId xmlns:a16="http://schemas.microsoft.com/office/drawing/2014/main" id="{70F80FEE-C745-D791-B3CB-9203E74A5768}"/>
              </a:ext>
            </a:extLst>
          </p:cNvPr>
          <p:cNvSpPr/>
          <p:nvPr/>
        </p:nvSpPr>
        <p:spPr>
          <a:xfrm>
            <a:off x="8613874" y="5883219"/>
            <a:ext cx="713006" cy="2171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2000" algn="ctr">
              <a:spcBef>
                <a:spcPts val="600"/>
              </a:spcBef>
            </a:pPr>
            <a:endParaRPr kumimoji="1" lang="ja-JP" altLang="en-US" sz="2000">
              <a:solidFill>
                <a:schemeClr val="tx1"/>
              </a:solidFill>
            </a:endParaRPr>
          </a:p>
        </p:txBody>
      </p:sp>
      <p:sp>
        <p:nvSpPr>
          <p:cNvPr id="7" name="正方形/長方形 6">
            <a:extLst>
              <a:ext uri="{FF2B5EF4-FFF2-40B4-BE49-F238E27FC236}">
                <a16:creationId xmlns:a16="http://schemas.microsoft.com/office/drawing/2014/main" id="{6896BAFC-2BDA-9336-D0C8-573E3FEE8325}"/>
              </a:ext>
            </a:extLst>
          </p:cNvPr>
          <p:cNvSpPr/>
          <p:nvPr/>
        </p:nvSpPr>
        <p:spPr>
          <a:xfrm>
            <a:off x="8351024" y="5108073"/>
            <a:ext cx="975856" cy="43855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2000" algn="ctr">
              <a:spcBef>
                <a:spcPts val="600"/>
              </a:spcBef>
            </a:pPr>
            <a:endParaRPr kumimoji="1" lang="ja-JP" altLang="en-US" sz="1600">
              <a:solidFill>
                <a:schemeClr val="tx1"/>
              </a:solidFill>
            </a:endParaRPr>
          </a:p>
        </p:txBody>
      </p:sp>
      <p:sp>
        <p:nvSpPr>
          <p:cNvPr id="12" name="AutoShape 4">
            <a:extLst>
              <a:ext uri="{FF2B5EF4-FFF2-40B4-BE49-F238E27FC236}">
                <a16:creationId xmlns:a16="http://schemas.microsoft.com/office/drawing/2014/main" id="{69A7E19A-B5CB-661A-E412-F06035B2A40E}"/>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sp>
        <p:nvSpPr>
          <p:cNvPr id="21" name="正方形/長方形 20">
            <a:extLst>
              <a:ext uri="{FF2B5EF4-FFF2-40B4-BE49-F238E27FC236}">
                <a16:creationId xmlns:a16="http://schemas.microsoft.com/office/drawing/2014/main" id="{C235F804-D30F-E492-435C-43DF167F1E45}"/>
              </a:ext>
            </a:extLst>
          </p:cNvPr>
          <p:cNvSpPr/>
          <p:nvPr/>
        </p:nvSpPr>
        <p:spPr>
          <a:xfrm>
            <a:off x="8339873" y="3562385"/>
            <a:ext cx="987008" cy="154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2000" algn="ctr">
              <a:spcBef>
                <a:spcPts val="600"/>
              </a:spcBef>
            </a:pPr>
            <a:endParaRPr kumimoji="1" lang="ja-JP" altLang="en-US" sz="2000">
              <a:solidFill>
                <a:schemeClr val="tx1"/>
              </a:solidFill>
            </a:endParaRPr>
          </a:p>
        </p:txBody>
      </p:sp>
      <p:sp>
        <p:nvSpPr>
          <p:cNvPr id="28" name="テキスト ボックス 27">
            <a:extLst>
              <a:ext uri="{FF2B5EF4-FFF2-40B4-BE49-F238E27FC236}">
                <a16:creationId xmlns:a16="http://schemas.microsoft.com/office/drawing/2014/main" id="{79EE412A-38CF-AC0C-F847-CA4B5802BE30}"/>
              </a:ext>
            </a:extLst>
          </p:cNvPr>
          <p:cNvSpPr txBox="1"/>
          <p:nvPr/>
        </p:nvSpPr>
        <p:spPr>
          <a:xfrm>
            <a:off x="8351024" y="3987585"/>
            <a:ext cx="6098146" cy="646331"/>
          </a:xfrm>
          <a:prstGeom prst="rect">
            <a:avLst/>
          </a:prstGeom>
          <a:noFill/>
        </p:spPr>
        <p:txBody>
          <a:bodyPr wrap="square">
            <a:spAutoFit/>
          </a:bodyPr>
          <a:lstStyle/>
          <a:p>
            <a:r>
              <a:rPr lang="en-US" altLang="ja-JP" sz="3600" b="1">
                <a:solidFill>
                  <a:schemeClr val="tx1"/>
                </a:solidFill>
              </a:rPr>
              <a:t>apple</a:t>
            </a:r>
            <a:endParaRPr lang="ja-JP" altLang="en-US" sz="3600" b="1"/>
          </a:p>
        </p:txBody>
      </p:sp>
      <p:sp>
        <p:nvSpPr>
          <p:cNvPr id="30" name="テキスト ボックス 29">
            <a:extLst>
              <a:ext uri="{FF2B5EF4-FFF2-40B4-BE49-F238E27FC236}">
                <a16:creationId xmlns:a16="http://schemas.microsoft.com/office/drawing/2014/main" id="{A9474EF0-D2D1-120D-21E5-80937A822192}"/>
              </a:ext>
            </a:extLst>
          </p:cNvPr>
          <p:cNvSpPr txBox="1"/>
          <p:nvPr/>
        </p:nvSpPr>
        <p:spPr>
          <a:xfrm>
            <a:off x="8833377" y="5089334"/>
            <a:ext cx="7225048" cy="369332"/>
          </a:xfrm>
          <a:prstGeom prst="rect">
            <a:avLst/>
          </a:prstGeom>
          <a:noFill/>
        </p:spPr>
        <p:txBody>
          <a:bodyPr wrap="square">
            <a:spAutoFit/>
          </a:bodyPr>
          <a:lstStyle/>
          <a:p>
            <a:r>
              <a:rPr kumimoji="1" lang="ja-JP" altLang="en-US" sz="1800">
                <a:solidFill>
                  <a:schemeClr val="tx1"/>
                </a:solidFill>
              </a:rPr>
              <a:t>出力</a:t>
            </a:r>
            <a:endParaRPr lang="ja-JP" altLang="en-US"/>
          </a:p>
        </p:txBody>
      </p:sp>
    </p:spTree>
    <p:extLst>
      <p:ext uri="{BB962C8B-B14F-4D97-AF65-F5344CB8AC3E}">
        <p14:creationId xmlns:p14="http://schemas.microsoft.com/office/powerpoint/2010/main" val="30738913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F1876F-15B6-BA4A-25F1-68B519F6DCE2}"/>
            </a:ext>
          </a:extLst>
        </p:cNvPr>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031FCC1E-BAC7-9BF9-D7B1-0C5A45A0BD33}"/>
              </a:ext>
            </a:extLst>
          </p:cNvPr>
          <p:cNvSpPr>
            <a:spLocks noGrp="1"/>
          </p:cNvSpPr>
          <p:nvPr>
            <p:ph idx="1"/>
          </p:nvPr>
        </p:nvSpPr>
        <p:spPr>
          <a:xfrm>
            <a:off x="838200" y="1584000"/>
            <a:ext cx="10515600" cy="5270920"/>
          </a:xfrm>
        </p:spPr>
        <p:txBody>
          <a:bodyPr vert="horz" lIns="91440" tIns="45720" rIns="91440" bIns="45720" rtlCol="0" anchor="t">
            <a:normAutofit/>
          </a:bodyPr>
          <a:lstStyle/>
          <a:p>
            <a:pPr marL="0" indent="0">
              <a:buNone/>
            </a:pPr>
            <a:r>
              <a:rPr lang="ja-JP" altLang="en-US">
                <a:ea typeface="+mn-lt"/>
                <a:cs typeface="+mn-lt"/>
              </a:rPr>
              <a:t>課題</a:t>
            </a:r>
            <a:r>
              <a:rPr lang="ja-JP">
                <a:ea typeface="+mn-lt"/>
                <a:cs typeface="+mn-lt"/>
              </a:rPr>
              <a:t>：</a:t>
            </a:r>
            <a:endParaRPr lang="en-US" altLang="ja-JP">
              <a:ea typeface="+mn-lt"/>
              <a:cs typeface="+mn-lt"/>
            </a:endParaRPr>
          </a:p>
          <a:p>
            <a:pPr marL="0" indent="0">
              <a:buNone/>
            </a:pPr>
            <a:r>
              <a:rPr lang="en-US" altLang="ja-JP">
                <a:ea typeface="+mn-lt"/>
                <a:cs typeface="+mn-lt"/>
              </a:rPr>
              <a:t>	</a:t>
            </a:r>
            <a:r>
              <a:rPr lang="ja-JP" altLang="en-US" sz="2400"/>
              <a:t>画像を取り扱うエンコーダ</a:t>
            </a:r>
            <a:r>
              <a:rPr lang="ja-JP" altLang="ja-JP" sz="2400"/>
              <a:t>では</a:t>
            </a:r>
            <a:r>
              <a:rPr lang="ja-JP" altLang="ja-JP" sz="2400" b="1">
                <a:solidFill>
                  <a:schemeClr val="accent5">
                    <a:lumMod val="75000"/>
                  </a:schemeClr>
                </a:solidFill>
              </a:rPr>
              <a:t>視覚特徴</a:t>
            </a:r>
            <a:r>
              <a:rPr lang="ja-JP" altLang="ja-JP" sz="2400"/>
              <a:t>に依存</a:t>
            </a:r>
            <a:endParaRPr lang="en-US" altLang="ja-JP" sz="2400"/>
          </a:p>
          <a:p>
            <a:pPr marL="0" indent="0">
              <a:buNone/>
            </a:pPr>
            <a:r>
              <a:rPr lang="en-US" altLang="ja-JP" sz="2400">
                <a:ea typeface="+mn-lt"/>
                <a:cs typeface="+mn-lt"/>
              </a:rPr>
              <a:t>	</a:t>
            </a:r>
            <a:r>
              <a:rPr lang="ja-JP" altLang="ja-JP"/>
              <a:t> </a:t>
            </a:r>
            <a:r>
              <a:rPr lang="ja-JP" altLang="ja-JP" sz="2400"/>
              <a:t>→字形曖昧時での誤認識が発生</a:t>
            </a:r>
            <a:endParaRPr lang="en-US" altLang="ja-JP" sz="2400">
              <a:ea typeface="+mn-lt"/>
              <a:cs typeface="+mn-lt"/>
            </a:endParaRPr>
          </a:p>
          <a:p>
            <a:pPr marL="457200" lvl="1" indent="0">
              <a:buNone/>
            </a:pPr>
            <a:endParaRPr lang="en-US" altLang="ja-JP">
              <a:ea typeface="游ゴシック" panose="020F0502020204030204"/>
            </a:endParaRPr>
          </a:p>
          <a:p>
            <a:pPr marL="457200" lvl="1" indent="0">
              <a:buNone/>
            </a:pPr>
            <a:endParaRPr lang="en-US" altLang="ja-JP">
              <a:ea typeface="游ゴシック" panose="020F0502020204030204"/>
            </a:endParaRPr>
          </a:p>
          <a:p>
            <a:pPr marL="457200" lvl="1" indent="0">
              <a:buNone/>
            </a:pPr>
            <a:endParaRPr lang="en-US" altLang="ja-JP">
              <a:ea typeface="游ゴシック" panose="020F0502020204030204"/>
            </a:endParaRPr>
          </a:p>
          <a:p>
            <a:pPr marL="457200" lvl="1" indent="0">
              <a:buNone/>
            </a:pPr>
            <a:endParaRPr lang="en-US" altLang="ja-JP">
              <a:ea typeface="游ゴシック" panose="020F0502020204030204"/>
            </a:endParaRPr>
          </a:p>
          <a:p>
            <a:pPr marL="457200" lvl="1" indent="0">
              <a:buNone/>
            </a:pPr>
            <a:endParaRPr lang="ja-JP">
              <a:ea typeface="游ゴシック" panose="020F0502020204030204"/>
            </a:endParaRPr>
          </a:p>
          <a:p>
            <a:pPr marL="0" indent="0">
              <a:buNone/>
            </a:pPr>
            <a:endParaRPr lang="ja-JP">
              <a:ea typeface="游ゴシック" panose="020F0502020204030204"/>
            </a:endParaRPr>
          </a:p>
          <a:p>
            <a:endParaRPr lang="ja-JP" altLang="en-US">
              <a:ea typeface="游ゴシック"/>
            </a:endParaRPr>
          </a:p>
        </p:txBody>
      </p:sp>
      <p:sp>
        <p:nvSpPr>
          <p:cNvPr id="7" name="Arrow: Right 6">
            <a:extLst>
              <a:ext uri="{FF2B5EF4-FFF2-40B4-BE49-F238E27FC236}">
                <a16:creationId xmlns:a16="http://schemas.microsoft.com/office/drawing/2014/main" id="{32A31F07-1E2B-20D4-1433-C48AE718218C}"/>
              </a:ext>
            </a:extLst>
          </p:cNvPr>
          <p:cNvSpPr/>
          <p:nvPr/>
        </p:nvSpPr>
        <p:spPr>
          <a:xfrm>
            <a:off x="6135306" y="3617390"/>
            <a:ext cx="978407" cy="484632"/>
          </a:xfrm>
          <a:prstGeom prst="rightArrow">
            <a:avLst/>
          </a:prstGeom>
          <a:ln/>
        </p:spPr>
        <p:style>
          <a:lnRef idx="2">
            <a:schemeClr val="accent1"/>
          </a:lnRef>
          <a:fillRef idx="1">
            <a:schemeClr val="lt1"/>
          </a:fillRef>
          <a:effectRef idx="0">
            <a:schemeClr val="accent1"/>
          </a:effectRef>
          <a:fontRef idx="minor">
            <a:schemeClr val="dk1"/>
          </a:fontRef>
        </p:style>
        <p:txBody>
          <a:bodyPr rtlCol="0" anchor="ctr"/>
          <a:lstStyle/>
          <a:p>
            <a:pPr marL="72000" algn="ctr">
              <a:spcBef>
                <a:spcPts val="600"/>
              </a:spcBef>
            </a:pPr>
            <a:endParaRPr lang="en-US" sz="2000">
              <a:solidFill>
                <a:schemeClr val="tx1"/>
              </a:solidFill>
            </a:endParaRPr>
          </a:p>
        </p:txBody>
      </p:sp>
      <p:pic>
        <p:nvPicPr>
          <p:cNvPr id="5" name="図 4">
            <a:extLst>
              <a:ext uri="{FF2B5EF4-FFF2-40B4-BE49-F238E27FC236}">
                <a16:creationId xmlns:a16="http://schemas.microsoft.com/office/drawing/2014/main" id="{9D93C045-A267-1B09-03A0-BAD5AFAA866F}"/>
              </a:ext>
            </a:extLst>
          </p:cNvPr>
          <p:cNvPicPr>
            <a:picLocks noChangeAspect="1"/>
          </p:cNvPicPr>
          <p:nvPr/>
        </p:nvPicPr>
        <p:blipFill>
          <a:blip r:embed="rId3">
            <a:alphaModFix/>
          </a:blip>
          <a:srcRect t="932" r="65398" b="8677"/>
          <a:stretch>
            <a:fillRect/>
          </a:stretch>
        </p:blipFill>
        <p:spPr>
          <a:xfrm>
            <a:off x="1273838" y="3499953"/>
            <a:ext cx="3910263" cy="719507"/>
          </a:xfrm>
          <a:prstGeom prst="rect">
            <a:avLst/>
          </a:prstGeom>
          <a:ln>
            <a:solidFill>
              <a:schemeClr val="bg2"/>
            </a:solidFill>
          </a:ln>
        </p:spPr>
      </p:pic>
      <p:pic>
        <p:nvPicPr>
          <p:cNvPr id="6" name="図 5">
            <a:extLst>
              <a:ext uri="{FF2B5EF4-FFF2-40B4-BE49-F238E27FC236}">
                <a16:creationId xmlns:a16="http://schemas.microsoft.com/office/drawing/2014/main" id="{C6A03E4B-30DB-41D5-887D-E017CB82AC78}"/>
              </a:ext>
            </a:extLst>
          </p:cNvPr>
          <p:cNvPicPr>
            <a:picLocks noChangeAspect="1"/>
          </p:cNvPicPr>
          <p:nvPr/>
        </p:nvPicPr>
        <p:blipFill>
          <a:blip r:embed="rId4">
            <a:alphaModFix/>
          </a:blip>
          <a:srcRect l="66408" t="1009" r="1659" b="12007"/>
          <a:stretch>
            <a:fillRect/>
          </a:stretch>
        </p:blipFill>
        <p:spPr>
          <a:xfrm>
            <a:off x="1273838" y="4841069"/>
            <a:ext cx="4084225" cy="527219"/>
          </a:xfrm>
          <a:prstGeom prst="rect">
            <a:avLst/>
          </a:prstGeom>
          <a:ln>
            <a:solidFill>
              <a:schemeClr val="bg2"/>
            </a:solidFill>
          </a:ln>
        </p:spPr>
      </p:pic>
      <p:sp>
        <p:nvSpPr>
          <p:cNvPr id="9" name="Arrow: Right 6">
            <a:extLst>
              <a:ext uri="{FF2B5EF4-FFF2-40B4-BE49-F238E27FC236}">
                <a16:creationId xmlns:a16="http://schemas.microsoft.com/office/drawing/2014/main" id="{30F78BFB-F533-DDDB-ECD8-838F0F249D5E}"/>
              </a:ext>
            </a:extLst>
          </p:cNvPr>
          <p:cNvSpPr/>
          <p:nvPr/>
        </p:nvSpPr>
        <p:spPr>
          <a:xfrm>
            <a:off x="6096000" y="4774270"/>
            <a:ext cx="978407" cy="484632"/>
          </a:xfrm>
          <a:prstGeom prst="rightArrow">
            <a:avLst/>
          </a:prstGeom>
          <a:ln/>
        </p:spPr>
        <p:style>
          <a:lnRef idx="2">
            <a:schemeClr val="accent1"/>
          </a:lnRef>
          <a:fillRef idx="1">
            <a:schemeClr val="lt1"/>
          </a:fillRef>
          <a:effectRef idx="0">
            <a:schemeClr val="accent1"/>
          </a:effectRef>
          <a:fontRef idx="minor">
            <a:schemeClr val="dk1"/>
          </a:fontRef>
        </p:style>
        <p:txBody>
          <a:bodyPr rtlCol="0" anchor="ctr"/>
          <a:lstStyle/>
          <a:p>
            <a:pPr marL="72000" algn="ctr">
              <a:spcBef>
                <a:spcPts val="600"/>
              </a:spcBef>
            </a:pPr>
            <a:endParaRPr lang="en-US" sz="2000">
              <a:solidFill>
                <a:schemeClr val="tx1"/>
              </a:solidFill>
            </a:endParaRPr>
          </a:p>
        </p:txBody>
      </p:sp>
      <p:pic>
        <p:nvPicPr>
          <p:cNvPr id="12" name="図 11">
            <a:extLst>
              <a:ext uri="{FF2B5EF4-FFF2-40B4-BE49-F238E27FC236}">
                <a16:creationId xmlns:a16="http://schemas.microsoft.com/office/drawing/2014/main" id="{ACDC346F-2A23-8F26-B5BA-5618BE21F594}"/>
              </a:ext>
            </a:extLst>
          </p:cNvPr>
          <p:cNvPicPr>
            <a:picLocks noChangeAspect="1"/>
          </p:cNvPicPr>
          <p:nvPr/>
        </p:nvPicPr>
        <p:blipFill>
          <a:blip r:embed="rId5">
            <a:alphaModFix/>
          </a:blip>
          <a:stretch>
            <a:fillRect/>
          </a:stretch>
        </p:blipFill>
        <p:spPr>
          <a:xfrm>
            <a:off x="7510727" y="3564648"/>
            <a:ext cx="3249638" cy="595137"/>
          </a:xfrm>
          <a:prstGeom prst="rect">
            <a:avLst/>
          </a:prstGeom>
        </p:spPr>
      </p:pic>
      <p:pic>
        <p:nvPicPr>
          <p:cNvPr id="14" name="図 13">
            <a:extLst>
              <a:ext uri="{FF2B5EF4-FFF2-40B4-BE49-F238E27FC236}">
                <a16:creationId xmlns:a16="http://schemas.microsoft.com/office/drawing/2014/main" id="{159FBE28-D661-E663-DEDC-3E3A3788FBFD}"/>
              </a:ext>
            </a:extLst>
          </p:cNvPr>
          <p:cNvPicPr>
            <a:picLocks noChangeAspect="1"/>
          </p:cNvPicPr>
          <p:nvPr/>
        </p:nvPicPr>
        <p:blipFill>
          <a:blip r:embed="rId6">
            <a:alphaModFix/>
          </a:blip>
          <a:stretch>
            <a:fillRect/>
          </a:stretch>
        </p:blipFill>
        <p:spPr>
          <a:xfrm>
            <a:off x="7573228" y="4630769"/>
            <a:ext cx="3124636" cy="771633"/>
          </a:xfrm>
          <a:prstGeom prst="rect">
            <a:avLst/>
          </a:prstGeom>
        </p:spPr>
      </p:pic>
      <p:sp>
        <p:nvSpPr>
          <p:cNvPr id="2" name="タイトル 1">
            <a:extLst>
              <a:ext uri="{FF2B5EF4-FFF2-40B4-BE49-F238E27FC236}">
                <a16:creationId xmlns:a16="http://schemas.microsoft.com/office/drawing/2014/main" id="{D35793D7-2DA9-8266-D6C8-2299E49BC1AA}"/>
              </a:ext>
            </a:extLst>
          </p:cNvPr>
          <p:cNvSpPr>
            <a:spLocks noGrp="1"/>
          </p:cNvSpPr>
          <p:nvPr>
            <p:ph type="title"/>
          </p:nvPr>
        </p:nvSpPr>
        <p:spPr/>
        <p:txBody>
          <a:bodyPr/>
          <a:lstStyle/>
          <a:p>
            <a:pPr>
              <a:lnSpc>
                <a:spcPct val="100000"/>
              </a:lnSpc>
            </a:pPr>
            <a:r>
              <a:rPr kumimoji="1" lang="ja-JP" altLang="en-US" sz="3200">
                <a:ea typeface="游ゴシック Light"/>
              </a:rPr>
              <a:t>研究</a:t>
            </a:r>
            <a:r>
              <a:rPr lang="ja-JP" altLang="en-US" sz="3200">
                <a:ea typeface="游ゴシック Light"/>
              </a:rPr>
              <a:t>テーマ</a:t>
            </a:r>
            <a:br>
              <a:rPr lang="en-US" altLang="ja-JP"/>
            </a:br>
            <a:r>
              <a:rPr lang="ja-JP" altLang="en-US">
                <a:solidFill>
                  <a:schemeClr val="tx1"/>
                </a:solidFill>
                <a:ea typeface="游ゴシック Light"/>
              </a:rPr>
              <a:t>手書き文字画像認識の問題点</a:t>
            </a:r>
          </a:p>
        </p:txBody>
      </p:sp>
      <p:sp>
        <p:nvSpPr>
          <p:cNvPr id="4" name="スライド番号プレースホルダー 3">
            <a:extLst>
              <a:ext uri="{FF2B5EF4-FFF2-40B4-BE49-F238E27FC236}">
                <a16:creationId xmlns:a16="http://schemas.microsoft.com/office/drawing/2014/main" id="{53903FA4-D6AC-4004-769F-559E38F9FCA7}"/>
              </a:ext>
            </a:extLst>
          </p:cNvPr>
          <p:cNvSpPr>
            <a:spLocks noGrp="1"/>
          </p:cNvSpPr>
          <p:nvPr>
            <p:ph type="sldNum" sz="quarter" idx="12"/>
          </p:nvPr>
        </p:nvSpPr>
        <p:spPr/>
        <p:txBody>
          <a:bodyPr/>
          <a:lstStyle/>
          <a:p>
            <a:fld id="{397E558F-9F61-480E-94CF-2C9CB5412042}" type="slidenum">
              <a:rPr lang="ja-JP" altLang="en-US" smtClean="0"/>
              <a:pPr/>
              <a:t>4</a:t>
            </a:fld>
            <a:endParaRPr lang="ja-JP" altLang="en-US"/>
          </a:p>
        </p:txBody>
      </p:sp>
    </p:spTree>
    <p:extLst>
      <p:ext uri="{BB962C8B-B14F-4D97-AF65-F5344CB8AC3E}">
        <p14:creationId xmlns:p14="http://schemas.microsoft.com/office/powerpoint/2010/main" val="36629912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7AC14-BFFF-D151-AD6D-3BBC4D4AE7C6}"/>
            </a:ext>
          </a:extLst>
        </p:cNvPr>
        <p:cNvGrpSpPr/>
        <p:nvPr/>
      </p:nvGrpSpPr>
      <p:grpSpPr>
        <a:xfrm>
          <a:off x="0" y="0"/>
          <a:ext cx="0" cy="0"/>
          <a:chOff x="0" y="0"/>
          <a:chExt cx="0" cy="0"/>
        </a:xfrm>
      </p:grpSpPr>
      <p:sp>
        <p:nvSpPr>
          <p:cNvPr id="7" name="Arrow: Right 6">
            <a:extLst>
              <a:ext uri="{FF2B5EF4-FFF2-40B4-BE49-F238E27FC236}">
                <a16:creationId xmlns:a16="http://schemas.microsoft.com/office/drawing/2014/main" id="{8E060955-2455-225C-CA87-0C2ABE6C8D93}"/>
              </a:ext>
            </a:extLst>
          </p:cNvPr>
          <p:cNvSpPr/>
          <p:nvPr/>
        </p:nvSpPr>
        <p:spPr>
          <a:xfrm>
            <a:off x="6135306" y="3617390"/>
            <a:ext cx="978407" cy="484632"/>
          </a:xfrm>
          <a:prstGeom prst="rightArrow">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2000" algn="ctr">
              <a:spcBef>
                <a:spcPts val="600"/>
              </a:spcBef>
            </a:pPr>
            <a:endParaRPr lang="en-US" sz="2000">
              <a:solidFill>
                <a:schemeClr val="tx1"/>
              </a:solidFill>
            </a:endParaRPr>
          </a:p>
        </p:txBody>
      </p:sp>
      <p:pic>
        <p:nvPicPr>
          <p:cNvPr id="5" name="図 4">
            <a:extLst>
              <a:ext uri="{FF2B5EF4-FFF2-40B4-BE49-F238E27FC236}">
                <a16:creationId xmlns:a16="http://schemas.microsoft.com/office/drawing/2014/main" id="{5E5F3633-FF55-D7CA-DC90-FC2BBBB96BEA}"/>
              </a:ext>
            </a:extLst>
          </p:cNvPr>
          <p:cNvPicPr>
            <a:picLocks noChangeAspect="1"/>
          </p:cNvPicPr>
          <p:nvPr/>
        </p:nvPicPr>
        <p:blipFill>
          <a:blip r:embed="rId3">
            <a:alphaModFix amt="20000"/>
          </a:blip>
          <a:srcRect t="932" r="65398" b="8677"/>
          <a:stretch>
            <a:fillRect/>
          </a:stretch>
        </p:blipFill>
        <p:spPr>
          <a:xfrm>
            <a:off x="1273838" y="3499953"/>
            <a:ext cx="3910263" cy="719507"/>
          </a:xfrm>
          <a:prstGeom prst="rect">
            <a:avLst/>
          </a:prstGeom>
          <a:ln>
            <a:solidFill>
              <a:schemeClr val="bg2"/>
            </a:solidFill>
          </a:ln>
        </p:spPr>
      </p:pic>
      <p:pic>
        <p:nvPicPr>
          <p:cNvPr id="6" name="図 5">
            <a:extLst>
              <a:ext uri="{FF2B5EF4-FFF2-40B4-BE49-F238E27FC236}">
                <a16:creationId xmlns:a16="http://schemas.microsoft.com/office/drawing/2014/main" id="{022CF3CF-A3AF-5562-80D0-97CF7486B3D0}"/>
              </a:ext>
            </a:extLst>
          </p:cNvPr>
          <p:cNvPicPr>
            <a:picLocks noChangeAspect="1"/>
          </p:cNvPicPr>
          <p:nvPr/>
        </p:nvPicPr>
        <p:blipFill>
          <a:blip r:embed="rId4">
            <a:alphaModFix amt="20000"/>
          </a:blip>
          <a:srcRect l="66408" t="1009" r="1659" b="12007"/>
          <a:stretch>
            <a:fillRect/>
          </a:stretch>
        </p:blipFill>
        <p:spPr>
          <a:xfrm>
            <a:off x="1273838" y="4841069"/>
            <a:ext cx="4084225" cy="527219"/>
          </a:xfrm>
          <a:prstGeom prst="rect">
            <a:avLst/>
          </a:prstGeom>
          <a:ln>
            <a:solidFill>
              <a:schemeClr val="bg2"/>
            </a:solidFill>
          </a:ln>
        </p:spPr>
      </p:pic>
      <p:sp>
        <p:nvSpPr>
          <p:cNvPr id="9" name="Arrow: Right 6">
            <a:extLst>
              <a:ext uri="{FF2B5EF4-FFF2-40B4-BE49-F238E27FC236}">
                <a16:creationId xmlns:a16="http://schemas.microsoft.com/office/drawing/2014/main" id="{90C63EB0-2C57-A517-F761-CB1A6520943B}"/>
              </a:ext>
            </a:extLst>
          </p:cNvPr>
          <p:cNvSpPr/>
          <p:nvPr/>
        </p:nvSpPr>
        <p:spPr>
          <a:xfrm>
            <a:off x="6096000" y="4774270"/>
            <a:ext cx="978407" cy="484632"/>
          </a:xfrm>
          <a:prstGeom prst="rightArrow">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2000" algn="ctr">
              <a:spcBef>
                <a:spcPts val="600"/>
              </a:spcBef>
            </a:pPr>
            <a:endParaRPr lang="en-US" sz="2000">
              <a:solidFill>
                <a:schemeClr val="tx1"/>
              </a:solidFill>
            </a:endParaRPr>
          </a:p>
        </p:txBody>
      </p:sp>
      <p:pic>
        <p:nvPicPr>
          <p:cNvPr id="12" name="図 11">
            <a:extLst>
              <a:ext uri="{FF2B5EF4-FFF2-40B4-BE49-F238E27FC236}">
                <a16:creationId xmlns:a16="http://schemas.microsoft.com/office/drawing/2014/main" id="{9A56E4ED-53AF-7D33-412C-E42BAE12A672}"/>
              </a:ext>
            </a:extLst>
          </p:cNvPr>
          <p:cNvPicPr>
            <a:picLocks noChangeAspect="1"/>
          </p:cNvPicPr>
          <p:nvPr/>
        </p:nvPicPr>
        <p:blipFill>
          <a:blip r:embed="rId5">
            <a:alphaModFix amt="20000"/>
          </a:blip>
          <a:stretch>
            <a:fillRect/>
          </a:stretch>
        </p:blipFill>
        <p:spPr>
          <a:xfrm>
            <a:off x="7510727" y="3564648"/>
            <a:ext cx="3249638" cy="595137"/>
          </a:xfrm>
          <a:prstGeom prst="rect">
            <a:avLst/>
          </a:prstGeom>
        </p:spPr>
      </p:pic>
      <p:pic>
        <p:nvPicPr>
          <p:cNvPr id="14" name="図 13">
            <a:extLst>
              <a:ext uri="{FF2B5EF4-FFF2-40B4-BE49-F238E27FC236}">
                <a16:creationId xmlns:a16="http://schemas.microsoft.com/office/drawing/2014/main" id="{59CD777B-E225-1262-4AAB-82BFE33064F7}"/>
              </a:ext>
            </a:extLst>
          </p:cNvPr>
          <p:cNvPicPr>
            <a:picLocks noChangeAspect="1"/>
          </p:cNvPicPr>
          <p:nvPr/>
        </p:nvPicPr>
        <p:blipFill>
          <a:blip r:embed="rId6">
            <a:alphaModFix amt="20000"/>
          </a:blip>
          <a:stretch>
            <a:fillRect/>
          </a:stretch>
        </p:blipFill>
        <p:spPr>
          <a:xfrm>
            <a:off x="7573228" y="4630769"/>
            <a:ext cx="3124636" cy="771633"/>
          </a:xfrm>
          <a:prstGeom prst="rect">
            <a:avLst/>
          </a:prstGeom>
        </p:spPr>
      </p:pic>
      <p:sp>
        <p:nvSpPr>
          <p:cNvPr id="2" name="タイトル 1">
            <a:extLst>
              <a:ext uri="{FF2B5EF4-FFF2-40B4-BE49-F238E27FC236}">
                <a16:creationId xmlns:a16="http://schemas.microsoft.com/office/drawing/2014/main" id="{BBFD1ED3-1521-3C32-EC5D-9040BBC9F646}"/>
              </a:ext>
            </a:extLst>
          </p:cNvPr>
          <p:cNvSpPr>
            <a:spLocks noGrp="1"/>
          </p:cNvSpPr>
          <p:nvPr>
            <p:ph type="title"/>
          </p:nvPr>
        </p:nvSpPr>
        <p:spPr/>
        <p:txBody>
          <a:bodyPr/>
          <a:lstStyle/>
          <a:p>
            <a:pPr>
              <a:lnSpc>
                <a:spcPct val="100000"/>
              </a:lnSpc>
            </a:pPr>
            <a:r>
              <a:rPr kumimoji="1" lang="ja-JP" altLang="en-US" sz="3200">
                <a:ea typeface="游ゴシック Light"/>
              </a:rPr>
              <a:t>研究</a:t>
            </a:r>
            <a:r>
              <a:rPr lang="ja-JP" altLang="en-US" sz="3200">
                <a:ea typeface="游ゴシック Light"/>
              </a:rPr>
              <a:t>テーマ</a:t>
            </a:r>
            <a:br>
              <a:rPr lang="en-US" altLang="ja-JP"/>
            </a:br>
            <a:r>
              <a:rPr lang="ja-JP" altLang="en-US">
                <a:solidFill>
                  <a:schemeClr val="tx1"/>
                </a:solidFill>
                <a:ea typeface="游ゴシック Light"/>
              </a:rPr>
              <a:t>手書き文字画像認識の問題点</a:t>
            </a:r>
          </a:p>
        </p:txBody>
      </p:sp>
      <p:sp>
        <p:nvSpPr>
          <p:cNvPr id="3" name="コンテンツ プレースホルダー 2">
            <a:extLst>
              <a:ext uri="{FF2B5EF4-FFF2-40B4-BE49-F238E27FC236}">
                <a16:creationId xmlns:a16="http://schemas.microsoft.com/office/drawing/2014/main" id="{E18D54E2-7502-5956-4CF9-D1AD1756C3CF}"/>
              </a:ext>
            </a:extLst>
          </p:cNvPr>
          <p:cNvSpPr>
            <a:spLocks noGrp="1"/>
          </p:cNvSpPr>
          <p:nvPr>
            <p:ph idx="1"/>
          </p:nvPr>
        </p:nvSpPr>
        <p:spPr>
          <a:xfrm>
            <a:off x="838200" y="1584000"/>
            <a:ext cx="10515600" cy="5270920"/>
          </a:xfrm>
        </p:spPr>
        <p:txBody>
          <a:bodyPr vert="horz" lIns="91440" tIns="45720" rIns="91440" bIns="45720" rtlCol="0" anchor="t">
            <a:normAutofit/>
          </a:bodyPr>
          <a:lstStyle/>
          <a:p>
            <a:pPr marL="0" indent="0">
              <a:buNone/>
            </a:pPr>
            <a:r>
              <a:rPr lang="ja-JP" altLang="en-US">
                <a:ea typeface="+mn-lt"/>
                <a:cs typeface="+mn-lt"/>
              </a:rPr>
              <a:t>課題</a:t>
            </a:r>
            <a:r>
              <a:rPr lang="ja-JP">
                <a:ea typeface="+mn-lt"/>
                <a:cs typeface="+mn-lt"/>
              </a:rPr>
              <a:t>：</a:t>
            </a:r>
            <a:endParaRPr lang="en-US" altLang="ja-JP"/>
          </a:p>
          <a:p>
            <a:pPr marL="0" indent="0">
              <a:buNone/>
            </a:pPr>
            <a:r>
              <a:rPr lang="en-US" altLang="ja-JP">
                <a:ea typeface="+mn-lt"/>
                <a:cs typeface="+mn-lt"/>
              </a:rPr>
              <a:t>	</a:t>
            </a:r>
            <a:r>
              <a:rPr lang="ja-JP" altLang="en-US" sz="2400"/>
              <a:t>画像を取り扱うエンコーダ</a:t>
            </a:r>
            <a:r>
              <a:rPr lang="ja-JP" altLang="ja-JP" sz="2400"/>
              <a:t>では</a:t>
            </a:r>
            <a:r>
              <a:rPr lang="ja-JP" altLang="ja-JP" sz="2400" b="1">
                <a:solidFill>
                  <a:schemeClr val="accent5">
                    <a:lumMod val="75000"/>
                  </a:schemeClr>
                </a:solidFill>
              </a:rPr>
              <a:t>視覚特徴</a:t>
            </a:r>
            <a:r>
              <a:rPr lang="ja-JP" altLang="ja-JP" sz="2400"/>
              <a:t>に依存</a:t>
            </a:r>
            <a:endParaRPr lang="en-US" altLang="ja-JP" sz="2400"/>
          </a:p>
          <a:p>
            <a:pPr marL="0" indent="0">
              <a:buNone/>
            </a:pPr>
            <a:r>
              <a:rPr lang="en-US" altLang="ja-JP" sz="2400">
                <a:ea typeface="+mn-lt"/>
                <a:cs typeface="+mn-lt"/>
              </a:rPr>
              <a:t>	</a:t>
            </a:r>
            <a:r>
              <a:rPr lang="ja-JP" altLang="ja-JP"/>
              <a:t> </a:t>
            </a:r>
            <a:r>
              <a:rPr lang="ja-JP" altLang="ja-JP" sz="2400"/>
              <a:t>→字形曖昧時での誤認識が発生</a:t>
            </a:r>
            <a:endParaRPr lang="en-US" altLang="ja-JP" sz="2400">
              <a:ea typeface="+mn-lt"/>
              <a:cs typeface="+mn-lt"/>
            </a:endParaRPr>
          </a:p>
          <a:p>
            <a:pPr marL="457200" lvl="1" indent="0">
              <a:buNone/>
            </a:pPr>
            <a:endParaRPr lang="en-US" altLang="ja-JP">
              <a:ea typeface="游ゴシック" panose="020F0502020204030204"/>
            </a:endParaRPr>
          </a:p>
          <a:p>
            <a:pPr marL="457200" lvl="1" indent="0">
              <a:buNone/>
            </a:pPr>
            <a:endParaRPr lang="en-US" altLang="ja-JP">
              <a:ea typeface="游ゴシック" panose="020F0502020204030204"/>
            </a:endParaRPr>
          </a:p>
          <a:p>
            <a:pPr marL="457200" lvl="1" indent="0">
              <a:buNone/>
            </a:pPr>
            <a:endParaRPr lang="en-US" altLang="ja-JP">
              <a:ea typeface="游ゴシック" panose="020F0502020204030204"/>
            </a:endParaRPr>
          </a:p>
          <a:p>
            <a:pPr marL="457200" lvl="1" indent="0">
              <a:buNone/>
            </a:pPr>
            <a:endParaRPr lang="en-US" altLang="ja-JP">
              <a:ea typeface="游ゴシック" panose="020F0502020204030204"/>
            </a:endParaRPr>
          </a:p>
          <a:p>
            <a:pPr marL="457200" lvl="1" indent="0">
              <a:buNone/>
            </a:pPr>
            <a:endParaRPr lang="ja-JP">
              <a:ea typeface="游ゴシック" panose="020F0502020204030204"/>
            </a:endParaRPr>
          </a:p>
          <a:p>
            <a:pPr marL="0" indent="0">
              <a:buNone/>
            </a:pPr>
            <a:endParaRPr lang="ja-JP">
              <a:ea typeface="游ゴシック" panose="020F0502020204030204"/>
            </a:endParaRPr>
          </a:p>
          <a:p>
            <a:endParaRPr lang="ja-JP" altLang="en-US">
              <a:ea typeface="游ゴシック"/>
            </a:endParaRPr>
          </a:p>
        </p:txBody>
      </p:sp>
      <p:sp>
        <p:nvSpPr>
          <p:cNvPr id="4" name="スライド番号プレースホルダー 3">
            <a:extLst>
              <a:ext uri="{FF2B5EF4-FFF2-40B4-BE49-F238E27FC236}">
                <a16:creationId xmlns:a16="http://schemas.microsoft.com/office/drawing/2014/main" id="{0C38F0E7-0021-5BB9-406F-37DD2E8A0215}"/>
              </a:ext>
            </a:extLst>
          </p:cNvPr>
          <p:cNvSpPr>
            <a:spLocks noGrp="1"/>
          </p:cNvSpPr>
          <p:nvPr>
            <p:ph type="sldNum" sz="quarter" idx="12"/>
          </p:nvPr>
        </p:nvSpPr>
        <p:spPr/>
        <p:txBody>
          <a:bodyPr/>
          <a:lstStyle/>
          <a:p>
            <a:fld id="{397E558F-9F61-480E-94CF-2C9CB5412042}" type="slidenum">
              <a:rPr lang="ja-JP" altLang="en-US" smtClean="0"/>
              <a:pPr/>
              <a:t>5</a:t>
            </a:fld>
            <a:endParaRPr lang="ja-JP" altLang="en-US"/>
          </a:p>
        </p:txBody>
      </p:sp>
      <p:sp>
        <p:nvSpPr>
          <p:cNvPr id="16" name="テキスト ボックス 15">
            <a:extLst>
              <a:ext uri="{FF2B5EF4-FFF2-40B4-BE49-F238E27FC236}">
                <a16:creationId xmlns:a16="http://schemas.microsoft.com/office/drawing/2014/main" id="{21B548A7-BBB8-F673-EDDA-13EC8B10EDC7}"/>
              </a:ext>
            </a:extLst>
          </p:cNvPr>
          <p:cNvSpPr txBox="1"/>
          <p:nvPr/>
        </p:nvSpPr>
        <p:spPr>
          <a:xfrm>
            <a:off x="1273838" y="3774049"/>
            <a:ext cx="9725892" cy="1446550"/>
          </a:xfrm>
          <a:prstGeom prst="rect">
            <a:avLst/>
          </a:prstGeom>
          <a:noFill/>
        </p:spPr>
        <p:txBody>
          <a:bodyPr wrap="square">
            <a:spAutoFit/>
          </a:bodyPr>
          <a:lstStyle/>
          <a:p>
            <a:pPr marL="457200" lvl="1" indent="0" algn="ctr">
              <a:buNone/>
            </a:pPr>
            <a:r>
              <a:rPr lang="ja-JP" altLang="en-US" sz="4400" b="1" u="sng">
                <a:solidFill>
                  <a:srgbClr val="FF0000"/>
                </a:solidFill>
                <a:ea typeface="+mn-lt"/>
                <a:cs typeface="+mn-lt"/>
              </a:rPr>
              <a:t>言語特徴</a:t>
            </a:r>
            <a:r>
              <a:rPr lang="ja-JP" altLang="en-US" sz="4400" b="1" u="sng">
                <a:ea typeface="+mn-lt"/>
                <a:cs typeface="+mn-lt"/>
              </a:rPr>
              <a:t>をエンコーダで</a:t>
            </a:r>
            <a:endParaRPr lang="en-US" altLang="ja-JP" sz="4400" b="1" u="sng">
              <a:ea typeface="+mn-lt"/>
              <a:cs typeface="+mn-lt"/>
            </a:endParaRPr>
          </a:p>
          <a:p>
            <a:pPr marL="457200" lvl="1" indent="0" algn="ctr">
              <a:buNone/>
            </a:pPr>
            <a:r>
              <a:rPr lang="ja-JP" altLang="en-US" sz="4400" b="1" u="sng">
                <a:ea typeface="+mn-lt"/>
                <a:cs typeface="+mn-lt"/>
              </a:rPr>
              <a:t>学習させることによる認識精度向上</a:t>
            </a:r>
            <a:endParaRPr lang="en-US" altLang="ja-JP" sz="4400" b="1" u="sng">
              <a:ea typeface="+mn-lt"/>
              <a:cs typeface="+mn-lt"/>
            </a:endParaRPr>
          </a:p>
        </p:txBody>
      </p:sp>
    </p:spTree>
    <p:extLst>
      <p:ext uri="{BB962C8B-B14F-4D97-AF65-F5344CB8AC3E}">
        <p14:creationId xmlns:p14="http://schemas.microsoft.com/office/powerpoint/2010/main" val="8120782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21D9527-85BC-4DDE-AAE7-1995EF32C281}"/>
              </a:ext>
            </a:extLst>
          </p:cNvPr>
          <p:cNvSpPr>
            <a:spLocks noGrp="1"/>
          </p:cNvSpPr>
          <p:nvPr>
            <p:ph type="title"/>
          </p:nvPr>
        </p:nvSpPr>
        <p:spPr/>
        <p:txBody>
          <a:bodyPr>
            <a:normAutofit/>
          </a:bodyPr>
          <a:lstStyle/>
          <a:p>
            <a:pPr>
              <a:lnSpc>
                <a:spcPct val="100000"/>
              </a:lnSpc>
            </a:pPr>
            <a:r>
              <a:rPr kumimoji="1" lang="ja-JP" altLang="en-US" sz="3200">
                <a:ea typeface="游ゴシック Light"/>
              </a:rPr>
              <a:t>関連研究</a:t>
            </a:r>
            <a:br>
              <a:rPr kumimoji="1" lang="en-US" altLang="ja-JP"/>
            </a:br>
            <a:r>
              <a:rPr lang="en-US" altLang="ja-JP">
                <a:solidFill>
                  <a:schemeClr val="tx1"/>
                </a:solidFill>
              </a:rPr>
              <a:t>Transformer-based OCR(</a:t>
            </a:r>
            <a:r>
              <a:rPr lang="en-US" altLang="ja-JP" err="1">
                <a:solidFill>
                  <a:schemeClr val="tx1"/>
                </a:solidFill>
              </a:rPr>
              <a:t>TrOCR</a:t>
            </a:r>
            <a:r>
              <a:rPr lang="en-US" altLang="ja-JP">
                <a:solidFill>
                  <a:schemeClr val="tx1"/>
                </a:solidFill>
              </a:rPr>
              <a:t>)</a:t>
            </a:r>
            <a:endParaRPr lang="en-US">
              <a:solidFill>
                <a:schemeClr val="tx1"/>
              </a:solidFill>
            </a:endParaRPr>
          </a:p>
        </p:txBody>
      </p:sp>
      <p:sp>
        <p:nvSpPr>
          <p:cNvPr id="5" name="Content Placeholder 132">
            <a:extLst>
              <a:ext uri="{FF2B5EF4-FFF2-40B4-BE49-F238E27FC236}">
                <a16:creationId xmlns:a16="http://schemas.microsoft.com/office/drawing/2014/main" id="{19CB16A8-16A8-A6A4-570C-B673A648AF22}"/>
              </a:ext>
            </a:extLst>
          </p:cNvPr>
          <p:cNvSpPr txBox="1">
            <a:spLocks/>
          </p:cNvSpPr>
          <p:nvPr/>
        </p:nvSpPr>
        <p:spPr>
          <a:xfrm>
            <a:off x="845114" y="1596915"/>
            <a:ext cx="10810591" cy="165000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Clr>
                <a:schemeClr val="accent5"/>
              </a:buClr>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5">
                  <a:lumMod val="60000"/>
                  <a:lumOff val="40000"/>
                </a:schemeClr>
              </a:buClr>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5">
                  <a:lumMod val="75000"/>
                </a:schemeClr>
              </a:buClr>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5">
                  <a:lumMod val="50000"/>
                </a:schemeClr>
              </a:buClr>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5">
                  <a:lumMod val="50000"/>
                </a:schemeClr>
              </a:buClr>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Clr>
                <a:srgbClr val="4472C4"/>
              </a:buClr>
              <a:buNone/>
            </a:pPr>
            <a:r>
              <a:rPr lang="en-US" altLang="ja-JP">
                <a:solidFill>
                  <a:srgbClr val="FF0000"/>
                </a:solidFill>
                <a:ea typeface="+mn-lt"/>
                <a:cs typeface="+mn-lt"/>
              </a:rPr>
              <a:t>Transformer</a:t>
            </a:r>
            <a:r>
              <a:rPr lang="ja-JP" altLang="en-US">
                <a:ea typeface="+mn-lt"/>
                <a:cs typeface="+mn-lt"/>
              </a:rPr>
              <a:t>ベースのエンコーダ構造を持つ手書き文字認識</a:t>
            </a:r>
            <a:r>
              <a:rPr lang="ja-JP">
                <a:ea typeface="+mn-lt"/>
                <a:cs typeface="+mn-lt"/>
              </a:rPr>
              <a:t>モデル</a:t>
            </a:r>
            <a:endParaRPr lang="ja-JP" altLang="en-US">
              <a:ea typeface="+mn-lt"/>
              <a:cs typeface="+mn-lt"/>
            </a:endParaRPr>
          </a:p>
        </p:txBody>
      </p:sp>
      <p:sp>
        <p:nvSpPr>
          <p:cNvPr id="3" name="スライド番号プレースホルダー 2">
            <a:extLst>
              <a:ext uri="{FF2B5EF4-FFF2-40B4-BE49-F238E27FC236}">
                <a16:creationId xmlns:a16="http://schemas.microsoft.com/office/drawing/2014/main" id="{E53FF62C-2CE9-E96A-5E1F-7B870F37E7F9}"/>
              </a:ext>
            </a:extLst>
          </p:cNvPr>
          <p:cNvSpPr>
            <a:spLocks noGrp="1"/>
          </p:cNvSpPr>
          <p:nvPr>
            <p:ph type="sldNum" sz="quarter" idx="12"/>
          </p:nvPr>
        </p:nvSpPr>
        <p:spPr/>
        <p:txBody>
          <a:bodyPr/>
          <a:lstStyle/>
          <a:p>
            <a:fld id="{397E558F-9F61-480E-94CF-2C9CB5412042}" type="slidenum">
              <a:rPr lang="ja-JP" altLang="en-US" smtClean="0"/>
              <a:pPr/>
              <a:t>6</a:t>
            </a:fld>
            <a:endParaRPr lang="ja-JP" altLang="en-US"/>
          </a:p>
        </p:txBody>
      </p:sp>
      <p:pic>
        <p:nvPicPr>
          <p:cNvPr id="4098" name="Picture 2">
            <a:extLst>
              <a:ext uri="{FF2B5EF4-FFF2-40B4-BE49-F238E27FC236}">
                <a16:creationId xmlns:a16="http://schemas.microsoft.com/office/drawing/2014/main" id="{C17CD5BB-58F5-5C57-A2E9-CC5B76EC941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77173" y="2767169"/>
            <a:ext cx="9946472" cy="3182871"/>
          </a:xfrm>
          <a:prstGeom prst="rect">
            <a:avLst/>
          </a:prstGeom>
          <a:noFill/>
          <a:extLst>
            <a:ext uri="{909E8E84-426E-40DD-AFC4-6F175D3DCCD1}">
              <a14:hiddenFill xmlns:a14="http://schemas.microsoft.com/office/drawing/2010/main">
                <a:solidFill>
                  <a:srgbClr val="FFFFFF"/>
                </a:solidFill>
              </a14:hiddenFill>
            </a:ext>
          </a:extLst>
        </p:spPr>
      </p:pic>
      <p:sp>
        <p:nvSpPr>
          <p:cNvPr id="4" name="正方形/長方形 3">
            <a:extLst>
              <a:ext uri="{FF2B5EF4-FFF2-40B4-BE49-F238E27FC236}">
                <a16:creationId xmlns:a16="http://schemas.microsoft.com/office/drawing/2014/main" id="{C3530E3E-6D60-534A-168D-07BB919446B5}"/>
              </a:ext>
            </a:extLst>
          </p:cNvPr>
          <p:cNvSpPr/>
          <p:nvPr/>
        </p:nvSpPr>
        <p:spPr>
          <a:xfrm>
            <a:off x="6975231" y="3792415"/>
            <a:ext cx="4144107" cy="88509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2000" algn="ctr">
              <a:spcBef>
                <a:spcPts val="600"/>
              </a:spcBef>
            </a:pPr>
            <a:endParaRPr kumimoji="1" lang="ja-JP" altLang="en-US" sz="2000">
              <a:solidFill>
                <a:schemeClr val="tx1"/>
              </a:solidFill>
            </a:endParaRPr>
          </a:p>
        </p:txBody>
      </p:sp>
    </p:spTree>
    <p:extLst>
      <p:ext uri="{BB962C8B-B14F-4D97-AF65-F5344CB8AC3E}">
        <p14:creationId xmlns:p14="http://schemas.microsoft.com/office/powerpoint/2010/main" val="7290481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BC8F4-413A-7318-012C-EFF7DCB27D0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4474006-B4F5-0171-285A-344C62AEA66C}"/>
              </a:ext>
            </a:extLst>
          </p:cNvPr>
          <p:cNvSpPr>
            <a:spLocks noGrp="1"/>
          </p:cNvSpPr>
          <p:nvPr>
            <p:ph type="title"/>
          </p:nvPr>
        </p:nvSpPr>
        <p:spPr/>
        <p:txBody>
          <a:bodyPr>
            <a:normAutofit/>
          </a:bodyPr>
          <a:lstStyle/>
          <a:p>
            <a:pPr>
              <a:lnSpc>
                <a:spcPct val="100000"/>
              </a:lnSpc>
            </a:pPr>
            <a:r>
              <a:rPr kumimoji="1" lang="ja-JP" altLang="en-US" sz="3200">
                <a:ea typeface="游ゴシック Light"/>
              </a:rPr>
              <a:t>関連研究</a:t>
            </a:r>
            <a:br>
              <a:rPr kumimoji="1" lang="en-US" altLang="ja-JP"/>
            </a:br>
            <a:r>
              <a:rPr lang="en-US" altLang="ja-JP">
                <a:solidFill>
                  <a:schemeClr val="tx1"/>
                </a:solidFill>
              </a:rPr>
              <a:t>Transformer-based OCR(</a:t>
            </a:r>
            <a:r>
              <a:rPr lang="en-US" altLang="ja-JP" err="1">
                <a:solidFill>
                  <a:schemeClr val="tx1"/>
                </a:solidFill>
              </a:rPr>
              <a:t>TrOCR</a:t>
            </a:r>
            <a:r>
              <a:rPr lang="en-US" altLang="ja-JP">
                <a:solidFill>
                  <a:schemeClr val="tx1"/>
                </a:solidFill>
              </a:rPr>
              <a:t>)</a:t>
            </a:r>
            <a:endParaRPr lang="en-US">
              <a:solidFill>
                <a:schemeClr val="tx1"/>
              </a:solidFill>
            </a:endParaRPr>
          </a:p>
        </p:txBody>
      </p:sp>
      <p:sp>
        <p:nvSpPr>
          <p:cNvPr id="5" name="Content Placeholder 132">
            <a:extLst>
              <a:ext uri="{FF2B5EF4-FFF2-40B4-BE49-F238E27FC236}">
                <a16:creationId xmlns:a16="http://schemas.microsoft.com/office/drawing/2014/main" id="{677E1CDA-8874-8E0C-BA29-B43111FAB301}"/>
              </a:ext>
            </a:extLst>
          </p:cNvPr>
          <p:cNvSpPr txBox="1">
            <a:spLocks/>
          </p:cNvSpPr>
          <p:nvPr/>
        </p:nvSpPr>
        <p:spPr>
          <a:xfrm>
            <a:off x="845114" y="1596915"/>
            <a:ext cx="10810591" cy="165000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Clr>
                <a:schemeClr val="accent5"/>
              </a:buClr>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5">
                  <a:lumMod val="60000"/>
                  <a:lumOff val="40000"/>
                </a:schemeClr>
              </a:buClr>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5">
                  <a:lumMod val="75000"/>
                </a:schemeClr>
              </a:buClr>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5">
                  <a:lumMod val="50000"/>
                </a:schemeClr>
              </a:buClr>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5">
                  <a:lumMod val="50000"/>
                </a:schemeClr>
              </a:buClr>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Clr>
                <a:srgbClr val="4472C4"/>
              </a:buClr>
              <a:buNone/>
            </a:pPr>
            <a:r>
              <a:rPr lang="en-US" altLang="ja-JP">
                <a:solidFill>
                  <a:srgbClr val="FF0000"/>
                </a:solidFill>
                <a:ea typeface="+mn-lt"/>
                <a:cs typeface="+mn-lt"/>
              </a:rPr>
              <a:t>Transformer</a:t>
            </a:r>
            <a:r>
              <a:rPr lang="ja-JP" altLang="en-US">
                <a:ea typeface="+mn-lt"/>
                <a:cs typeface="+mn-lt"/>
              </a:rPr>
              <a:t>ベースのエンコーダ構造を持つ手書き文字認識</a:t>
            </a:r>
            <a:r>
              <a:rPr lang="ja-JP">
                <a:ea typeface="+mn-lt"/>
                <a:cs typeface="+mn-lt"/>
              </a:rPr>
              <a:t>モデル</a:t>
            </a:r>
            <a:endParaRPr lang="en-US" altLang="ja-JP">
              <a:ea typeface="+mn-lt"/>
              <a:cs typeface="+mn-lt"/>
            </a:endParaRPr>
          </a:p>
          <a:p>
            <a:pPr marL="0" indent="0">
              <a:buClr>
                <a:srgbClr val="4472C4"/>
              </a:buClr>
              <a:buNone/>
            </a:pPr>
            <a:r>
              <a:rPr lang="ja-JP" altLang="en-US">
                <a:ea typeface="游ゴシック"/>
              </a:rPr>
              <a:t>→</a:t>
            </a:r>
            <a:r>
              <a:rPr lang="ja-JP" altLang="en-US"/>
              <a:t>画像内の</a:t>
            </a:r>
            <a:r>
              <a:rPr lang="ja-JP" altLang="en-US">
                <a:solidFill>
                  <a:srgbClr val="FF0000"/>
                </a:solidFill>
              </a:rPr>
              <a:t>広い範囲</a:t>
            </a:r>
            <a:r>
              <a:rPr lang="ja-JP" altLang="en-US"/>
              <a:t>との関係性を取り込んだ特徴の獲得が可能</a:t>
            </a:r>
            <a:endParaRPr lang="ja-JP" altLang="en-US">
              <a:ea typeface="游ゴシック"/>
            </a:endParaRPr>
          </a:p>
        </p:txBody>
      </p:sp>
      <p:sp>
        <p:nvSpPr>
          <p:cNvPr id="3" name="スライド番号プレースホルダー 2">
            <a:extLst>
              <a:ext uri="{FF2B5EF4-FFF2-40B4-BE49-F238E27FC236}">
                <a16:creationId xmlns:a16="http://schemas.microsoft.com/office/drawing/2014/main" id="{1368B742-AE75-9F7F-8C3E-853A0C37AAA0}"/>
              </a:ext>
            </a:extLst>
          </p:cNvPr>
          <p:cNvSpPr>
            <a:spLocks noGrp="1"/>
          </p:cNvSpPr>
          <p:nvPr>
            <p:ph type="sldNum" sz="quarter" idx="12"/>
          </p:nvPr>
        </p:nvSpPr>
        <p:spPr/>
        <p:txBody>
          <a:bodyPr/>
          <a:lstStyle/>
          <a:p>
            <a:fld id="{397E558F-9F61-480E-94CF-2C9CB5412042}" type="slidenum">
              <a:rPr lang="ja-JP" altLang="en-US" smtClean="0"/>
              <a:pPr/>
              <a:t>7</a:t>
            </a:fld>
            <a:endParaRPr lang="ja-JP" altLang="en-US"/>
          </a:p>
        </p:txBody>
      </p:sp>
      <p:pic>
        <p:nvPicPr>
          <p:cNvPr id="4098" name="Picture 2">
            <a:extLst>
              <a:ext uri="{FF2B5EF4-FFF2-40B4-BE49-F238E27FC236}">
                <a16:creationId xmlns:a16="http://schemas.microsoft.com/office/drawing/2014/main" id="{E8C44AD8-BC11-67B4-0AE0-4E103C11DCE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77173" y="2767169"/>
            <a:ext cx="9946472" cy="3182871"/>
          </a:xfrm>
          <a:prstGeom prst="rect">
            <a:avLst/>
          </a:prstGeom>
          <a:noFill/>
          <a:extLst>
            <a:ext uri="{909E8E84-426E-40DD-AFC4-6F175D3DCCD1}">
              <a14:hiddenFill xmlns:a14="http://schemas.microsoft.com/office/drawing/2010/main">
                <a:solidFill>
                  <a:srgbClr val="FFFFFF"/>
                </a:solidFill>
              </a14:hiddenFill>
            </a:ext>
          </a:extLst>
        </p:spPr>
      </p:pic>
      <p:sp>
        <p:nvSpPr>
          <p:cNvPr id="4" name="正方形/長方形 3">
            <a:extLst>
              <a:ext uri="{FF2B5EF4-FFF2-40B4-BE49-F238E27FC236}">
                <a16:creationId xmlns:a16="http://schemas.microsoft.com/office/drawing/2014/main" id="{73E451D5-671A-DF65-9EAC-EE8A2DE1145B}"/>
              </a:ext>
            </a:extLst>
          </p:cNvPr>
          <p:cNvSpPr/>
          <p:nvPr/>
        </p:nvSpPr>
        <p:spPr>
          <a:xfrm>
            <a:off x="6975231" y="3792415"/>
            <a:ext cx="4144107" cy="88509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2000" algn="ctr">
              <a:spcBef>
                <a:spcPts val="600"/>
              </a:spcBef>
            </a:pPr>
            <a:endParaRPr kumimoji="1" lang="ja-JP" altLang="en-US" sz="2000">
              <a:solidFill>
                <a:schemeClr val="tx1"/>
              </a:solidFill>
            </a:endParaRPr>
          </a:p>
        </p:txBody>
      </p:sp>
    </p:spTree>
    <p:extLst>
      <p:ext uri="{BB962C8B-B14F-4D97-AF65-F5344CB8AC3E}">
        <p14:creationId xmlns:p14="http://schemas.microsoft.com/office/powerpoint/2010/main" val="22405850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65D96-CE12-1DEF-E786-14E1B0BAD8A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17EBB86-E534-EFFA-333F-A0A23653F69D}"/>
              </a:ext>
            </a:extLst>
          </p:cNvPr>
          <p:cNvSpPr>
            <a:spLocks noGrp="1"/>
          </p:cNvSpPr>
          <p:nvPr>
            <p:ph type="title"/>
          </p:nvPr>
        </p:nvSpPr>
        <p:spPr/>
        <p:txBody>
          <a:bodyPr>
            <a:normAutofit/>
          </a:bodyPr>
          <a:lstStyle/>
          <a:p>
            <a:pPr>
              <a:lnSpc>
                <a:spcPct val="100000"/>
              </a:lnSpc>
            </a:pPr>
            <a:r>
              <a:rPr kumimoji="1" lang="ja-JP" altLang="en-US" sz="3200">
                <a:ea typeface="游ゴシック Light"/>
              </a:rPr>
              <a:t>関連研究</a:t>
            </a:r>
            <a:br>
              <a:rPr kumimoji="1" lang="en-US" altLang="ja-JP"/>
            </a:br>
            <a:r>
              <a:rPr lang="en-US" altLang="ja-JP">
                <a:solidFill>
                  <a:schemeClr val="tx1"/>
                </a:solidFill>
              </a:rPr>
              <a:t>Transformer-based OCR(</a:t>
            </a:r>
            <a:r>
              <a:rPr lang="en-US" altLang="ja-JP" err="1">
                <a:solidFill>
                  <a:schemeClr val="tx1"/>
                </a:solidFill>
              </a:rPr>
              <a:t>TrOCR</a:t>
            </a:r>
            <a:r>
              <a:rPr lang="en-US" altLang="ja-JP">
                <a:solidFill>
                  <a:schemeClr val="tx1"/>
                </a:solidFill>
              </a:rPr>
              <a:t>)</a:t>
            </a:r>
            <a:endParaRPr lang="en-US">
              <a:solidFill>
                <a:schemeClr val="tx1"/>
              </a:solidFill>
            </a:endParaRPr>
          </a:p>
        </p:txBody>
      </p:sp>
      <p:sp>
        <p:nvSpPr>
          <p:cNvPr id="5" name="Content Placeholder 132">
            <a:extLst>
              <a:ext uri="{FF2B5EF4-FFF2-40B4-BE49-F238E27FC236}">
                <a16:creationId xmlns:a16="http://schemas.microsoft.com/office/drawing/2014/main" id="{5EA926DA-B242-EA14-5C7B-A7B9ECF92EA4}"/>
              </a:ext>
            </a:extLst>
          </p:cNvPr>
          <p:cNvSpPr txBox="1">
            <a:spLocks/>
          </p:cNvSpPr>
          <p:nvPr/>
        </p:nvSpPr>
        <p:spPr>
          <a:xfrm>
            <a:off x="845114" y="1596915"/>
            <a:ext cx="10810591" cy="165000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Clr>
                <a:schemeClr val="accent5"/>
              </a:buClr>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5">
                  <a:lumMod val="60000"/>
                  <a:lumOff val="40000"/>
                </a:schemeClr>
              </a:buClr>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5">
                  <a:lumMod val="75000"/>
                </a:schemeClr>
              </a:buClr>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5">
                  <a:lumMod val="50000"/>
                </a:schemeClr>
              </a:buClr>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5">
                  <a:lumMod val="50000"/>
                </a:schemeClr>
              </a:buClr>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Clr>
                <a:srgbClr val="4472C4"/>
              </a:buClr>
              <a:buNone/>
            </a:pPr>
            <a:r>
              <a:rPr lang="en-US" altLang="ja-JP">
                <a:solidFill>
                  <a:srgbClr val="FF0000"/>
                </a:solidFill>
                <a:ea typeface="+mn-lt"/>
                <a:cs typeface="+mn-lt"/>
              </a:rPr>
              <a:t>Transformer</a:t>
            </a:r>
            <a:r>
              <a:rPr lang="ja-JP" altLang="en-US">
                <a:ea typeface="+mn-lt"/>
                <a:cs typeface="+mn-lt"/>
              </a:rPr>
              <a:t>ベースのエンコーダ構造を持つ手書き文字認識</a:t>
            </a:r>
            <a:r>
              <a:rPr lang="ja-JP">
                <a:ea typeface="+mn-lt"/>
                <a:cs typeface="+mn-lt"/>
              </a:rPr>
              <a:t>モデル</a:t>
            </a:r>
            <a:endParaRPr lang="en-US" altLang="ja-JP">
              <a:ea typeface="+mn-lt"/>
              <a:cs typeface="+mn-lt"/>
            </a:endParaRPr>
          </a:p>
          <a:p>
            <a:pPr marL="0" indent="0">
              <a:buClr>
                <a:srgbClr val="4472C4"/>
              </a:buClr>
              <a:buNone/>
            </a:pPr>
            <a:r>
              <a:rPr lang="ja-JP" altLang="en-US">
                <a:ea typeface="游ゴシック"/>
              </a:rPr>
              <a:t>→</a:t>
            </a:r>
            <a:r>
              <a:rPr lang="ja-JP" altLang="en-US"/>
              <a:t>画像内の</a:t>
            </a:r>
            <a:r>
              <a:rPr lang="ja-JP" altLang="en-US">
                <a:solidFill>
                  <a:srgbClr val="FF0000"/>
                </a:solidFill>
              </a:rPr>
              <a:t>広い範囲</a:t>
            </a:r>
            <a:r>
              <a:rPr lang="ja-JP" altLang="en-US"/>
              <a:t>との関係性を取り込んだ特徴の獲得が可能</a:t>
            </a:r>
            <a:endParaRPr lang="ja-JP" altLang="en-US">
              <a:ea typeface="游ゴシック"/>
            </a:endParaRPr>
          </a:p>
        </p:txBody>
      </p:sp>
      <p:sp>
        <p:nvSpPr>
          <p:cNvPr id="3" name="スライド番号プレースホルダー 2">
            <a:extLst>
              <a:ext uri="{FF2B5EF4-FFF2-40B4-BE49-F238E27FC236}">
                <a16:creationId xmlns:a16="http://schemas.microsoft.com/office/drawing/2014/main" id="{3A36F131-7518-5C7E-AA89-E28EAFB9FC94}"/>
              </a:ext>
            </a:extLst>
          </p:cNvPr>
          <p:cNvSpPr>
            <a:spLocks noGrp="1"/>
          </p:cNvSpPr>
          <p:nvPr>
            <p:ph type="sldNum" sz="quarter" idx="12"/>
          </p:nvPr>
        </p:nvSpPr>
        <p:spPr/>
        <p:txBody>
          <a:bodyPr/>
          <a:lstStyle/>
          <a:p>
            <a:fld id="{397E558F-9F61-480E-94CF-2C9CB5412042}" type="slidenum">
              <a:rPr lang="ja-JP" altLang="en-US" smtClean="0"/>
              <a:pPr/>
              <a:t>8</a:t>
            </a:fld>
            <a:endParaRPr lang="ja-JP" altLang="en-US"/>
          </a:p>
        </p:txBody>
      </p:sp>
      <p:sp>
        <p:nvSpPr>
          <p:cNvPr id="4" name="正方形/長方形 3">
            <a:extLst>
              <a:ext uri="{FF2B5EF4-FFF2-40B4-BE49-F238E27FC236}">
                <a16:creationId xmlns:a16="http://schemas.microsoft.com/office/drawing/2014/main" id="{2A8CB13A-29FE-BA70-25FD-96B47D25DAD6}"/>
              </a:ext>
            </a:extLst>
          </p:cNvPr>
          <p:cNvSpPr/>
          <p:nvPr/>
        </p:nvSpPr>
        <p:spPr>
          <a:xfrm>
            <a:off x="6975231" y="3792415"/>
            <a:ext cx="4144107" cy="88509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2000" algn="ctr">
              <a:spcBef>
                <a:spcPts val="600"/>
              </a:spcBef>
            </a:pPr>
            <a:endParaRPr kumimoji="1" lang="ja-JP" altLang="en-US" sz="2000">
              <a:solidFill>
                <a:schemeClr val="tx1"/>
              </a:solidFill>
            </a:endParaRPr>
          </a:p>
        </p:txBody>
      </p:sp>
      <p:grpSp>
        <p:nvGrpSpPr>
          <p:cNvPr id="7" name="グループ化 6">
            <a:extLst>
              <a:ext uri="{FF2B5EF4-FFF2-40B4-BE49-F238E27FC236}">
                <a16:creationId xmlns:a16="http://schemas.microsoft.com/office/drawing/2014/main" id="{C7387F07-BFB0-AFE0-E1F9-DC2CC268B39D}"/>
              </a:ext>
            </a:extLst>
          </p:cNvPr>
          <p:cNvGrpSpPr/>
          <p:nvPr/>
        </p:nvGrpSpPr>
        <p:grpSpPr>
          <a:xfrm>
            <a:off x="1277173" y="2767169"/>
            <a:ext cx="10054487" cy="3182871"/>
            <a:chOff x="1277173" y="2767169"/>
            <a:chExt cx="10054487" cy="3182871"/>
          </a:xfrm>
        </p:grpSpPr>
        <p:pic>
          <p:nvPicPr>
            <p:cNvPr id="4098" name="Picture 2">
              <a:extLst>
                <a:ext uri="{FF2B5EF4-FFF2-40B4-BE49-F238E27FC236}">
                  <a16:creationId xmlns:a16="http://schemas.microsoft.com/office/drawing/2014/main" id="{1AC867E1-94D7-3EC1-4F20-D0920C334E7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77173" y="2767169"/>
              <a:ext cx="9946472" cy="3182871"/>
            </a:xfrm>
            <a:prstGeom prst="rect">
              <a:avLst/>
            </a:prstGeom>
            <a:noFill/>
            <a:extLst>
              <a:ext uri="{909E8E84-426E-40DD-AFC4-6F175D3DCCD1}">
                <a14:hiddenFill xmlns:a14="http://schemas.microsoft.com/office/drawing/2010/main">
                  <a:solidFill>
                    <a:srgbClr val="FFFFFF"/>
                  </a:solidFill>
                </a14:hiddenFill>
              </a:ext>
            </a:extLst>
          </p:spPr>
        </p:pic>
        <p:sp>
          <p:nvSpPr>
            <p:cNvPr id="6" name="正方形/長方形 5">
              <a:extLst>
                <a:ext uri="{FF2B5EF4-FFF2-40B4-BE49-F238E27FC236}">
                  <a16:creationId xmlns:a16="http://schemas.microsoft.com/office/drawing/2014/main" id="{5DA15C69-E4F6-D196-8340-83C3C65393A4}"/>
                </a:ext>
              </a:extLst>
            </p:cNvPr>
            <p:cNvSpPr/>
            <p:nvPr/>
          </p:nvSpPr>
          <p:spPr>
            <a:xfrm>
              <a:off x="6270376" y="2794183"/>
              <a:ext cx="5061284" cy="19250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2000" algn="ctr">
                <a:spcBef>
                  <a:spcPts val="600"/>
                </a:spcBef>
              </a:pPr>
              <a:endParaRPr kumimoji="1" lang="ja-JP" altLang="en-US" sz="2000">
                <a:solidFill>
                  <a:schemeClr val="tx1"/>
                </a:solidFill>
              </a:endParaRPr>
            </a:p>
          </p:txBody>
        </p:sp>
      </p:grpSp>
      <p:sp>
        <p:nvSpPr>
          <p:cNvPr id="13" name="テキスト ボックス 12">
            <a:extLst>
              <a:ext uri="{FF2B5EF4-FFF2-40B4-BE49-F238E27FC236}">
                <a16:creationId xmlns:a16="http://schemas.microsoft.com/office/drawing/2014/main" id="{49F07408-6E8F-CBD5-92B0-046727A090B8}"/>
              </a:ext>
            </a:extLst>
          </p:cNvPr>
          <p:cNvSpPr txBox="1"/>
          <p:nvPr/>
        </p:nvSpPr>
        <p:spPr>
          <a:xfrm>
            <a:off x="8173318" y="3693386"/>
            <a:ext cx="3266357" cy="707886"/>
          </a:xfrm>
          <a:prstGeom prst="rect">
            <a:avLst/>
          </a:prstGeom>
          <a:noFill/>
        </p:spPr>
        <p:txBody>
          <a:bodyPr wrap="square">
            <a:spAutoFit/>
          </a:bodyPr>
          <a:lstStyle/>
          <a:p>
            <a:r>
              <a:rPr lang="ja-JP" altLang="en-US" sz="4000" b="1">
                <a:solidFill>
                  <a:srgbClr val="FF0000"/>
                </a:solidFill>
              </a:rPr>
              <a:t>本研究</a:t>
            </a:r>
            <a:r>
              <a:rPr lang="ja-JP" altLang="en-US" sz="4000" b="1"/>
              <a:t>で使用</a:t>
            </a:r>
          </a:p>
        </p:txBody>
      </p:sp>
      <p:sp>
        <p:nvSpPr>
          <p:cNvPr id="16" name="角丸四角形 15">
            <a:extLst>
              <a:ext uri="{FF2B5EF4-FFF2-40B4-BE49-F238E27FC236}">
                <a16:creationId xmlns:a16="http://schemas.microsoft.com/office/drawing/2014/main" id="{BF92096A-4174-5676-77C8-A2D03B54E535}"/>
              </a:ext>
            </a:extLst>
          </p:cNvPr>
          <p:cNvSpPr/>
          <p:nvPr/>
        </p:nvSpPr>
        <p:spPr>
          <a:xfrm>
            <a:off x="1155032" y="2639817"/>
            <a:ext cx="5820197" cy="2621268"/>
          </a:xfrm>
          <a:prstGeom prst="roundRect">
            <a:avLst/>
          </a:prstGeom>
          <a:no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2000" algn="ctr">
              <a:spcBef>
                <a:spcPts val="600"/>
              </a:spcBef>
            </a:pPr>
            <a:endParaRPr kumimoji="1" lang="ja-JP" altLang="en-US" sz="2000">
              <a:solidFill>
                <a:schemeClr val="tx1"/>
              </a:solidFill>
            </a:endParaRPr>
          </a:p>
        </p:txBody>
      </p:sp>
      <p:sp>
        <p:nvSpPr>
          <p:cNvPr id="17" name="右矢印 16">
            <a:extLst>
              <a:ext uri="{FF2B5EF4-FFF2-40B4-BE49-F238E27FC236}">
                <a16:creationId xmlns:a16="http://schemas.microsoft.com/office/drawing/2014/main" id="{FA1CF1C2-378D-6CF4-A2CB-EDD843524F12}"/>
              </a:ext>
            </a:extLst>
          </p:cNvPr>
          <p:cNvSpPr/>
          <p:nvPr/>
        </p:nvSpPr>
        <p:spPr>
          <a:xfrm rot="10800000">
            <a:off x="6975230" y="3693386"/>
            <a:ext cx="982058" cy="665218"/>
          </a:xfrm>
          <a:prstGeom prst="rightArrow">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2000" algn="ctr">
              <a:spcBef>
                <a:spcPts val="600"/>
              </a:spcBef>
            </a:pPr>
            <a:endParaRPr kumimoji="1" lang="ja-JP" altLang="en-US" sz="2000">
              <a:solidFill>
                <a:schemeClr val="tx1"/>
              </a:solidFill>
            </a:endParaRPr>
          </a:p>
        </p:txBody>
      </p:sp>
    </p:spTree>
    <p:extLst>
      <p:ext uri="{BB962C8B-B14F-4D97-AF65-F5344CB8AC3E}">
        <p14:creationId xmlns:p14="http://schemas.microsoft.com/office/powerpoint/2010/main" val="38709808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5E3D9-EB2B-C8BD-7F1D-366342DA058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E52E7F4-40CE-E25C-54B4-DCB652AE1EA9}"/>
              </a:ext>
            </a:extLst>
          </p:cNvPr>
          <p:cNvSpPr>
            <a:spLocks noGrp="1"/>
          </p:cNvSpPr>
          <p:nvPr>
            <p:ph type="title"/>
          </p:nvPr>
        </p:nvSpPr>
        <p:spPr/>
        <p:txBody>
          <a:bodyPr>
            <a:normAutofit/>
          </a:bodyPr>
          <a:lstStyle/>
          <a:p>
            <a:pPr>
              <a:lnSpc>
                <a:spcPct val="100000"/>
              </a:lnSpc>
            </a:pPr>
            <a:r>
              <a:rPr kumimoji="1" lang="ja-JP" altLang="en-US" sz="3200">
                <a:ea typeface="游ゴシック Light"/>
              </a:rPr>
              <a:t>関連研究</a:t>
            </a:r>
            <a:br>
              <a:rPr kumimoji="1" lang="en-US" altLang="ja-JP"/>
            </a:br>
            <a:r>
              <a:rPr lang="en" altLang="ja-JP">
                <a:solidFill>
                  <a:schemeClr val="tx1"/>
                </a:solidFill>
              </a:rPr>
              <a:t>LLM</a:t>
            </a:r>
            <a:r>
              <a:rPr lang="ja-JP" altLang="en-US">
                <a:solidFill>
                  <a:schemeClr val="tx1"/>
                </a:solidFill>
              </a:rPr>
              <a:t>損失によるエンコーダ学習</a:t>
            </a:r>
            <a:endParaRPr lang="en-US">
              <a:solidFill>
                <a:schemeClr val="tx1"/>
              </a:solidFill>
            </a:endParaRPr>
          </a:p>
        </p:txBody>
      </p:sp>
      <p:sp>
        <p:nvSpPr>
          <p:cNvPr id="5" name="Content Placeholder 132">
            <a:extLst>
              <a:ext uri="{FF2B5EF4-FFF2-40B4-BE49-F238E27FC236}">
                <a16:creationId xmlns:a16="http://schemas.microsoft.com/office/drawing/2014/main" id="{EB341A93-F174-4185-47CA-5AFEBCE45B57}"/>
              </a:ext>
            </a:extLst>
          </p:cNvPr>
          <p:cNvSpPr txBox="1">
            <a:spLocks/>
          </p:cNvSpPr>
          <p:nvPr/>
        </p:nvSpPr>
        <p:spPr>
          <a:xfrm>
            <a:off x="845115" y="1596915"/>
            <a:ext cx="10508685" cy="454671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Clr>
                <a:schemeClr val="accent5"/>
              </a:buClr>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5">
                  <a:lumMod val="60000"/>
                  <a:lumOff val="40000"/>
                </a:schemeClr>
              </a:buClr>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5">
                  <a:lumMod val="75000"/>
                </a:schemeClr>
              </a:buClr>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5">
                  <a:lumMod val="50000"/>
                </a:schemeClr>
              </a:buClr>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5">
                  <a:lumMod val="50000"/>
                </a:schemeClr>
              </a:buClr>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Clr>
                <a:srgbClr val="4472C4"/>
              </a:buClr>
              <a:buNone/>
            </a:pPr>
            <a:r>
              <a:rPr lang="ja-JP" altLang="en-US">
                <a:ea typeface="+mn-lt"/>
                <a:cs typeface="+mn-lt"/>
              </a:rPr>
              <a:t>自動音声認識における</a:t>
            </a:r>
            <a:r>
              <a:rPr lang="en-US" altLang="ja-JP">
                <a:ea typeface="+mn-lt"/>
                <a:cs typeface="+mn-lt"/>
              </a:rPr>
              <a:t>LLM(Large Language Model)</a:t>
            </a:r>
            <a:r>
              <a:rPr lang="ja-JP" altLang="en-US">
                <a:ea typeface="+mn-lt"/>
                <a:cs typeface="+mn-lt"/>
              </a:rPr>
              <a:t>の活用</a:t>
            </a:r>
            <a:endParaRPr lang="en-US" altLang="ja-JP">
              <a:ea typeface="+mn-lt"/>
              <a:cs typeface="+mn-lt"/>
            </a:endParaRPr>
          </a:p>
        </p:txBody>
      </p:sp>
      <p:sp>
        <p:nvSpPr>
          <p:cNvPr id="3" name="スライド番号プレースホルダー 2">
            <a:extLst>
              <a:ext uri="{FF2B5EF4-FFF2-40B4-BE49-F238E27FC236}">
                <a16:creationId xmlns:a16="http://schemas.microsoft.com/office/drawing/2014/main" id="{21D78F17-5E26-DA00-63A2-3F6E18A4C290}"/>
              </a:ext>
            </a:extLst>
          </p:cNvPr>
          <p:cNvSpPr>
            <a:spLocks noGrp="1"/>
          </p:cNvSpPr>
          <p:nvPr>
            <p:ph type="sldNum" sz="quarter" idx="12"/>
          </p:nvPr>
        </p:nvSpPr>
        <p:spPr/>
        <p:txBody>
          <a:bodyPr/>
          <a:lstStyle/>
          <a:p>
            <a:fld id="{397E558F-9F61-480E-94CF-2C9CB5412042}" type="slidenum">
              <a:rPr lang="ja-JP" altLang="en-US" smtClean="0"/>
              <a:pPr/>
              <a:t>9</a:t>
            </a:fld>
            <a:endParaRPr lang="ja-JP" altLang="en-US"/>
          </a:p>
        </p:txBody>
      </p:sp>
      <p:pic>
        <p:nvPicPr>
          <p:cNvPr id="3074" name="Picture 2">
            <a:extLst>
              <a:ext uri="{FF2B5EF4-FFF2-40B4-BE49-F238E27FC236}">
                <a16:creationId xmlns:a16="http://schemas.microsoft.com/office/drawing/2014/main" id="{AF953FC1-504C-0050-E853-0D23DADC50B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33851" y="2936309"/>
            <a:ext cx="4649117" cy="34200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76633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52D730-80C8-7315-E5A2-12F26EFDBD9E}"/>
            </a:ext>
          </a:extLst>
        </p:cNvPr>
        <p:cNvGrpSpPr/>
        <p:nvPr/>
      </p:nvGrpSpPr>
      <p:grpSpPr>
        <a:xfrm>
          <a:off x="0" y="0"/>
          <a:ext cx="0" cy="0"/>
          <a:chOff x="0" y="0"/>
          <a:chExt cx="0" cy="0"/>
        </a:xfrm>
      </p:grpSpPr>
      <p:pic>
        <p:nvPicPr>
          <p:cNvPr id="5122" name="Picture 2">
            <a:extLst>
              <a:ext uri="{FF2B5EF4-FFF2-40B4-BE49-F238E27FC236}">
                <a16:creationId xmlns:a16="http://schemas.microsoft.com/office/drawing/2014/main" id="{EC8E87DA-8E8C-F6FB-6CB5-012C83C2732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33850" y="2936307"/>
            <a:ext cx="4649116" cy="3420039"/>
          </a:xfrm>
          <a:prstGeom prst="rect">
            <a:avLst/>
          </a:prstGeom>
          <a:noFill/>
          <a:extLst>
            <a:ext uri="{909E8E84-426E-40DD-AFC4-6F175D3DCCD1}">
              <a14:hiddenFill xmlns:a14="http://schemas.microsoft.com/office/drawing/2010/main">
                <a:solidFill>
                  <a:srgbClr val="FFFFFF"/>
                </a:solidFill>
              </a14:hiddenFill>
            </a:ext>
          </a:extLst>
        </p:spPr>
      </p:pic>
      <p:sp>
        <p:nvSpPr>
          <p:cNvPr id="2" name="タイトル 1">
            <a:extLst>
              <a:ext uri="{FF2B5EF4-FFF2-40B4-BE49-F238E27FC236}">
                <a16:creationId xmlns:a16="http://schemas.microsoft.com/office/drawing/2014/main" id="{1FE7AECB-601F-FD74-D45D-9D3AC2DD52C1}"/>
              </a:ext>
            </a:extLst>
          </p:cNvPr>
          <p:cNvSpPr>
            <a:spLocks noGrp="1"/>
          </p:cNvSpPr>
          <p:nvPr>
            <p:ph type="title"/>
          </p:nvPr>
        </p:nvSpPr>
        <p:spPr/>
        <p:txBody>
          <a:bodyPr>
            <a:normAutofit/>
          </a:bodyPr>
          <a:lstStyle/>
          <a:p>
            <a:pPr>
              <a:lnSpc>
                <a:spcPct val="100000"/>
              </a:lnSpc>
            </a:pPr>
            <a:r>
              <a:rPr kumimoji="1" lang="ja-JP" altLang="en-US" sz="3200">
                <a:ea typeface="游ゴシック Light"/>
              </a:rPr>
              <a:t>関連研究</a:t>
            </a:r>
            <a:br>
              <a:rPr kumimoji="1" lang="en-US" altLang="ja-JP"/>
            </a:br>
            <a:r>
              <a:rPr lang="en" altLang="ja-JP">
                <a:solidFill>
                  <a:schemeClr val="tx1"/>
                </a:solidFill>
              </a:rPr>
              <a:t>LLM</a:t>
            </a:r>
            <a:r>
              <a:rPr lang="ja-JP" altLang="en-US">
                <a:solidFill>
                  <a:schemeClr val="tx1"/>
                </a:solidFill>
              </a:rPr>
              <a:t>損失によるエンコーダ学習</a:t>
            </a:r>
            <a:endParaRPr lang="en-US">
              <a:solidFill>
                <a:schemeClr val="tx1"/>
              </a:solidFill>
            </a:endParaRPr>
          </a:p>
        </p:txBody>
      </p:sp>
      <p:sp>
        <p:nvSpPr>
          <p:cNvPr id="5" name="Content Placeholder 132">
            <a:extLst>
              <a:ext uri="{FF2B5EF4-FFF2-40B4-BE49-F238E27FC236}">
                <a16:creationId xmlns:a16="http://schemas.microsoft.com/office/drawing/2014/main" id="{28993628-F6A2-2A9B-3216-8B1644D9D465}"/>
              </a:ext>
            </a:extLst>
          </p:cNvPr>
          <p:cNvSpPr txBox="1">
            <a:spLocks/>
          </p:cNvSpPr>
          <p:nvPr/>
        </p:nvSpPr>
        <p:spPr>
          <a:xfrm>
            <a:off x="845115" y="1596915"/>
            <a:ext cx="10508685" cy="454671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Clr>
                <a:schemeClr val="accent5"/>
              </a:buClr>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5">
                  <a:lumMod val="60000"/>
                  <a:lumOff val="40000"/>
                </a:schemeClr>
              </a:buClr>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5">
                  <a:lumMod val="75000"/>
                </a:schemeClr>
              </a:buClr>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5">
                  <a:lumMod val="50000"/>
                </a:schemeClr>
              </a:buClr>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5">
                  <a:lumMod val="50000"/>
                </a:schemeClr>
              </a:buClr>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Clr>
                <a:srgbClr val="4472C4"/>
              </a:buClr>
              <a:buNone/>
            </a:pPr>
            <a:r>
              <a:rPr lang="ja-JP" altLang="en-US">
                <a:ea typeface="+mn-lt"/>
                <a:cs typeface="+mn-lt"/>
              </a:rPr>
              <a:t>自動音声認識における</a:t>
            </a:r>
            <a:r>
              <a:rPr lang="en-US" altLang="ja-JP">
                <a:ea typeface="+mn-lt"/>
                <a:cs typeface="+mn-lt"/>
              </a:rPr>
              <a:t>LLM(Large Language Model)</a:t>
            </a:r>
            <a:r>
              <a:rPr lang="ja-JP" altLang="en-US">
                <a:ea typeface="+mn-lt"/>
                <a:cs typeface="+mn-lt"/>
              </a:rPr>
              <a:t>の活用</a:t>
            </a:r>
            <a:endParaRPr lang="en-US" altLang="ja-JP">
              <a:ea typeface="+mn-lt"/>
              <a:cs typeface="+mn-lt"/>
            </a:endParaRPr>
          </a:p>
          <a:p>
            <a:pPr marL="514350" indent="-514350">
              <a:buClr>
                <a:srgbClr val="4472C4"/>
              </a:buClr>
              <a:buAutoNum type="arabicPeriod"/>
            </a:pPr>
            <a:r>
              <a:rPr lang="ja-JP" altLang="en-US"/>
              <a:t>複数のエンコーダ内の層からコネクタ層へ入力</a:t>
            </a:r>
            <a:endParaRPr lang="en-US" altLang="ja-JP">
              <a:ea typeface="+mn-lt"/>
              <a:cs typeface="+mn-lt"/>
            </a:endParaRPr>
          </a:p>
        </p:txBody>
      </p:sp>
      <p:sp>
        <p:nvSpPr>
          <p:cNvPr id="3" name="スライド番号プレースホルダー 2">
            <a:extLst>
              <a:ext uri="{FF2B5EF4-FFF2-40B4-BE49-F238E27FC236}">
                <a16:creationId xmlns:a16="http://schemas.microsoft.com/office/drawing/2014/main" id="{F45E894A-7707-4E82-877C-CF6A724B61E8}"/>
              </a:ext>
            </a:extLst>
          </p:cNvPr>
          <p:cNvSpPr>
            <a:spLocks noGrp="1"/>
          </p:cNvSpPr>
          <p:nvPr>
            <p:ph type="sldNum" sz="quarter" idx="12"/>
          </p:nvPr>
        </p:nvSpPr>
        <p:spPr/>
        <p:txBody>
          <a:bodyPr/>
          <a:lstStyle/>
          <a:p>
            <a:fld id="{397E558F-9F61-480E-94CF-2C9CB5412042}" type="slidenum">
              <a:rPr lang="ja-JP" altLang="en-US" smtClean="0"/>
              <a:pPr/>
              <a:t>10</a:t>
            </a:fld>
            <a:endParaRPr lang="ja-JP" altLang="en-US"/>
          </a:p>
        </p:txBody>
      </p:sp>
    </p:spTree>
    <p:extLst>
      <p:ext uri="{BB962C8B-B14F-4D97-AF65-F5344CB8AC3E}">
        <p14:creationId xmlns:p14="http://schemas.microsoft.com/office/powerpoint/2010/main" val="29803344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61D734-C938-1E56-1E37-92B06600AAAD}"/>
            </a:ext>
          </a:extLst>
        </p:cNvPr>
        <p:cNvGrpSpPr/>
        <p:nvPr/>
      </p:nvGrpSpPr>
      <p:grpSpPr>
        <a:xfrm>
          <a:off x="0" y="0"/>
          <a:ext cx="0" cy="0"/>
          <a:chOff x="0" y="0"/>
          <a:chExt cx="0" cy="0"/>
        </a:xfrm>
      </p:grpSpPr>
      <p:pic>
        <p:nvPicPr>
          <p:cNvPr id="6146" name="Picture 2">
            <a:extLst>
              <a:ext uri="{FF2B5EF4-FFF2-40B4-BE49-F238E27FC236}">
                <a16:creationId xmlns:a16="http://schemas.microsoft.com/office/drawing/2014/main" id="{764AE171-902A-69D2-F438-41903821041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33851" y="2936309"/>
            <a:ext cx="4649118" cy="3420041"/>
          </a:xfrm>
          <a:prstGeom prst="rect">
            <a:avLst/>
          </a:prstGeom>
          <a:noFill/>
          <a:extLst>
            <a:ext uri="{909E8E84-426E-40DD-AFC4-6F175D3DCCD1}">
              <a14:hiddenFill xmlns:a14="http://schemas.microsoft.com/office/drawing/2010/main">
                <a:solidFill>
                  <a:srgbClr val="FFFFFF"/>
                </a:solidFill>
              </a14:hiddenFill>
            </a:ext>
          </a:extLst>
        </p:spPr>
      </p:pic>
      <p:sp>
        <p:nvSpPr>
          <p:cNvPr id="2" name="タイトル 1">
            <a:extLst>
              <a:ext uri="{FF2B5EF4-FFF2-40B4-BE49-F238E27FC236}">
                <a16:creationId xmlns:a16="http://schemas.microsoft.com/office/drawing/2014/main" id="{58600CD3-CF57-1560-FD36-63D458AF3E89}"/>
              </a:ext>
            </a:extLst>
          </p:cNvPr>
          <p:cNvSpPr>
            <a:spLocks noGrp="1"/>
          </p:cNvSpPr>
          <p:nvPr>
            <p:ph type="title"/>
          </p:nvPr>
        </p:nvSpPr>
        <p:spPr/>
        <p:txBody>
          <a:bodyPr>
            <a:normAutofit/>
          </a:bodyPr>
          <a:lstStyle/>
          <a:p>
            <a:pPr>
              <a:lnSpc>
                <a:spcPct val="100000"/>
              </a:lnSpc>
            </a:pPr>
            <a:r>
              <a:rPr kumimoji="1" lang="ja-JP" altLang="en-US" sz="3200">
                <a:ea typeface="游ゴシック Light"/>
              </a:rPr>
              <a:t>関連研究</a:t>
            </a:r>
            <a:br>
              <a:rPr kumimoji="1" lang="en-US" altLang="ja-JP"/>
            </a:br>
            <a:r>
              <a:rPr lang="en" altLang="ja-JP">
                <a:solidFill>
                  <a:schemeClr val="tx1"/>
                </a:solidFill>
              </a:rPr>
              <a:t>LLM</a:t>
            </a:r>
            <a:r>
              <a:rPr lang="ja-JP" altLang="en-US">
                <a:solidFill>
                  <a:schemeClr val="tx1"/>
                </a:solidFill>
              </a:rPr>
              <a:t>損失によるエンコーダ学習</a:t>
            </a:r>
            <a:endParaRPr lang="en-US">
              <a:solidFill>
                <a:schemeClr val="tx1"/>
              </a:solidFill>
            </a:endParaRPr>
          </a:p>
        </p:txBody>
      </p:sp>
      <p:sp>
        <p:nvSpPr>
          <p:cNvPr id="5" name="Content Placeholder 132">
            <a:extLst>
              <a:ext uri="{FF2B5EF4-FFF2-40B4-BE49-F238E27FC236}">
                <a16:creationId xmlns:a16="http://schemas.microsoft.com/office/drawing/2014/main" id="{38F30BDC-E970-5DC4-B490-BEADA745E96A}"/>
              </a:ext>
            </a:extLst>
          </p:cNvPr>
          <p:cNvSpPr txBox="1">
            <a:spLocks/>
          </p:cNvSpPr>
          <p:nvPr/>
        </p:nvSpPr>
        <p:spPr>
          <a:xfrm>
            <a:off x="845115" y="1596915"/>
            <a:ext cx="10508685" cy="454671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Clr>
                <a:schemeClr val="accent5"/>
              </a:buClr>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5">
                  <a:lumMod val="60000"/>
                  <a:lumOff val="40000"/>
                </a:schemeClr>
              </a:buClr>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5">
                  <a:lumMod val="75000"/>
                </a:schemeClr>
              </a:buClr>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5">
                  <a:lumMod val="50000"/>
                </a:schemeClr>
              </a:buClr>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5">
                  <a:lumMod val="50000"/>
                </a:schemeClr>
              </a:buClr>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Clr>
                <a:srgbClr val="4472C4"/>
              </a:buClr>
              <a:buNone/>
            </a:pPr>
            <a:r>
              <a:rPr lang="ja-JP" altLang="en-US">
                <a:ea typeface="+mn-lt"/>
                <a:cs typeface="+mn-lt"/>
              </a:rPr>
              <a:t>自動音声認識における</a:t>
            </a:r>
            <a:r>
              <a:rPr lang="en-US" altLang="ja-JP">
                <a:ea typeface="+mn-lt"/>
                <a:cs typeface="+mn-lt"/>
              </a:rPr>
              <a:t>LLM(Large Language Model)</a:t>
            </a:r>
            <a:r>
              <a:rPr lang="ja-JP" altLang="en-US">
                <a:ea typeface="+mn-lt"/>
                <a:cs typeface="+mn-lt"/>
              </a:rPr>
              <a:t>の活用</a:t>
            </a:r>
            <a:endParaRPr lang="en-US" altLang="ja-JP">
              <a:ea typeface="+mn-lt"/>
              <a:cs typeface="+mn-lt"/>
            </a:endParaRPr>
          </a:p>
          <a:p>
            <a:pPr marL="514350" indent="-514350">
              <a:buClr>
                <a:srgbClr val="4472C4"/>
              </a:buClr>
              <a:buAutoNum type="arabicPeriod"/>
            </a:pPr>
            <a:r>
              <a:rPr lang="ja-JP" altLang="en-US"/>
              <a:t>複数のエンコーダ内の層からコネクタ層へ入力</a:t>
            </a:r>
            <a:endParaRPr lang="en-US" altLang="ja-JP">
              <a:ea typeface="+mn-lt"/>
              <a:cs typeface="+mn-lt"/>
            </a:endParaRPr>
          </a:p>
          <a:p>
            <a:pPr marL="514350" indent="-514350">
              <a:buClr>
                <a:srgbClr val="4472C4"/>
              </a:buClr>
              <a:buAutoNum type="arabicPeriod"/>
            </a:pPr>
            <a:r>
              <a:rPr lang="ja-JP" altLang="en-US">
                <a:ea typeface="+mn-lt"/>
                <a:cs typeface="+mn-lt"/>
              </a:rPr>
              <a:t>各コネクタ層から</a:t>
            </a:r>
            <a:r>
              <a:rPr lang="en-US" altLang="ja-JP">
                <a:ea typeface="+mn-lt"/>
                <a:cs typeface="+mn-lt"/>
              </a:rPr>
              <a:t>LLM</a:t>
            </a:r>
            <a:r>
              <a:rPr lang="ja-JP" altLang="en-US">
                <a:ea typeface="+mn-lt"/>
                <a:cs typeface="+mn-lt"/>
              </a:rPr>
              <a:t>へ</a:t>
            </a:r>
            <a:endParaRPr lang="en-US" altLang="ja-JP">
              <a:ea typeface="+mn-lt"/>
              <a:cs typeface="+mn-lt"/>
            </a:endParaRPr>
          </a:p>
        </p:txBody>
      </p:sp>
      <p:sp>
        <p:nvSpPr>
          <p:cNvPr id="3" name="スライド番号プレースホルダー 2">
            <a:extLst>
              <a:ext uri="{FF2B5EF4-FFF2-40B4-BE49-F238E27FC236}">
                <a16:creationId xmlns:a16="http://schemas.microsoft.com/office/drawing/2014/main" id="{89ABD78B-5D4D-120F-EBE7-196835EA9F52}"/>
              </a:ext>
            </a:extLst>
          </p:cNvPr>
          <p:cNvSpPr>
            <a:spLocks noGrp="1"/>
          </p:cNvSpPr>
          <p:nvPr>
            <p:ph type="sldNum" sz="quarter" idx="12"/>
          </p:nvPr>
        </p:nvSpPr>
        <p:spPr/>
        <p:txBody>
          <a:bodyPr/>
          <a:lstStyle/>
          <a:p>
            <a:fld id="{397E558F-9F61-480E-94CF-2C9CB5412042}" type="slidenum">
              <a:rPr lang="ja-JP" altLang="en-US" smtClean="0"/>
              <a:pPr/>
              <a:t>11</a:t>
            </a:fld>
            <a:endParaRPr lang="ja-JP" altLang="en-US"/>
          </a:p>
        </p:txBody>
      </p:sp>
    </p:spTree>
    <p:extLst>
      <p:ext uri="{BB962C8B-B14F-4D97-AF65-F5344CB8AC3E}">
        <p14:creationId xmlns:p14="http://schemas.microsoft.com/office/powerpoint/2010/main" val="34261938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AA42D-009C-ECD9-80D3-5FBBE12C66F1}"/>
            </a:ext>
          </a:extLst>
        </p:cNvPr>
        <p:cNvGrpSpPr/>
        <p:nvPr/>
      </p:nvGrpSpPr>
      <p:grpSpPr>
        <a:xfrm>
          <a:off x="0" y="0"/>
          <a:ext cx="0" cy="0"/>
          <a:chOff x="0" y="0"/>
          <a:chExt cx="0" cy="0"/>
        </a:xfrm>
      </p:grpSpPr>
      <p:pic>
        <p:nvPicPr>
          <p:cNvPr id="4" name="Picture 2">
            <a:extLst>
              <a:ext uri="{FF2B5EF4-FFF2-40B4-BE49-F238E27FC236}">
                <a16:creationId xmlns:a16="http://schemas.microsoft.com/office/drawing/2014/main" id="{47543A8B-EF3A-FFB1-64B4-34344DE6324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33851" y="2936309"/>
            <a:ext cx="4649118" cy="3420041"/>
          </a:xfrm>
          <a:prstGeom prst="rect">
            <a:avLst/>
          </a:prstGeom>
          <a:noFill/>
          <a:extLst>
            <a:ext uri="{909E8E84-426E-40DD-AFC4-6F175D3DCCD1}">
              <a14:hiddenFill xmlns:a14="http://schemas.microsoft.com/office/drawing/2010/main">
                <a:solidFill>
                  <a:srgbClr val="FFFFFF"/>
                </a:solidFill>
              </a14:hiddenFill>
            </a:ext>
          </a:extLst>
        </p:spPr>
      </p:pic>
      <p:sp>
        <p:nvSpPr>
          <p:cNvPr id="2" name="タイトル 1">
            <a:extLst>
              <a:ext uri="{FF2B5EF4-FFF2-40B4-BE49-F238E27FC236}">
                <a16:creationId xmlns:a16="http://schemas.microsoft.com/office/drawing/2014/main" id="{6263BADB-2694-DDDD-3F38-8788B6CB8681}"/>
              </a:ext>
            </a:extLst>
          </p:cNvPr>
          <p:cNvSpPr>
            <a:spLocks noGrp="1"/>
          </p:cNvSpPr>
          <p:nvPr>
            <p:ph type="title"/>
          </p:nvPr>
        </p:nvSpPr>
        <p:spPr/>
        <p:txBody>
          <a:bodyPr>
            <a:normAutofit/>
          </a:bodyPr>
          <a:lstStyle/>
          <a:p>
            <a:pPr>
              <a:lnSpc>
                <a:spcPct val="100000"/>
              </a:lnSpc>
            </a:pPr>
            <a:r>
              <a:rPr kumimoji="1" lang="ja-JP" altLang="en-US" sz="3200">
                <a:ea typeface="游ゴシック Light"/>
              </a:rPr>
              <a:t>関連研究</a:t>
            </a:r>
            <a:br>
              <a:rPr kumimoji="1" lang="en-US" altLang="ja-JP"/>
            </a:br>
            <a:r>
              <a:rPr lang="en" altLang="ja-JP">
                <a:solidFill>
                  <a:schemeClr val="tx1"/>
                </a:solidFill>
              </a:rPr>
              <a:t>LLM</a:t>
            </a:r>
            <a:r>
              <a:rPr lang="ja-JP" altLang="en-US">
                <a:solidFill>
                  <a:schemeClr val="tx1"/>
                </a:solidFill>
              </a:rPr>
              <a:t>損失によるエンコーダ学習</a:t>
            </a:r>
            <a:endParaRPr lang="en-US">
              <a:solidFill>
                <a:schemeClr val="tx1"/>
              </a:solidFill>
            </a:endParaRPr>
          </a:p>
        </p:txBody>
      </p:sp>
      <p:sp>
        <p:nvSpPr>
          <p:cNvPr id="5" name="Content Placeholder 132">
            <a:extLst>
              <a:ext uri="{FF2B5EF4-FFF2-40B4-BE49-F238E27FC236}">
                <a16:creationId xmlns:a16="http://schemas.microsoft.com/office/drawing/2014/main" id="{010070C0-C7C2-C9AF-8108-7F9ECE663EE1}"/>
              </a:ext>
            </a:extLst>
          </p:cNvPr>
          <p:cNvSpPr txBox="1">
            <a:spLocks/>
          </p:cNvSpPr>
          <p:nvPr/>
        </p:nvSpPr>
        <p:spPr>
          <a:xfrm>
            <a:off x="845115" y="1596915"/>
            <a:ext cx="10508685" cy="454671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Clr>
                <a:schemeClr val="accent5"/>
              </a:buClr>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5">
                  <a:lumMod val="60000"/>
                  <a:lumOff val="40000"/>
                </a:schemeClr>
              </a:buClr>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5">
                  <a:lumMod val="75000"/>
                </a:schemeClr>
              </a:buClr>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5">
                  <a:lumMod val="50000"/>
                </a:schemeClr>
              </a:buClr>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5">
                  <a:lumMod val="50000"/>
                </a:schemeClr>
              </a:buClr>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Clr>
                <a:srgbClr val="4472C4"/>
              </a:buClr>
              <a:buNone/>
            </a:pPr>
            <a:r>
              <a:rPr lang="ja-JP" altLang="en-US">
                <a:ea typeface="+mn-lt"/>
                <a:cs typeface="+mn-lt"/>
              </a:rPr>
              <a:t>自動音声認識における</a:t>
            </a:r>
            <a:r>
              <a:rPr lang="en-US" altLang="ja-JP">
                <a:ea typeface="+mn-lt"/>
                <a:cs typeface="+mn-lt"/>
              </a:rPr>
              <a:t>LLM(Large Language Model)</a:t>
            </a:r>
            <a:r>
              <a:rPr lang="ja-JP" altLang="en-US">
                <a:ea typeface="+mn-lt"/>
                <a:cs typeface="+mn-lt"/>
              </a:rPr>
              <a:t>の活用</a:t>
            </a:r>
            <a:endParaRPr lang="en-US" altLang="ja-JP">
              <a:ea typeface="+mn-lt"/>
              <a:cs typeface="+mn-lt"/>
            </a:endParaRPr>
          </a:p>
          <a:p>
            <a:pPr marL="514350" indent="-514350">
              <a:buClr>
                <a:srgbClr val="4472C4"/>
              </a:buClr>
              <a:buAutoNum type="arabicPeriod"/>
            </a:pPr>
            <a:r>
              <a:rPr lang="ja-JP" altLang="en-US"/>
              <a:t>複数のエンコーダ内の層からコネクタ層へ入力</a:t>
            </a:r>
            <a:endParaRPr lang="en-US" altLang="ja-JP">
              <a:ea typeface="+mn-lt"/>
              <a:cs typeface="+mn-lt"/>
            </a:endParaRPr>
          </a:p>
          <a:p>
            <a:pPr marL="514350" indent="-514350">
              <a:buClr>
                <a:srgbClr val="4472C4"/>
              </a:buClr>
              <a:buAutoNum type="arabicPeriod"/>
            </a:pPr>
            <a:r>
              <a:rPr lang="ja-JP" altLang="en-US">
                <a:ea typeface="+mn-lt"/>
                <a:cs typeface="+mn-lt"/>
              </a:rPr>
              <a:t>各コネクタ層から</a:t>
            </a:r>
            <a:r>
              <a:rPr lang="en-US" altLang="ja-JP">
                <a:ea typeface="+mn-lt"/>
                <a:cs typeface="+mn-lt"/>
              </a:rPr>
              <a:t>LLM</a:t>
            </a:r>
            <a:r>
              <a:rPr lang="ja-JP" altLang="en-US">
                <a:ea typeface="+mn-lt"/>
                <a:cs typeface="+mn-lt"/>
              </a:rPr>
              <a:t>へ</a:t>
            </a:r>
            <a:endParaRPr lang="en-US" altLang="ja-JP">
              <a:ea typeface="+mn-lt"/>
              <a:cs typeface="+mn-lt"/>
            </a:endParaRPr>
          </a:p>
          <a:p>
            <a:pPr marL="514350" indent="-514350">
              <a:buClr>
                <a:srgbClr val="4472C4"/>
              </a:buClr>
              <a:buFont typeface="Arial" panose="020B0604020202020204" pitchFamily="34" charset="0"/>
              <a:buAutoNum type="arabicPeriod"/>
            </a:pPr>
            <a:r>
              <a:rPr lang="en-US" altLang="ja-JP">
                <a:ea typeface="+mn-lt"/>
                <a:cs typeface="+mn-lt"/>
              </a:rPr>
              <a:t>LLM</a:t>
            </a:r>
            <a:r>
              <a:rPr lang="ja-JP" altLang="en-US">
                <a:ea typeface="+mn-lt"/>
                <a:cs typeface="+mn-lt"/>
              </a:rPr>
              <a:t>から損失値を導出</a:t>
            </a:r>
            <a:endParaRPr lang="en-US" altLang="ja-JP"/>
          </a:p>
          <a:p>
            <a:pPr marL="0" indent="0">
              <a:buClr>
                <a:srgbClr val="4472C4"/>
              </a:buClr>
              <a:buNone/>
            </a:pPr>
            <a:endParaRPr lang="en-US" altLang="ja-JP">
              <a:ea typeface="+mn-lt"/>
              <a:cs typeface="+mn-lt"/>
            </a:endParaRPr>
          </a:p>
        </p:txBody>
      </p:sp>
      <p:sp>
        <p:nvSpPr>
          <p:cNvPr id="3" name="スライド番号プレースホルダー 2">
            <a:extLst>
              <a:ext uri="{FF2B5EF4-FFF2-40B4-BE49-F238E27FC236}">
                <a16:creationId xmlns:a16="http://schemas.microsoft.com/office/drawing/2014/main" id="{E8C0AAE9-ED6A-0683-1C66-00A9687CB549}"/>
              </a:ext>
            </a:extLst>
          </p:cNvPr>
          <p:cNvSpPr>
            <a:spLocks noGrp="1"/>
          </p:cNvSpPr>
          <p:nvPr>
            <p:ph type="sldNum" sz="quarter" idx="12"/>
          </p:nvPr>
        </p:nvSpPr>
        <p:spPr/>
        <p:txBody>
          <a:bodyPr/>
          <a:lstStyle/>
          <a:p>
            <a:fld id="{397E558F-9F61-480E-94CF-2C9CB5412042}" type="slidenum">
              <a:rPr lang="ja-JP" altLang="en-US" smtClean="0"/>
              <a:pPr/>
              <a:t>12</a:t>
            </a:fld>
            <a:endParaRPr lang="ja-JP" altLang="en-US"/>
          </a:p>
        </p:txBody>
      </p:sp>
    </p:spTree>
    <p:extLst>
      <p:ext uri="{BB962C8B-B14F-4D97-AF65-F5344CB8AC3E}">
        <p14:creationId xmlns:p14="http://schemas.microsoft.com/office/powerpoint/2010/main" val="6155027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1C63A9-FA07-D4E6-887B-ACD383208AF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4BF0997-9CBB-CB10-30AE-1C7ADF5623DE}"/>
              </a:ext>
            </a:extLst>
          </p:cNvPr>
          <p:cNvSpPr>
            <a:spLocks noGrp="1"/>
          </p:cNvSpPr>
          <p:nvPr>
            <p:ph type="title"/>
          </p:nvPr>
        </p:nvSpPr>
        <p:spPr/>
        <p:txBody>
          <a:bodyPr>
            <a:normAutofit/>
          </a:bodyPr>
          <a:lstStyle/>
          <a:p>
            <a:pPr>
              <a:lnSpc>
                <a:spcPct val="100000"/>
              </a:lnSpc>
            </a:pPr>
            <a:r>
              <a:rPr kumimoji="1" lang="ja-JP" altLang="en-US" sz="3200">
                <a:ea typeface="游ゴシック Light"/>
              </a:rPr>
              <a:t>関連研究</a:t>
            </a:r>
            <a:br>
              <a:rPr kumimoji="1" lang="en-US" altLang="ja-JP"/>
            </a:br>
            <a:r>
              <a:rPr lang="en" altLang="ja-JP">
                <a:solidFill>
                  <a:schemeClr val="tx1"/>
                </a:solidFill>
              </a:rPr>
              <a:t>LLM</a:t>
            </a:r>
            <a:r>
              <a:rPr lang="ja-JP" altLang="en-US">
                <a:solidFill>
                  <a:schemeClr val="tx1"/>
                </a:solidFill>
              </a:rPr>
              <a:t>損失によるエンコーダ学習</a:t>
            </a:r>
            <a:endParaRPr lang="en-US">
              <a:solidFill>
                <a:schemeClr val="tx1"/>
              </a:solidFill>
            </a:endParaRPr>
          </a:p>
        </p:txBody>
      </p:sp>
      <p:sp>
        <p:nvSpPr>
          <p:cNvPr id="5" name="Content Placeholder 132">
            <a:extLst>
              <a:ext uri="{FF2B5EF4-FFF2-40B4-BE49-F238E27FC236}">
                <a16:creationId xmlns:a16="http://schemas.microsoft.com/office/drawing/2014/main" id="{F0A7EB17-C665-704E-BF19-EFF0AFA8B140}"/>
              </a:ext>
            </a:extLst>
          </p:cNvPr>
          <p:cNvSpPr txBox="1">
            <a:spLocks/>
          </p:cNvSpPr>
          <p:nvPr/>
        </p:nvSpPr>
        <p:spPr>
          <a:xfrm>
            <a:off x="845115" y="1596915"/>
            <a:ext cx="10508685" cy="454671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Clr>
                <a:schemeClr val="accent5"/>
              </a:buClr>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5">
                  <a:lumMod val="60000"/>
                  <a:lumOff val="40000"/>
                </a:schemeClr>
              </a:buClr>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5">
                  <a:lumMod val="75000"/>
                </a:schemeClr>
              </a:buClr>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5">
                  <a:lumMod val="50000"/>
                </a:schemeClr>
              </a:buClr>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5">
                  <a:lumMod val="50000"/>
                </a:schemeClr>
              </a:buClr>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Clr>
                <a:srgbClr val="4472C4"/>
              </a:buClr>
              <a:buNone/>
            </a:pPr>
            <a:r>
              <a:rPr lang="ja-JP" altLang="en-US">
                <a:ea typeface="+mn-lt"/>
                <a:cs typeface="+mn-lt"/>
              </a:rPr>
              <a:t>自動音声認識における</a:t>
            </a:r>
            <a:r>
              <a:rPr lang="en-US" altLang="ja-JP">
                <a:ea typeface="+mn-lt"/>
                <a:cs typeface="+mn-lt"/>
              </a:rPr>
              <a:t>LLM(Large Language Model)</a:t>
            </a:r>
            <a:r>
              <a:rPr lang="ja-JP" altLang="en-US">
                <a:ea typeface="+mn-lt"/>
                <a:cs typeface="+mn-lt"/>
              </a:rPr>
              <a:t>の活用</a:t>
            </a:r>
            <a:endParaRPr lang="en-US" altLang="ja-JP">
              <a:ea typeface="+mn-lt"/>
              <a:cs typeface="+mn-lt"/>
            </a:endParaRPr>
          </a:p>
          <a:p>
            <a:pPr marL="514350" indent="-514350">
              <a:buClr>
                <a:srgbClr val="4472C4"/>
              </a:buClr>
              <a:buAutoNum type="arabicPeriod"/>
            </a:pPr>
            <a:r>
              <a:rPr lang="ja-JP" altLang="en-US"/>
              <a:t>複数のエンコーダ内の層からコネクタ層へ入力</a:t>
            </a:r>
            <a:endParaRPr lang="en-US" altLang="ja-JP">
              <a:ea typeface="+mn-lt"/>
              <a:cs typeface="+mn-lt"/>
            </a:endParaRPr>
          </a:p>
          <a:p>
            <a:pPr marL="514350" indent="-514350">
              <a:buClr>
                <a:srgbClr val="4472C4"/>
              </a:buClr>
              <a:buAutoNum type="arabicPeriod"/>
            </a:pPr>
            <a:r>
              <a:rPr lang="ja-JP" altLang="en-US">
                <a:ea typeface="+mn-lt"/>
                <a:cs typeface="+mn-lt"/>
              </a:rPr>
              <a:t>各コネクタ層から</a:t>
            </a:r>
            <a:r>
              <a:rPr lang="en-US" altLang="ja-JP">
                <a:ea typeface="+mn-lt"/>
                <a:cs typeface="+mn-lt"/>
              </a:rPr>
              <a:t>LLM</a:t>
            </a:r>
            <a:r>
              <a:rPr lang="ja-JP" altLang="en-US">
                <a:ea typeface="+mn-lt"/>
                <a:cs typeface="+mn-lt"/>
              </a:rPr>
              <a:t>へ</a:t>
            </a:r>
            <a:endParaRPr lang="en-US" altLang="ja-JP">
              <a:ea typeface="+mn-lt"/>
              <a:cs typeface="+mn-lt"/>
            </a:endParaRPr>
          </a:p>
          <a:p>
            <a:pPr marL="514350" indent="-514350">
              <a:buClr>
                <a:srgbClr val="4472C4"/>
              </a:buClr>
              <a:buFont typeface="Arial" panose="020B0604020202020204" pitchFamily="34" charset="0"/>
              <a:buAutoNum type="arabicPeriod"/>
            </a:pPr>
            <a:r>
              <a:rPr lang="en-US" altLang="ja-JP">
                <a:ea typeface="+mn-lt"/>
                <a:cs typeface="+mn-lt"/>
              </a:rPr>
              <a:t>LLM</a:t>
            </a:r>
            <a:r>
              <a:rPr lang="ja-JP" altLang="en-US">
                <a:ea typeface="+mn-lt"/>
                <a:cs typeface="+mn-lt"/>
              </a:rPr>
              <a:t>から損失値を導出</a:t>
            </a:r>
            <a:endParaRPr lang="en-US" altLang="ja-JP"/>
          </a:p>
          <a:p>
            <a:pPr marL="0" indent="0">
              <a:buClr>
                <a:srgbClr val="4472C4"/>
              </a:buClr>
              <a:buNone/>
            </a:pPr>
            <a:endParaRPr lang="en-US" altLang="ja-JP">
              <a:ea typeface="+mn-lt"/>
              <a:cs typeface="+mn-lt"/>
            </a:endParaRPr>
          </a:p>
          <a:p>
            <a:pPr marL="0" indent="0">
              <a:buClr>
                <a:srgbClr val="4472C4"/>
              </a:buClr>
              <a:buNone/>
            </a:pPr>
            <a:r>
              <a:rPr lang="ja-JP" altLang="en-US">
                <a:ea typeface="+mn-lt"/>
                <a:cs typeface="+mn-lt"/>
              </a:rPr>
              <a:t>→エンコーダで</a:t>
            </a:r>
            <a:r>
              <a:rPr lang="ja-JP" altLang="en-US" b="1">
                <a:solidFill>
                  <a:srgbClr val="FF0000"/>
                </a:solidFill>
                <a:ea typeface="+mn-lt"/>
                <a:cs typeface="+mn-lt"/>
              </a:rPr>
              <a:t>言語特徴</a:t>
            </a:r>
            <a:r>
              <a:rPr lang="ja-JP" altLang="en-US">
                <a:ea typeface="+mn-lt"/>
                <a:cs typeface="+mn-lt"/>
              </a:rPr>
              <a:t>を獲得</a:t>
            </a:r>
            <a:endParaRPr lang="en-US" altLang="ja-JP">
              <a:ea typeface="+mn-lt"/>
              <a:cs typeface="+mn-lt"/>
            </a:endParaRPr>
          </a:p>
        </p:txBody>
      </p:sp>
      <p:sp>
        <p:nvSpPr>
          <p:cNvPr id="3" name="スライド番号プレースホルダー 2">
            <a:extLst>
              <a:ext uri="{FF2B5EF4-FFF2-40B4-BE49-F238E27FC236}">
                <a16:creationId xmlns:a16="http://schemas.microsoft.com/office/drawing/2014/main" id="{BA8E1E58-F6A3-75A4-1430-B6BAF6D12626}"/>
              </a:ext>
            </a:extLst>
          </p:cNvPr>
          <p:cNvSpPr>
            <a:spLocks noGrp="1"/>
          </p:cNvSpPr>
          <p:nvPr>
            <p:ph type="sldNum" sz="quarter" idx="12"/>
          </p:nvPr>
        </p:nvSpPr>
        <p:spPr/>
        <p:txBody>
          <a:bodyPr/>
          <a:lstStyle/>
          <a:p>
            <a:fld id="{397E558F-9F61-480E-94CF-2C9CB5412042}" type="slidenum">
              <a:rPr lang="ja-JP" altLang="en-US" smtClean="0"/>
              <a:pPr/>
              <a:t>13</a:t>
            </a:fld>
            <a:endParaRPr lang="ja-JP" altLang="en-US"/>
          </a:p>
        </p:txBody>
      </p:sp>
      <p:pic>
        <p:nvPicPr>
          <p:cNvPr id="3074" name="Picture 2">
            <a:extLst>
              <a:ext uri="{FF2B5EF4-FFF2-40B4-BE49-F238E27FC236}">
                <a16:creationId xmlns:a16="http://schemas.microsoft.com/office/drawing/2014/main" id="{D31CD05A-E199-D720-82A2-0F4D2662AB7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33851" y="2936309"/>
            <a:ext cx="4649117" cy="34200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30571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BAC61-958B-E6C0-3430-334CC1F1305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9266B2A-C8C4-A90C-926B-FB969F8CC359}"/>
              </a:ext>
            </a:extLst>
          </p:cNvPr>
          <p:cNvSpPr>
            <a:spLocks noGrp="1"/>
          </p:cNvSpPr>
          <p:nvPr>
            <p:ph type="title"/>
          </p:nvPr>
        </p:nvSpPr>
        <p:spPr/>
        <p:txBody>
          <a:bodyPr>
            <a:normAutofit/>
          </a:bodyPr>
          <a:lstStyle/>
          <a:p>
            <a:pPr>
              <a:lnSpc>
                <a:spcPct val="100000"/>
              </a:lnSpc>
            </a:pPr>
            <a:r>
              <a:rPr kumimoji="1" lang="ja-JP" altLang="en-US" sz="3200">
                <a:ea typeface="游ゴシック Light"/>
              </a:rPr>
              <a:t>関連研究</a:t>
            </a:r>
            <a:br>
              <a:rPr kumimoji="1" lang="en-US" altLang="ja-JP"/>
            </a:br>
            <a:r>
              <a:rPr lang="en" altLang="ja-JP">
                <a:solidFill>
                  <a:schemeClr val="tx1"/>
                </a:solidFill>
              </a:rPr>
              <a:t>LLM</a:t>
            </a:r>
            <a:r>
              <a:rPr lang="ja-JP" altLang="en-US">
                <a:solidFill>
                  <a:schemeClr val="tx1"/>
                </a:solidFill>
              </a:rPr>
              <a:t>損失によるエンコーダ学習</a:t>
            </a:r>
            <a:endParaRPr lang="en-US">
              <a:solidFill>
                <a:schemeClr val="tx1"/>
              </a:solidFill>
            </a:endParaRPr>
          </a:p>
        </p:txBody>
      </p:sp>
      <p:sp>
        <p:nvSpPr>
          <p:cNvPr id="5" name="Content Placeholder 132">
            <a:extLst>
              <a:ext uri="{FF2B5EF4-FFF2-40B4-BE49-F238E27FC236}">
                <a16:creationId xmlns:a16="http://schemas.microsoft.com/office/drawing/2014/main" id="{176EE6ED-EBF1-15C2-E608-AF460D078652}"/>
              </a:ext>
            </a:extLst>
          </p:cNvPr>
          <p:cNvSpPr txBox="1">
            <a:spLocks/>
          </p:cNvSpPr>
          <p:nvPr/>
        </p:nvSpPr>
        <p:spPr>
          <a:xfrm>
            <a:off x="845115" y="1596915"/>
            <a:ext cx="10508685" cy="454671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Clr>
                <a:schemeClr val="accent5"/>
              </a:buClr>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5">
                  <a:lumMod val="60000"/>
                  <a:lumOff val="40000"/>
                </a:schemeClr>
              </a:buClr>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5">
                  <a:lumMod val="75000"/>
                </a:schemeClr>
              </a:buClr>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5">
                  <a:lumMod val="50000"/>
                </a:schemeClr>
              </a:buClr>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5">
                  <a:lumMod val="50000"/>
                </a:schemeClr>
              </a:buClr>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Clr>
                <a:srgbClr val="4472C4"/>
              </a:buClr>
              <a:buNone/>
            </a:pPr>
            <a:r>
              <a:rPr lang="ja-JP" altLang="en-US">
                <a:ea typeface="+mn-lt"/>
                <a:cs typeface="+mn-lt"/>
              </a:rPr>
              <a:t>自動音声認識における</a:t>
            </a:r>
            <a:r>
              <a:rPr lang="en-US" altLang="ja-JP">
                <a:ea typeface="+mn-lt"/>
                <a:cs typeface="+mn-lt"/>
              </a:rPr>
              <a:t>LLM(Large Language Model)</a:t>
            </a:r>
            <a:r>
              <a:rPr lang="ja-JP" altLang="en-US">
                <a:ea typeface="+mn-lt"/>
                <a:cs typeface="+mn-lt"/>
              </a:rPr>
              <a:t>の活用</a:t>
            </a:r>
            <a:endParaRPr lang="en-US" altLang="ja-JP">
              <a:ea typeface="+mn-lt"/>
              <a:cs typeface="+mn-lt"/>
            </a:endParaRPr>
          </a:p>
          <a:p>
            <a:pPr marL="514350" indent="-514350">
              <a:buClr>
                <a:srgbClr val="4472C4"/>
              </a:buClr>
              <a:buAutoNum type="arabicPeriod"/>
            </a:pPr>
            <a:r>
              <a:rPr lang="ja-JP" altLang="en-US"/>
              <a:t>複数のエンコーダ内の層からコネクタ層へ入力</a:t>
            </a:r>
            <a:endParaRPr lang="en-US" altLang="ja-JP">
              <a:ea typeface="+mn-lt"/>
              <a:cs typeface="+mn-lt"/>
            </a:endParaRPr>
          </a:p>
          <a:p>
            <a:pPr marL="514350" indent="-514350">
              <a:buClr>
                <a:srgbClr val="4472C4"/>
              </a:buClr>
              <a:buAutoNum type="arabicPeriod"/>
            </a:pPr>
            <a:r>
              <a:rPr lang="ja-JP" altLang="en-US">
                <a:ea typeface="+mn-lt"/>
                <a:cs typeface="+mn-lt"/>
              </a:rPr>
              <a:t>各コネクタ層から</a:t>
            </a:r>
            <a:r>
              <a:rPr lang="en-US" altLang="ja-JP">
                <a:ea typeface="+mn-lt"/>
                <a:cs typeface="+mn-lt"/>
              </a:rPr>
              <a:t>LLM</a:t>
            </a:r>
            <a:r>
              <a:rPr lang="ja-JP" altLang="en-US">
                <a:ea typeface="+mn-lt"/>
                <a:cs typeface="+mn-lt"/>
              </a:rPr>
              <a:t>へ</a:t>
            </a:r>
            <a:endParaRPr lang="en-US" altLang="ja-JP">
              <a:ea typeface="+mn-lt"/>
              <a:cs typeface="+mn-lt"/>
            </a:endParaRPr>
          </a:p>
          <a:p>
            <a:pPr marL="514350" indent="-514350">
              <a:buClr>
                <a:srgbClr val="4472C4"/>
              </a:buClr>
              <a:buFont typeface="Arial" panose="020B0604020202020204" pitchFamily="34" charset="0"/>
              <a:buAutoNum type="arabicPeriod"/>
            </a:pPr>
            <a:r>
              <a:rPr lang="en-US" altLang="ja-JP">
                <a:ea typeface="+mn-lt"/>
                <a:cs typeface="+mn-lt"/>
              </a:rPr>
              <a:t>LLM</a:t>
            </a:r>
            <a:r>
              <a:rPr lang="ja-JP" altLang="en-US">
                <a:ea typeface="+mn-lt"/>
                <a:cs typeface="+mn-lt"/>
              </a:rPr>
              <a:t>から損失値を導出</a:t>
            </a:r>
            <a:endParaRPr lang="en-US" altLang="ja-JP"/>
          </a:p>
          <a:p>
            <a:pPr marL="0" indent="0">
              <a:buClr>
                <a:srgbClr val="4472C4"/>
              </a:buClr>
              <a:buNone/>
            </a:pPr>
            <a:endParaRPr lang="en-US" altLang="ja-JP">
              <a:ea typeface="+mn-lt"/>
              <a:cs typeface="+mn-lt"/>
            </a:endParaRPr>
          </a:p>
          <a:p>
            <a:pPr marL="0" indent="0">
              <a:buClr>
                <a:srgbClr val="4472C4"/>
              </a:buClr>
              <a:buNone/>
            </a:pPr>
            <a:r>
              <a:rPr lang="ja-JP" altLang="en-US">
                <a:ea typeface="+mn-lt"/>
                <a:cs typeface="+mn-lt"/>
              </a:rPr>
              <a:t>→この</a:t>
            </a:r>
            <a:r>
              <a:rPr lang="ja-JP" altLang="en-US" sz="3200" b="1">
                <a:solidFill>
                  <a:srgbClr val="FF0000"/>
                </a:solidFill>
                <a:ea typeface="+mn-lt"/>
                <a:cs typeface="+mn-lt"/>
              </a:rPr>
              <a:t>学習の枠組み</a:t>
            </a:r>
            <a:r>
              <a:rPr lang="ja-JP" altLang="en-US">
                <a:ea typeface="+mn-lt"/>
                <a:cs typeface="+mn-lt"/>
              </a:rPr>
              <a:t>を導入する</a:t>
            </a:r>
            <a:endParaRPr lang="en-US" altLang="ja-JP">
              <a:ea typeface="+mn-lt"/>
              <a:cs typeface="+mn-lt"/>
            </a:endParaRPr>
          </a:p>
        </p:txBody>
      </p:sp>
      <p:sp>
        <p:nvSpPr>
          <p:cNvPr id="3" name="スライド番号プレースホルダー 2">
            <a:extLst>
              <a:ext uri="{FF2B5EF4-FFF2-40B4-BE49-F238E27FC236}">
                <a16:creationId xmlns:a16="http://schemas.microsoft.com/office/drawing/2014/main" id="{F7A65C1D-DBE5-E94D-E748-D96342C163EF}"/>
              </a:ext>
            </a:extLst>
          </p:cNvPr>
          <p:cNvSpPr>
            <a:spLocks noGrp="1"/>
          </p:cNvSpPr>
          <p:nvPr>
            <p:ph type="sldNum" sz="quarter" idx="12"/>
          </p:nvPr>
        </p:nvSpPr>
        <p:spPr/>
        <p:txBody>
          <a:bodyPr/>
          <a:lstStyle/>
          <a:p>
            <a:fld id="{397E558F-9F61-480E-94CF-2C9CB5412042}" type="slidenum">
              <a:rPr lang="ja-JP" altLang="en-US" smtClean="0"/>
              <a:pPr/>
              <a:t>14</a:t>
            </a:fld>
            <a:endParaRPr lang="ja-JP" altLang="en-US"/>
          </a:p>
        </p:txBody>
      </p:sp>
      <p:pic>
        <p:nvPicPr>
          <p:cNvPr id="3074" name="Picture 2">
            <a:extLst>
              <a:ext uri="{FF2B5EF4-FFF2-40B4-BE49-F238E27FC236}">
                <a16:creationId xmlns:a16="http://schemas.microsoft.com/office/drawing/2014/main" id="{E18BD733-CCD0-67EF-9236-590061F34F3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33851" y="2936309"/>
            <a:ext cx="4649117" cy="34200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9840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FF8B9-FA67-B994-88F1-ABA95133546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9E3364B-F24B-7E38-211B-3945ED99F460}"/>
              </a:ext>
            </a:extLst>
          </p:cNvPr>
          <p:cNvSpPr>
            <a:spLocks noGrp="1"/>
          </p:cNvSpPr>
          <p:nvPr>
            <p:ph type="title"/>
          </p:nvPr>
        </p:nvSpPr>
        <p:spPr/>
        <p:txBody>
          <a:bodyPr>
            <a:normAutofit/>
          </a:bodyPr>
          <a:lstStyle/>
          <a:p>
            <a:pPr>
              <a:lnSpc>
                <a:spcPct val="100000"/>
              </a:lnSpc>
            </a:pPr>
            <a:r>
              <a:rPr lang="ja-JP" altLang="en-US" sz="3200">
                <a:ea typeface="游ゴシック"/>
              </a:rPr>
              <a:t>エンコーダへの言語特徴付与</a:t>
            </a:r>
            <a:br>
              <a:rPr kumimoji="1" lang="en-US" altLang="ja-JP"/>
            </a:br>
            <a:r>
              <a:rPr lang="en-US" altLang="ja-JP">
                <a:solidFill>
                  <a:schemeClr val="tx1"/>
                </a:solidFill>
              </a:rPr>
              <a:t>Model </a:t>
            </a:r>
            <a:r>
              <a:rPr lang="en-US" altLang="ja-JP">
                <a:solidFill>
                  <a:schemeClr val="tx1"/>
                </a:solidFill>
                <a:ea typeface="游ゴシック Light"/>
              </a:rPr>
              <a:t>Architecture</a:t>
            </a:r>
            <a:endParaRPr lang="en-US">
              <a:solidFill>
                <a:schemeClr val="tx1"/>
              </a:solidFill>
            </a:endParaRPr>
          </a:p>
        </p:txBody>
      </p:sp>
      <p:sp>
        <p:nvSpPr>
          <p:cNvPr id="5" name="Content Placeholder 132">
            <a:extLst>
              <a:ext uri="{FF2B5EF4-FFF2-40B4-BE49-F238E27FC236}">
                <a16:creationId xmlns:a16="http://schemas.microsoft.com/office/drawing/2014/main" id="{108D4A94-57C9-D969-5989-B58C46D8AB23}"/>
              </a:ext>
            </a:extLst>
          </p:cNvPr>
          <p:cNvSpPr txBox="1">
            <a:spLocks/>
          </p:cNvSpPr>
          <p:nvPr/>
        </p:nvSpPr>
        <p:spPr>
          <a:xfrm>
            <a:off x="845115" y="1596915"/>
            <a:ext cx="10515600" cy="1219762"/>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Clr>
                <a:schemeClr val="accent5"/>
              </a:buClr>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5">
                  <a:lumMod val="60000"/>
                  <a:lumOff val="40000"/>
                </a:schemeClr>
              </a:buClr>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5">
                  <a:lumMod val="75000"/>
                </a:schemeClr>
              </a:buClr>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5">
                  <a:lumMod val="50000"/>
                </a:schemeClr>
              </a:buClr>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5">
                  <a:lumMod val="50000"/>
                </a:schemeClr>
              </a:buClr>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indent="0">
              <a:spcBef>
                <a:spcPts val="1000"/>
              </a:spcBef>
              <a:buNone/>
            </a:pPr>
            <a:r>
              <a:rPr lang="ja-JP" altLang="en-US" sz="2800"/>
              <a:t>エンコーダに</a:t>
            </a:r>
            <a:r>
              <a:rPr lang="ja-JP" altLang="ja-JP" sz="2800" b="1">
                <a:solidFill>
                  <a:schemeClr val="accent5">
                    <a:lumMod val="75000"/>
                  </a:schemeClr>
                </a:solidFill>
              </a:rPr>
              <a:t>視覚特徴</a:t>
            </a:r>
            <a:r>
              <a:rPr lang="ja-JP" altLang="en-US" sz="2800"/>
              <a:t>・</a:t>
            </a:r>
            <a:r>
              <a:rPr lang="ja-JP" altLang="en-US" sz="2800" b="1">
                <a:solidFill>
                  <a:srgbClr val="FF0000"/>
                </a:solidFill>
              </a:rPr>
              <a:t>言語特徴</a:t>
            </a:r>
            <a:r>
              <a:rPr lang="ja-JP" altLang="en-US" sz="2800"/>
              <a:t>の付与</a:t>
            </a:r>
            <a:endParaRPr lang="en-US" altLang="ja-JP" sz="2800"/>
          </a:p>
          <a:p>
            <a:pPr marL="0" lvl="1" indent="0">
              <a:spcBef>
                <a:spcPts val="1000"/>
              </a:spcBef>
              <a:buNone/>
            </a:pPr>
            <a:endParaRPr lang="ja-JP" altLang="en-US">
              <a:ea typeface="游ゴシック"/>
            </a:endParaRPr>
          </a:p>
        </p:txBody>
      </p:sp>
      <p:sp>
        <p:nvSpPr>
          <p:cNvPr id="3" name="スライド番号プレースホルダー 2">
            <a:extLst>
              <a:ext uri="{FF2B5EF4-FFF2-40B4-BE49-F238E27FC236}">
                <a16:creationId xmlns:a16="http://schemas.microsoft.com/office/drawing/2014/main" id="{0E2100F0-2357-0307-5276-F93CC5A03683}"/>
              </a:ext>
            </a:extLst>
          </p:cNvPr>
          <p:cNvSpPr>
            <a:spLocks noGrp="1"/>
          </p:cNvSpPr>
          <p:nvPr>
            <p:ph type="sldNum" sz="quarter" idx="12"/>
          </p:nvPr>
        </p:nvSpPr>
        <p:spPr/>
        <p:txBody>
          <a:bodyPr/>
          <a:lstStyle/>
          <a:p>
            <a:fld id="{397E558F-9F61-480E-94CF-2C9CB5412042}" type="slidenum">
              <a:rPr lang="ja-JP" altLang="en-US" smtClean="0"/>
              <a:pPr/>
              <a:t>15</a:t>
            </a:fld>
            <a:endParaRPr lang="ja-JP" altLang="en-US"/>
          </a:p>
        </p:txBody>
      </p:sp>
    </p:spTree>
    <p:extLst>
      <p:ext uri="{BB962C8B-B14F-4D97-AF65-F5344CB8AC3E}">
        <p14:creationId xmlns:p14="http://schemas.microsoft.com/office/powerpoint/2010/main" val="42176122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2ABF5-6222-0D47-2F3B-A37EE41B861D}"/>
            </a:ext>
          </a:extLst>
        </p:cNvPr>
        <p:cNvGrpSpPr/>
        <p:nvPr/>
      </p:nvGrpSpPr>
      <p:grpSpPr>
        <a:xfrm>
          <a:off x="0" y="0"/>
          <a:ext cx="0" cy="0"/>
          <a:chOff x="0" y="0"/>
          <a:chExt cx="0" cy="0"/>
        </a:xfrm>
      </p:grpSpPr>
      <p:sp>
        <p:nvSpPr>
          <p:cNvPr id="5" name="Content Placeholder 132">
            <a:extLst>
              <a:ext uri="{FF2B5EF4-FFF2-40B4-BE49-F238E27FC236}">
                <a16:creationId xmlns:a16="http://schemas.microsoft.com/office/drawing/2014/main" id="{7DA4E5A6-0A31-5C53-27FD-A5210C0E26F2}"/>
              </a:ext>
            </a:extLst>
          </p:cNvPr>
          <p:cNvSpPr txBox="1">
            <a:spLocks/>
          </p:cNvSpPr>
          <p:nvPr/>
        </p:nvSpPr>
        <p:spPr>
          <a:xfrm>
            <a:off x="845115" y="1596914"/>
            <a:ext cx="10515600" cy="526108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Clr>
                <a:schemeClr val="accent5"/>
              </a:buClr>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5">
                  <a:lumMod val="60000"/>
                  <a:lumOff val="40000"/>
                </a:schemeClr>
              </a:buClr>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5">
                  <a:lumMod val="75000"/>
                </a:schemeClr>
              </a:buClr>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5">
                  <a:lumMod val="50000"/>
                </a:schemeClr>
              </a:buClr>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5">
                  <a:lumMod val="50000"/>
                </a:schemeClr>
              </a:buClr>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indent="0">
              <a:spcBef>
                <a:spcPts val="1000"/>
              </a:spcBef>
              <a:buNone/>
            </a:pPr>
            <a:r>
              <a:rPr lang="ja-JP" altLang="en-US" sz="2800"/>
              <a:t>エンコーダに</a:t>
            </a:r>
            <a:r>
              <a:rPr lang="ja-JP" altLang="ja-JP" sz="2800" b="1">
                <a:solidFill>
                  <a:schemeClr val="accent5">
                    <a:lumMod val="75000"/>
                  </a:schemeClr>
                </a:solidFill>
              </a:rPr>
              <a:t>視覚特徴</a:t>
            </a:r>
            <a:r>
              <a:rPr lang="ja-JP" altLang="en-US" sz="2800"/>
              <a:t>・</a:t>
            </a:r>
            <a:r>
              <a:rPr lang="ja-JP" altLang="en-US" sz="2800" b="1">
                <a:solidFill>
                  <a:srgbClr val="FF0000"/>
                </a:solidFill>
              </a:rPr>
              <a:t>言語特徴</a:t>
            </a:r>
            <a:r>
              <a:rPr lang="ja-JP" altLang="en-US" sz="2800"/>
              <a:t>の付与</a:t>
            </a:r>
            <a:endParaRPr lang="en-US" altLang="ja-JP" sz="2800"/>
          </a:p>
          <a:p>
            <a:pPr marL="0" lvl="1" indent="0">
              <a:spcBef>
                <a:spcPts val="1000"/>
              </a:spcBef>
              <a:buNone/>
            </a:pPr>
            <a:endParaRPr lang="en-US" altLang="ja-JP" sz="2800"/>
          </a:p>
          <a:p>
            <a:pPr marL="0" lvl="1" indent="0">
              <a:spcBef>
                <a:spcPts val="1000"/>
              </a:spcBef>
              <a:buNone/>
            </a:pPr>
            <a:endParaRPr lang="en-US" altLang="ja-JP" sz="2800"/>
          </a:p>
          <a:p>
            <a:pPr marL="0" lvl="1" indent="0">
              <a:spcBef>
                <a:spcPts val="1000"/>
              </a:spcBef>
              <a:buNone/>
            </a:pPr>
            <a:endParaRPr lang="en-US" altLang="ja-JP" sz="2800"/>
          </a:p>
          <a:p>
            <a:pPr marL="0" lvl="1" indent="0">
              <a:spcBef>
                <a:spcPts val="1000"/>
              </a:spcBef>
              <a:buNone/>
            </a:pPr>
            <a:endParaRPr lang="en-US" altLang="ja-JP" sz="2800"/>
          </a:p>
          <a:p>
            <a:pPr marL="0" lvl="1" indent="0">
              <a:spcBef>
                <a:spcPts val="1000"/>
              </a:spcBef>
              <a:buNone/>
            </a:pPr>
            <a:endParaRPr lang="en-US" altLang="ja-JP" sz="2800"/>
          </a:p>
          <a:p>
            <a:pPr marL="0" lvl="1" indent="0">
              <a:spcBef>
                <a:spcPts val="1000"/>
              </a:spcBef>
              <a:buNone/>
            </a:pPr>
            <a:endParaRPr lang="en-US" altLang="ja-JP" sz="2800"/>
          </a:p>
          <a:p>
            <a:pPr marL="0" lvl="1" indent="0">
              <a:spcBef>
                <a:spcPts val="1000"/>
              </a:spcBef>
              <a:buNone/>
            </a:pPr>
            <a:endParaRPr lang="en-US" altLang="ja-JP" sz="2800"/>
          </a:p>
          <a:p>
            <a:pPr marL="0" indent="0">
              <a:buNone/>
            </a:pPr>
            <a:endParaRPr lang="ja-JP" altLang="en-US">
              <a:ea typeface="游ゴシック"/>
            </a:endParaRPr>
          </a:p>
        </p:txBody>
      </p:sp>
      <p:sp>
        <p:nvSpPr>
          <p:cNvPr id="2" name="タイトル 1">
            <a:extLst>
              <a:ext uri="{FF2B5EF4-FFF2-40B4-BE49-F238E27FC236}">
                <a16:creationId xmlns:a16="http://schemas.microsoft.com/office/drawing/2014/main" id="{E5B05294-E18F-3579-CD03-24E1F828F010}"/>
              </a:ext>
            </a:extLst>
          </p:cNvPr>
          <p:cNvSpPr>
            <a:spLocks noGrp="1"/>
          </p:cNvSpPr>
          <p:nvPr>
            <p:ph type="title"/>
          </p:nvPr>
        </p:nvSpPr>
        <p:spPr/>
        <p:txBody>
          <a:bodyPr>
            <a:normAutofit/>
          </a:bodyPr>
          <a:lstStyle/>
          <a:p>
            <a:pPr>
              <a:lnSpc>
                <a:spcPct val="100000"/>
              </a:lnSpc>
            </a:pPr>
            <a:r>
              <a:rPr lang="ja-JP" altLang="en-US" sz="3200">
                <a:ea typeface="游ゴシック"/>
              </a:rPr>
              <a:t>エンコーダへの言語特徴付与</a:t>
            </a:r>
            <a:br>
              <a:rPr kumimoji="1" lang="en-US" altLang="ja-JP"/>
            </a:br>
            <a:r>
              <a:rPr lang="en-US" altLang="ja-JP">
                <a:solidFill>
                  <a:schemeClr val="tx1"/>
                </a:solidFill>
              </a:rPr>
              <a:t>Model </a:t>
            </a:r>
            <a:r>
              <a:rPr lang="en-US" altLang="ja-JP">
                <a:solidFill>
                  <a:schemeClr val="tx1"/>
                </a:solidFill>
                <a:ea typeface="游ゴシック Light"/>
              </a:rPr>
              <a:t>Architecture</a:t>
            </a:r>
            <a:endParaRPr lang="en-US">
              <a:solidFill>
                <a:schemeClr val="tx1"/>
              </a:solidFill>
            </a:endParaRPr>
          </a:p>
        </p:txBody>
      </p:sp>
      <p:sp>
        <p:nvSpPr>
          <p:cNvPr id="3" name="スライド番号プレースホルダー 2">
            <a:extLst>
              <a:ext uri="{FF2B5EF4-FFF2-40B4-BE49-F238E27FC236}">
                <a16:creationId xmlns:a16="http://schemas.microsoft.com/office/drawing/2014/main" id="{D72A3334-5726-BCD8-BE49-784ECDD3FD00}"/>
              </a:ext>
            </a:extLst>
          </p:cNvPr>
          <p:cNvSpPr>
            <a:spLocks noGrp="1"/>
          </p:cNvSpPr>
          <p:nvPr>
            <p:ph type="sldNum" sz="quarter" idx="12"/>
          </p:nvPr>
        </p:nvSpPr>
        <p:spPr/>
        <p:txBody>
          <a:bodyPr/>
          <a:lstStyle/>
          <a:p>
            <a:fld id="{397E558F-9F61-480E-94CF-2C9CB5412042}" type="slidenum">
              <a:rPr lang="ja-JP" altLang="en-US" smtClean="0"/>
              <a:pPr/>
              <a:t>16</a:t>
            </a:fld>
            <a:endParaRPr lang="ja-JP" altLang="en-US"/>
          </a:p>
        </p:txBody>
      </p:sp>
      <p:pic>
        <p:nvPicPr>
          <p:cNvPr id="8" name="Picture 4">
            <a:extLst>
              <a:ext uri="{FF2B5EF4-FFF2-40B4-BE49-F238E27FC236}">
                <a16:creationId xmlns:a16="http://schemas.microsoft.com/office/drawing/2014/main" id="{C7F3CE71-E2AE-7F0D-2EB4-208557BEEFA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44302" y="2195451"/>
            <a:ext cx="7317224" cy="33005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29076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23D86-18BD-307A-3C3B-3EFD8449A0C9}"/>
            </a:ext>
          </a:extLst>
        </p:cNvPr>
        <p:cNvGrpSpPr/>
        <p:nvPr/>
      </p:nvGrpSpPr>
      <p:grpSpPr>
        <a:xfrm>
          <a:off x="0" y="0"/>
          <a:ext cx="0" cy="0"/>
          <a:chOff x="0" y="0"/>
          <a:chExt cx="0" cy="0"/>
        </a:xfrm>
      </p:grpSpPr>
      <p:sp>
        <p:nvSpPr>
          <p:cNvPr id="5" name="Content Placeholder 132">
            <a:extLst>
              <a:ext uri="{FF2B5EF4-FFF2-40B4-BE49-F238E27FC236}">
                <a16:creationId xmlns:a16="http://schemas.microsoft.com/office/drawing/2014/main" id="{6076A4C5-39B7-BBE9-2584-31C685D8F4B1}"/>
              </a:ext>
            </a:extLst>
          </p:cNvPr>
          <p:cNvSpPr txBox="1">
            <a:spLocks/>
          </p:cNvSpPr>
          <p:nvPr/>
        </p:nvSpPr>
        <p:spPr>
          <a:xfrm>
            <a:off x="845115" y="1596914"/>
            <a:ext cx="10515600" cy="526108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Clr>
                <a:schemeClr val="accent5"/>
              </a:buClr>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5">
                  <a:lumMod val="60000"/>
                  <a:lumOff val="40000"/>
                </a:schemeClr>
              </a:buClr>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5">
                  <a:lumMod val="75000"/>
                </a:schemeClr>
              </a:buClr>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5">
                  <a:lumMod val="50000"/>
                </a:schemeClr>
              </a:buClr>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5">
                  <a:lumMod val="50000"/>
                </a:schemeClr>
              </a:buClr>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indent="0">
              <a:spcBef>
                <a:spcPts val="1000"/>
              </a:spcBef>
              <a:buNone/>
            </a:pPr>
            <a:r>
              <a:rPr lang="ja-JP" altLang="en-US" sz="2800"/>
              <a:t>エンコーダに</a:t>
            </a:r>
            <a:r>
              <a:rPr lang="ja-JP" altLang="ja-JP" sz="2800" b="1">
                <a:solidFill>
                  <a:schemeClr val="accent5">
                    <a:lumMod val="75000"/>
                  </a:schemeClr>
                </a:solidFill>
              </a:rPr>
              <a:t>視覚特徴</a:t>
            </a:r>
            <a:r>
              <a:rPr lang="ja-JP" altLang="en-US" sz="2800"/>
              <a:t>・</a:t>
            </a:r>
            <a:r>
              <a:rPr lang="ja-JP" altLang="en-US" sz="2800" b="1">
                <a:solidFill>
                  <a:srgbClr val="FF0000"/>
                </a:solidFill>
              </a:rPr>
              <a:t>言語特徴</a:t>
            </a:r>
            <a:r>
              <a:rPr lang="ja-JP" altLang="en-US" sz="2800"/>
              <a:t>の付与</a:t>
            </a:r>
            <a:endParaRPr lang="en-US" altLang="ja-JP" sz="2800"/>
          </a:p>
          <a:p>
            <a:pPr marL="0" lvl="1" indent="0">
              <a:spcBef>
                <a:spcPts val="1000"/>
              </a:spcBef>
              <a:buNone/>
            </a:pPr>
            <a:endParaRPr lang="en-US" altLang="ja-JP" sz="2800"/>
          </a:p>
          <a:p>
            <a:pPr marL="0" lvl="1" indent="0">
              <a:spcBef>
                <a:spcPts val="1000"/>
              </a:spcBef>
              <a:buNone/>
            </a:pPr>
            <a:endParaRPr lang="en-US" altLang="ja-JP" sz="2800"/>
          </a:p>
          <a:p>
            <a:pPr marL="0" lvl="1" indent="0">
              <a:spcBef>
                <a:spcPts val="1000"/>
              </a:spcBef>
              <a:buNone/>
            </a:pPr>
            <a:endParaRPr lang="en-US" altLang="ja-JP" sz="2800"/>
          </a:p>
          <a:p>
            <a:pPr marL="0" lvl="1" indent="0">
              <a:spcBef>
                <a:spcPts val="1000"/>
              </a:spcBef>
              <a:buNone/>
            </a:pPr>
            <a:endParaRPr lang="en-US" altLang="ja-JP" sz="2800"/>
          </a:p>
          <a:p>
            <a:pPr marL="0" lvl="1" indent="0">
              <a:spcBef>
                <a:spcPts val="1000"/>
              </a:spcBef>
              <a:buNone/>
            </a:pPr>
            <a:endParaRPr lang="en-US" altLang="ja-JP" sz="2800"/>
          </a:p>
          <a:p>
            <a:pPr marL="0" lvl="1" indent="0">
              <a:spcBef>
                <a:spcPts val="1000"/>
              </a:spcBef>
              <a:buNone/>
            </a:pPr>
            <a:endParaRPr lang="en-US" altLang="ja-JP" sz="2800"/>
          </a:p>
          <a:p>
            <a:pPr marL="0" lvl="1" indent="0">
              <a:spcBef>
                <a:spcPts val="1000"/>
              </a:spcBef>
              <a:buNone/>
            </a:pPr>
            <a:endParaRPr lang="en-US" altLang="ja-JP" sz="2800"/>
          </a:p>
          <a:p>
            <a:pPr marL="0" lvl="1" indent="0">
              <a:spcBef>
                <a:spcPts val="1000"/>
              </a:spcBef>
              <a:buNone/>
            </a:pPr>
            <a:r>
              <a:rPr lang="ja-JP" altLang="ja-JP"/>
              <a:t>→</a:t>
            </a:r>
            <a:r>
              <a:rPr lang="en-US" altLang="ja-JP"/>
              <a:t>CTC</a:t>
            </a:r>
            <a:r>
              <a:rPr lang="ja-JP" altLang="ja-JP"/>
              <a:t>損失と</a:t>
            </a:r>
            <a:r>
              <a:rPr lang="en-US" altLang="ja-JP">
                <a:solidFill>
                  <a:srgbClr val="FF0000"/>
                </a:solidFill>
              </a:rPr>
              <a:t>LAIL</a:t>
            </a:r>
            <a:r>
              <a:rPr lang="ja-JP" altLang="ja-JP">
                <a:solidFill>
                  <a:srgbClr val="FF0000"/>
                </a:solidFill>
              </a:rPr>
              <a:t>損失</a:t>
            </a:r>
            <a:r>
              <a:rPr lang="ja-JP" altLang="ja-JP"/>
              <a:t>を併用</a:t>
            </a:r>
            <a:endParaRPr lang="ja-JP" altLang="ja-JP" sz="2800"/>
          </a:p>
          <a:p>
            <a:pPr marL="0" lvl="1" indent="0">
              <a:spcBef>
                <a:spcPts val="1000"/>
              </a:spcBef>
              <a:buNone/>
            </a:pPr>
            <a:endParaRPr lang="en-US" altLang="ja-JP" sz="2800"/>
          </a:p>
          <a:p>
            <a:pPr marL="0" indent="0">
              <a:buNone/>
            </a:pPr>
            <a:endParaRPr lang="ja-JP" altLang="en-US">
              <a:ea typeface="游ゴシック"/>
            </a:endParaRPr>
          </a:p>
        </p:txBody>
      </p:sp>
      <p:pic>
        <p:nvPicPr>
          <p:cNvPr id="4" name="Picture 4">
            <a:extLst>
              <a:ext uri="{FF2B5EF4-FFF2-40B4-BE49-F238E27FC236}">
                <a16:creationId xmlns:a16="http://schemas.microsoft.com/office/drawing/2014/main" id="{66FFB9A8-4E6C-A8D5-4FCE-AE3427397B2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44302" y="2195451"/>
            <a:ext cx="7317224" cy="3300535"/>
          </a:xfrm>
          <a:prstGeom prst="rect">
            <a:avLst/>
          </a:prstGeom>
          <a:noFill/>
          <a:extLst>
            <a:ext uri="{909E8E84-426E-40DD-AFC4-6F175D3DCCD1}">
              <a14:hiddenFill xmlns:a14="http://schemas.microsoft.com/office/drawing/2010/main">
                <a:solidFill>
                  <a:srgbClr val="FFFFFF"/>
                </a:solidFill>
              </a14:hiddenFill>
            </a:ext>
          </a:extLst>
        </p:spPr>
      </p:pic>
      <p:sp>
        <p:nvSpPr>
          <p:cNvPr id="2" name="タイトル 1">
            <a:extLst>
              <a:ext uri="{FF2B5EF4-FFF2-40B4-BE49-F238E27FC236}">
                <a16:creationId xmlns:a16="http://schemas.microsoft.com/office/drawing/2014/main" id="{CD358CC2-A0D1-6DC9-5BDB-DFD43D0C3451}"/>
              </a:ext>
            </a:extLst>
          </p:cNvPr>
          <p:cNvSpPr>
            <a:spLocks noGrp="1"/>
          </p:cNvSpPr>
          <p:nvPr>
            <p:ph type="title"/>
          </p:nvPr>
        </p:nvSpPr>
        <p:spPr/>
        <p:txBody>
          <a:bodyPr>
            <a:normAutofit/>
          </a:bodyPr>
          <a:lstStyle/>
          <a:p>
            <a:pPr>
              <a:lnSpc>
                <a:spcPct val="100000"/>
              </a:lnSpc>
            </a:pPr>
            <a:r>
              <a:rPr lang="ja-JP" altLang="en-US" sz="3200">
                <a:ea typeface="游ゴシック"/>
              </a:rPr>
              <a:t>エンコーダへの言語特徴付与</a:t>
            </a:r>
            <a:br>
              <a:rPr kumimoji="1" lang="en-US" altLang="ja-JP"/>
            </a:br>
            <a:r>
              <a:rPr lang="en-US" altLang="ja-JP">
                <a:solidFill>
                  <a:schemeClr val="tx1"/>
                </a:solidFill>
              </a:rPr>
              <a:t>Model </a:t>
            </a:r>
            <a:r>
              <a:rPr lang="en-US" altLang="ja-JP">
                <a:solidFill>
                  <a:schemeClr val="tx1"/>
                </a:solidFill>
                <a:ea typeface="游ゴシック Light"/>
              </a:rPr>
              <a:t>Architecture</a:t>
            </a:r>
            <a:endParaRPr lang="en-US">
              <a:solidFill>
                <a:schemeClr val="tx1"/>
              </a:solidFill>
            </a:endParaRPr>
          </a:p>
        </p:txBody>
      </p:sp>
      <p:sp>
        <p:nvSpPr>
          <p:cNvPr id="3" name="スライド番号プレースホルダー 2">
            <a:extLst>
              <a:ext uri="{FF2B5EF4-FFF2-40B4-BE49-F238E27FC236}">
                <a16:creationId xmlns:a16="http://schemas.microsoft.com/office/drawing/2014/main" id="{6535AB99-D030-ED5D-2D33-64CF76EC8DC4}"/>
              </a:ext>
            </a:extLst>
          </p:cNvPr>
          <p:cNvSpPr>
            <a:spLocks noGrp="1"/>
          </p:cNvSpPr>
          <p:nvPr>
            <p:ph type="sldNum" sz="quarter" idx="12"/>
          </p:nvPr>
        </p:nvSpPr>
        <p:spPr/>
        <p:txBody>
          <a:bodyPr/>
          <a:lstStyle/>
          <a:p>
            <a:fld id="{397E558F-9F61-480E-94CF-2C9CB5412042}" type="slidenum">
              <a:rPr lang="ja-JP" altLang="en-US" smtClean="0"/>
              <a:pPr/>
              <a:t>17</a:t>
            </a:fld>
            <a:endParaRPr lang="ja-JP" altLang="en-US"/>
          </a:p>
        </p:txBody>
      </p:sp>
    </p:spTree>
    <p:extLst>
      <p:ext uri="{BB962C8B-B14F-4D97-AF65-F5344CB8AC3E}">
        <p14:creationId xmlns:p14="http://schemas.microsoft.com/office/powerpoint/2010/main" val="42874397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339B6-CC58-875E-3C52-AD55E924F0B7}"/>
            </a:ext>
          </a:extLst>
        </p:cNvPr>
        <p:cNvGrpSpPr/>
        <p:nvPr/>
      </p:nvGrpSpPr>
      <p:grpSpPr>
        <a:xfrm>
          <a:off x="0" y="0"/>
          <a:ext cx="0" cy="0"/>
          <a:chOff x="0" y="0"/>
          <a:chExt cx="0" cy="0"/>
        </a:xfrm>
      </p:grpSpPr>
      <p:pic>
        <p:nvPicPr>
          <p:cNvPr id="10244" name="Picture 4">
            <a:extLst>
              <a:ext uri="{FF2B5EF4-FFF2-40B4-BE49-F238E27FC236}">
                <a16:creationId xmlns:a16="http://schemas.microsoft.com/office/drawing/2014/main" id="{6A820E65-8B0F-2115-DE72-D9AC67A8FD0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37388" y="3563764"/>
            <a:ext cx="7317224" cy="3300535"/>
          </a:xfrm>
          <a:prstGeom prst="rect">
            <a:avLst/>
          </a:prstGeom>
          <a:noFill/>
          <a:extLst>
            <a:ext uri="{909E8E84-426E-40DD-AFC4-6F175D3DCCD1}">
              <a14:hiddenFill xmlns:a14="http://schemas.microsoft.com/office/drawing/2010/main">
                <a:solidFill>
                  <a:srgbClr val="FFFFFF"/>
                </a:solidFill>
              </a14:hiddenFill>
            </a:ext>
          </a:extLst>
        </p:spPr>
      </p:pic>
      <p:sp>
        <p:nvSpPr>
          <p:cNvPr id="10" name="コンテンツ プレースホルダー 2">
            <a:extLst>
              <a:ext uri="{FF2B5EF4-FFF2-40B4-BE49-F238E27FC236}">
                <a16:creationId xmlns:a16="http://schemas.microsoft.com/office/drawing/2014/main" id="{B06E46D4-F207-7879-F4B9-1251ABE13BEF}"/>
              </a:ext>
            </a:extLst>
          </p:cNvPr>
          <p:cNvSpPr txBox="1">
            <a:spLocks/>
          </p:cNvSpPr>
          <p:nvPr/>
        </p:nvSpPr>
        <p:spPr>
          <a:xfrm>
            <a:off x="839788" y="1681163"/>
            <a:ext cx="5157787" cy="823912"/>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Clr>
                <a:schemeClr val="accent5"/>
              </a:buClr>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5">
                  <a:lumMod val="60000"/>
                  <a:lumOff val="40000"/>
                </a:schemeClr>
              </a:buClr>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5">
                  <a:lumMod val="75000"/>
                </a:schemeClr>
              </a:buClr>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5">
                  <a:lumMod val="50000"/>
                </a:schemeClr>
              </a:buClr>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5">
                  <a:lumMod val="50000"/>
                </a:schemeClr>
              </a:buClr>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buClr>
                <a:srgbClr val="4472C4"/>
              </a:buClr>
            </a:pPr>
            <a:endParaRPr lang="ja-JP" altLang="en-US" b="1"/>
          </a:p>
          <a:p>
            <a:pPr>
              <a:buClr>
                <a:srgbClr val="4472C4">
                  <a:lumMod val="50000"/>
                </a:srgbClr>
              </a:buClr>
            </a:pPr>
            <a:endParaRPr lang="ja-JP" altLang="en-US" b="1"/>
          </a:p>
        </p:txBody>
      </p:sp>
      <mc:AlternateContent xmlns:mc="http://schemas.openxmlformats.org/markup-compatibility/2006" xmlns:a14="http://schemas.microsoft.com/office/drawing/2010/main">
        <mc:Choice Requires="a14">
          <p:sp>
            <p:nvSpPr>
              <p:cNvPr id="3" name="Content Placeholder 132">
                <a:extLst>
                  <a:ext uri="{FF2B5EF4-FFF2-40B4-BE49-F238E27FC236}">
                    <a16:creationId xmlns:a16="http://schemas.microsoft.com/office/drawing/2014/main" id="{2E0A27D3-4B75-B742-FC8F-DFF7AD346EB7}"/>
                  </a:ext>
                </a:extLst>
              </p:cNvPr>
              <p:cNvSpPr txBox="1">
                <a:spLocks/>
              </p:cNvSpPr>
              <p:nvPr/>
            </p:nvSpPr>
            <p:spPr>
              <a:xfrm>
                <a:off x="845115" y="1596914"/>
                <a:ext cx="10508685" cy="486103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Clr>
                    <a:schemeClr val="accent5"/>
                  </a:buClr>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5">
                      <a:lumMod val="60000"/>
                      <a:lumOff val="40000"/>
                    </a:schemeClr>
                  </a:buClr>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5">
                      <a:lumMod val="75000"/>
                    </a:schemeClr>
                  </a:buClr>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5">
                      <a:lumMod val="50000"/>
                    </a:schemeClr>
                  </a:buClr>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5">
                      <a:lumMod val="50000"/>
                    </a:schemeClr>
                  </a:buClr>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a:ea typeface="游ゴシック"/>
                  </a:rPr>
                  <a:t>LAIL </a:t>
                </a:r>
                <a:r>
                  <a:rPr lang="ja-JP" altLang="en-US">
                    <a:ea typeface="游ゴシック"/>
                  </a:rPr>
                  <a:t>損失</a:t>
                </a:r>
                <a:endParaRPr lang="en-US" altLang="ja-JP">
                  <a:ea typeface="游ゴシック"/>
                </a:endParaRPr>
              </a:p>
              <a:p>
                <a:pPr marL="0" indent="0">
                  <a:buNone/>
                </a:pPr>
                <a:endParaRPr lang="en-US" altLang="ja-JP" sz="1600">
                  <a:ea typeface="游ゴシック"/>
                </a:endParaRPr>
              </a:p>
              <a:p>
                <a:pPr marL="0" indent="0">
                  <a:buNone/>
                </a:pPr>
                <a14:m>
                  <m:oMathPara xmlns:m="http://schemas.openxmlformats.org/officeDocument/2006/math">
                    <m:oMathParaPr>
                      <m:jc m:val="centerGroup"/>
                    </m:oMathParaPr>
                    <m:oMath xmlns:m="http://schemas.openxmlformats.org/officeDocument/2006/math">
                      <m:sSub>
                        <m:sSubPr>
                          <m:ctrlPr>
                            <a:rPr lang="ja-JP" altLang="en-US" sz="2000" b="1" i="1" smtClean="0">
                              <a:solidFill>
                                <a:srgbClr val="FF0000"/>
                              </a:solidFill>
                              <a:latin typeface="Cambria Math" panose="02040503050406030204" pitchFamily="18" charset="0"/>
                            </a:rPr>
                          </m:ctrlPr>
                        </m:sSubPr>
                        <m:e>
                          <m:r>
                            <a:rPr lang="ja-JP" altLang="en-US" sz="2000" b="1" i="1">
                              <a:solidFill>
                                <a:srgbClr val="FF0000"/>
                              </a:solidFill>
                              <a:latin typeface="Cambria Math" panose="02040503050406030204" pitchFamily="18" charset="0"/>
                            </a:rPr>
                            <m:t>𝓛</m:t>
                          </m:r>
                        </m:e>
                        <m:sub>
                          <m:r>
                            <a:rPr lang="en-US" altLang="ja-JP" sz="2000" b="1" i="1">
                              <a:solidFill>
                                <a:srgbClr val="FF0000"/>
                              </a:solidFill>
                              <a:latin typeface="Cambria Math" panose="02040503050406030204" pitchFamily="18" charset="0"/>
                            </a:rPr>
                            <m:t>𝑳𝑨𝑰𝑳</m:t>
                          </m:r>
                        </m:sub>
                      </m:sSub>
                      <m:r>
                        <a:rPr lang="ja-JP" altLang="en-US" sz="2000">
                          <a:latin typeface="Cambria Math" panose="02040503050406030204" pitchFamily="18" charset="0"/>
                        </a:rPr>
                        <m:t>=</m:t>
                      </m:r>
                      <m:r>
                        <a:rPr lang="en-US" altLang="ja-JP" sz="2000" b="0" i="1" smtClean="0">
                          <a:latin typeface="Cambria Math" panose="02040503050406030204" pitchFamily="18" charset="0"/>
                        </a:rPr>
                        <m:t>−</m:t>
                      </m:r>
                      <m:nary>
                        <m:naryPr>
                          <m:chr m:val="∑"/>
                          <m:limLoc m:val="subSup"/>
                          <m:supHide m:val="on"/>
                          <m:ctrlPr>
                            <a:rPr lang="en-US" altLang="ja-JP" sz="2000" i="1">
                              <a:latin typeface="Cambria Math" panose="02040503050406030204" pitchFamily="18" charset="0"/>
                            </a:rPr>
                          </m:ctrlPr>
                        </m:naryPr>
                        <m:sub>
                          <m:r>
                            <m:rPr>
                              <m:brk m:alnAt="9"/>
                            </m:rPr>
                            <a:rPr lang="en-US" altLang="ja-JP" sz="2000" i="1">
                              <a:latin typeface="Cambria Math" panose="02040503050406030204" pitchFamily="18" charset="0"/>
                            </a:rPr>
                            <m:t>𝑙</m:t>
                          </m:r>
                          <m:r>
                            <a:rPr lang="en-US" altLang="ja-JP" sz="2000" i="1">
                              <a:latin typeface="Cambria Math" panose="02040503050406030204" pitchFamily="18" charset="0"/>
                              <a:ea typeface="Cambria Math" panose="02040503050406030204" pitchFamily="18" charset="0"/>
                            </a:rPr>
                            <m:t>∈</m:t>
                          </m:r>
                          <m:r>
                            <a:rPr lang="en-US" altLang="ja-JP" sz="2000" i="1">
                              <a:latin typeface="Cambria Math" panose="02040503050406030204" pitchFamily="18" charset="0"/>
                              <a:ea typeface="Cambria Math" panose="02040503050406030204" pitchFamily="18" charset="0"/>
                            </a:rPr>
                            <m:t>𝐿</m:t>
                          </m:r>
                        </m:sub>
                        <m:sup/>
                        <m:e>
                          <m:sSub>
                            <m:sSubPr>
                              <m:ctrlPr>
                                <a:rPr lang="en-US" altLang="ja-JP" sz="2000" i="1" smtClean="0">
                                  <a:latin typeface="Cambria Math" panose="02040503050406030204" pitchFamily="18" charset="0"/>
                                  <a:ea typeface="Cambria Math" panose="02040503050406030204" pitchFamily="18" charset="0"/>
                                </a:rPr>
                              </m:ctrlPr>
                            </m:sSubPr>
                            <m:e>
                              <m:r>
                                <a:rPr lang="en-US" altLang="ja-JP" sz="2000" i="1" smtClean="0">
                                  <a:latin typeface="Cambria Math" panose="02040503050406030204" pitchFamily="18" charset="0"/>
                                  <a:ea typeface="Cambria Math" panose="02040503050406030204" pitchFamily="18" charset="0"/>
                                </a:rPr>
                                <m:t>𝜆</m:t>
                              </m:r>
                            </m:e>
                            <m:sub>
                              <m:r>
                                <a:rPr lang="en-US" altLang="ja-JP" sz="2000" b="0" i="1" smtClean="0">
                                  <a:latin typeface="Cambria Math" panose="02040503050406030204" pitchFamily="18" charset="0"/>
                                  <a:ea typeface="Cambria Math" panose="02040503050406030204" pitchFamily="18" charset="0"/>
                                </a:rPr>
                                <m:t>𝑙</m:t>
                              </m:r>
                            </m:sub>
                          </m:sSub>
                          <m:nary>
                            <m:naryPr>
                              <m:chr m:val="∑"/>
                              <m:limLoc m:val="subSup"/>
                              <m:ctrlPr>
                                <a:rPr lang="en-US" altLang="ja-JP" sz="2000" i="1">
                                  <a:latin typeface="Cambria Math" panose="02040503050406030204" pitchFamily="18" charset="0"/>
                                </a:rPr>
                              </m:ctrlPr>
                            </m:naryPr>
                            <m:sub>
                              <m:r>
                                <m:rPr>
                                  <m:brk m:alnAt="25"/>
                                </m:rPr>
                                <a:rPr lang="en-US" altLang="ja-JP" sz="2000" i="1">
                                  <a:latin typeface="Cambria Math" panose="02040503050406030204" pitchFamily="18" charset="0"/>
                                </a:rPr>
                                <m:t>𝑡</m:t>
                              </m:r>
                              <m:r>
                                <a:rPr lang="en-US" altLang="ja-JP" sz="2000" i="1">
                                  <a:latin typeface="Cambria Math" panose="02040503050406030204" pitchFamily="18" charset="0"/>
                                </a:rPr>
                                <m:t>=1</m:t>
                              </m:r>
                            </m:sub>
                            <m:sup>
                              <m:r>
                                <a:rPr lang="en-US" altLang="ja-JP" sz="2000" i="1">
                                  <a:latin typeface="Cambria Math" panose="02040503050406030204" pitchFamily="18" charset="0"/>
                                </a:rPr>
                                <m:t>𝑇</m:t>
                              </m:r>
                            </m:sup>
                            <m:e>
                              <m:r>
                                <m:rPr>
                                  <m:sty m:val="p"/>
                                </m:rPr>
                                <a:rPr lang="en-US" altLang="ja-JP" sz="2000">
                                  <a:latin typeface="Cambria Math" panose="02040503050406030204" pitchFamily="18" charset="0"/>
                                </a:rPr>
                                <m:t>logP</m:t>
                              </m:r>
                            </m:e>
                          </m:nary>
                          <m:r>
                            <a:rPr lang="en-US" altLang="ja-JP" sz="2000" i="1">
                              <a:latin typeface="Cambria Math" panose="02040503050406030204" pitchFamily="18" charset="0"/>
                            </a:rPr>
                            <m:t>(</m:t>
                          </m:r>
                          <m:sSub>
                            <m:sSubPr>
                              <m:ctrlPr>
                                <a:rPr lang="ja-JP" altLang="en-US" sz="2000" i="1">
                                  <a:latin typeface="Cambria Math" panose="02040503050406030204" pitchFamily="18" charset="0"/>
                                </a:rPr>
                              </m:ctrlPr>
                            </m:sSubPr>
                            <m:e>
                              <m:r>
                                <a:rPr lang="ja-JP" altLang="en-US" sz="2000" b="1" i="1">
                                  <a:latin typeface="Cambria Math" panose="02040503050406030204" pitchFamily="18" charset="0"/>
                                </a:rPr>
                                <m:t>𝒚</m:t>
                              </m:r>
                            </m:e>
                            <m:sub>
                              <m:r>
                                <a:rPr lang="ja-JP" altLang="en-US" sz="2000" i="1">
                                  <a:latin typeface="Cambria Math" panose="02040503050406030204" pitchFamily="18" charset="0"/>
                                </a:rPr>
                                <m:t>𝑡</m:t>
                              </m:r>
                            </m:sub>
                          </m:sSub>
                          <m:r>
                            <a:rPr lang="ja-JP" altLang="en-US" sz="2000">
                              <a:latin typeface="Cambria Math" panose="02040503050406030204" pitchFamily="18" charset="0"/>
                            </a:rPr>
                            <m:t>∣</m:t>
                          </m:r>
                          <m:sSub>
                            <m:sSubPr>
                              <m:ctrlPr>
                                <a:rPr lang="ja-JP" altLang="en-US" sz="2000" i="1">
                                  <a:latin typeface="Cambria Math" panose="02040503050406030204" pitchFamily="18" charset="0"/>
                                </a:rPr>
                              </m:ctrlPr>
                            </m:sSubPr>
                            <m:e>
                              <m:r>
                                <a:rPr lang="ja-JP" altLang="en-US" sz="2000" b="1" i="1">
                                  <a:latin typeface="Cambria Math" panose="02040503050406030204" pitchFamily="18" charset="0"/>
                                </a:rPr>
                                <m:t>𝒚</m:t>
                              </m:r>
                            </m:e>
                            <m:sub>
                              <m:r>
                                <a:rPr lang="ja-JP" altLang="en-US" sz="2000">
                                  <a:latin typeface="Cambria Math" panose="02040503050406030204" pitchFamily="18" charset="0"/>
                                </a:rPr>
                                <m:t>&lt;</m:t>
                              </m:r>
                              <m:r>
                                <a:rPr lang="ja-JP" altLang="en-US" sz="2000" i="1">
                                  <a:latin typeface="Cambria Math" panose="02040503050406030204" pitchFamily="18" charset="0"/>
                                </a:rPr>
                                <m:t>𝑡</m:t>
                              </m:r>
                            </m:sub>
                          </m:sSub>
                          <m:sSub>
                            <m:sSubPr>
                              <m:ctrlPr>
                                <a:rPr lang="ja-JP" altLang="en-US" sz="2000" i="1">
                                  <a:latin typeface="Cambria Math" panose="02040503050406030204" pitchFamily="18" charset="0"/>
                                </a:rPr>
                              </m:ctrlPr>
                            </m:sSubPr>
                            <m:e>
                              <m:r>
                                <a:rPr lang="en-US" altLang="ja-JP" sz="2000" b="1" i="1">
                                  <a:latin typeface="Cambria Math" panose="02040503050406030204" pitchFamily="18" charset="0"/>
                                </a:rPr>
                                <m:t>,</m:t>
                              </m:r>
                              <m:r>
                                <a:rPr lang="ja-JP" altLang="en-US" sz="2000" b="1" i="1">
                                  <a:latin typeface="Cambria Math" panose="02040503050406030204" pitchFamily="18" charset="0"/>
                                </a:rPr>
                                <m:t>𝒉</m:t>
                              </m:r>
                            </m:e>
                            <m:sub>
                              <m:r>
                                <a:rPr lang="ja-JP" altLang="en-US" sz="2000" i="1">
                                  <a:latin typeface="Cambria Math" panose="02040503050406030204" pitchFamily="18" charset="0"/>
                                </a:rPr>
                                <m:t>𝑝𝑟𝑜𝑗</m:t>
                              </m:r>
                            </m:sub>
                          </m:sSub>
                          <m:r>
                            <a:rPr lang="en-US" altLang="ja-JP" sz="2000" i="1">
                              <a:latin typeface="Cambria Math" panose="02040503050406030204" pitchFamily="18" charset="0"/>
                            </a:rPr>
                            <m:t>)</m:t>
                          </m:r>
                        </m:e>
                      </m:nary>
                    </m:oMath>
                  </m:oMathPara>
                </a14:m>
                <a:endParaRPr lang="en-US" altLang="ja-JP" sz="2000" b="0"/>
              </a:p>
              <a:p>
                <a:pPr marL="0" indent="0">
                  <a:buNone/>
                </a:pPr>
                <a:endParaRPr lang="en-US" altLang="ja-JP" sz="1600">
                  <a:ea typeface="游ゴシック"/>
                </a:endParaRPr>
              </a:p>
              <a:p>
                <a:pPr marL="0" indent="0">
                  <a:buNone/>
                </a:pPr>
                <a:endParaRPr lang="ja-JP" altLang="en-US">
                  <a:ea typeface="游ゴシック"/>
                </a:endParaRPr>
              </a:p>
            </p:txBody>
          </p:sp>
        </mc:Choice>
        <mc:Fallback xmlns="">
          <p:sp>
            <p:nvSpPr>
              <p:cNvPr id="3" name="Content Placeholder 132">
                <a:extLst>
                  <a:ext uri="{FF2B5EF4-FFF2-40B4-BE49-F238E27FC236}">
                    <a16:creationId xmlns:a16="http://schemas.microsoft.com/office/drawing/2014/main" id="{2E0A27D3-4B75-B742-FC8F-DFF7AD346EB7}"/>
                  </a:ext>
                </a:extLst>
              </p:cNvPr>
              <p:cNvSpPr txBox="1">
                <a:spLocks noRot="1" noChangeAspect="1" noMove="1" noResize="1" noEditPoints="1" noAdjustHandles="1" noChangeArrowheads="1" noChangeShapeType="1" noTextEdit="1"/>
              </p:cNvSpPr>
              <p:nvPr/>
            </p:nvSpPr>
            <p:spPr>
              <a:xfrm>
                <a:off x="845115" y="1596914"/>
                <a:ext cx="10508685" cy="4861035"/>
              </a:xfrm>
              <a:prstGeom prst="rect">
                <a:avLst/>
              </a:prstGeom>
              <a:blipFill>
                <a:blip r:embed="rId4"/>
                <a:stretch>
                  <a:fillRect l="-1044" t="-2133"/>
                </a:stretch>
              </a:blipFill>
            </p:spPr>
            <p:txBody>
              <a:bodyPr/>
              <a:lstStyle/>
              <a:p>
                <a:r>
                  <a:rPr lang="en-US">
                    <a:noFill/>
                  </a:rPr>
                  <a:t> </a:t>
                </a:r>
              </a:p>
            </p:txBody>
          </p:sp>
        </mc:Fallback>
      </mc:AlternateContent>
      <p:sp>
        <p:nvSpPr>
          <p:cNvPr id="4" name="スライド番号プレースホルダー 3">
            <a:extLst>
              <a:ext uri="{FF2B5EF4-FFF2-40B4-BE49-F238E27FC236}">
                <a16:creationId xmlns:a16="http://schemas.microsoft.com/office/drawing/2014/main" id="{DA17EDAA-F1B0-0DDB-55EB-9C567DFB6F2F}"/>
              </a:ext>
            </a:extLst>
          </p:cNvPr>
          <p:cNvSpPr>
            <a:spLocks noGrp="1"/>
          </p:cNvSpPr>
          <p:nvPr>
            <p:ph type="sldNum" sz="quarter" idx="12"/>
          </p:nvPr>
        </p:nvSpPr>
        <p:spPr/>
        <p:txBody>
          <a:bodyPr/>
          <a:lstStyle/>
          <a:p>
            <a:fld id="{397E558F-9F61-480E-94CF-2C9CB5412042}" type="slidenum">
              <a:rPr lang="ja-JP" altLang="en-US" smtClean="0"/>
              <a:pPr/>
              <a:t>18</a:t>
            </a:fld>
            <a:endParaRPr lang="ja-JP" altLang="en-US"/>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A092F454-D0A0-0103-2BE8-1E5DF9AEFC7A}"/>
                  </a:ext>
                </a:extLst>
              </p:cNvPr>
              <p:cNvSpPr txBox="1"/>
              <p:nvPr/>
            </p:nvSpPr>
            <p:spPr>
              <a:xfrm>
                <a:off x="8839103" y="1505973"/>
                <a:ext cx="3048000" cy="1500988"/>
              </a:xfrm>
              <a:prstGeom prst="rect">
                <a:avLst/>
              </a:prstGeom>
              <a:noFill/>
            </p:spPr>
            <p:txBody>
              <a:bodyPr wrap="square">
                <a:spAutoFit/>
              </a:bodyPr>
              <a:lstStyle/>
              <a:p>
                <a14:m>
                  <m:oMath xmlns:m="http://schemas.openxmlformats.org/officeDocument/2006/math">
                    <m:sSub>
                      <m:sSubPr>
                        <m:ctrlPr>
                          <a:rPr lang="ja-JP" altLang="en-US" i="1" smtClean="0">
                            <a:latin typeface="Cambria Math" panose="02040503050406030204" pitchFamily="18" charset="0"/>
                          </a:rPr>
                        </m:ctrlPr>
                      </m:sSubPr>
                      <m:e>
                        <m:r>
                          <a:rPr lang="ja-JP" altLang="en-US" b="1" i="1">
                            <a:latin typeface="Cambria Math" panose="02040503050406030204" pitchFamily="18" charset="0"/>
                          </a:rPr>
                          <m:t>𝒚</m:t>
                        </m:r>
                      </m:e>
                      <m:sub>
                        <m:r>
                          <a:rPr lang="ja-JP" altLang="en-US" i="1">
                            <a:latin typeface="Cambria Math" panose="02040503050406030204" pitchFamily="18" charset="0"/>
                          </a:rPr>
                          <m:t>𝑡</m:t>
                        </m:r>
                      </m:sub>
                    </m:sSub>
                    <m:r>
                      <a:rPr lang="en-US" altLang="ja-JP" b="0" i="1" smtClean="0">
                        <a:latin typeface="Cambria Math" panose="02040503050406030204" pitchFamily="18" charset="0"/>
                      </a:rPr>
                      <m:t> </m:t>
                    </m:r>
                  </m:oMath>
                </a14:m>
                <a:r>
                  <a:rPr lang="en-US" altLang="ja-JP"/>
                  <a:t>   : </a:t>
                </a:r>
                <a:r>
                  <a:rPr lang="ja-JP" altLang="en-US"/>
                  <a:t>正解文字列</a:t>
                </a:r>
                <a:endParaRPr lang="en-US" altLang="ja-JP"/>
              </a:p>
              <a:p>
                <a14:m>
                  <m:oMath xmlns:m="http://schemas.openxmlformats.org/officeDocument/2006/math">
                    <m:sSub>
                      <m:sSubPr>
                        <m:ctrlPr>
                          <a:rPr lang="ja-JP" altLang="en-US" i="1">
                            <a:latin typeface="Cambria Math" panose="02040503050406030204" pitchFamily="18" charset="0"/>
                          </a:rPr>
                        </m:ctrlPr>
                      </m:sSubPr>
                      <m:e>
                        <m:r>
                          <a:rPr lang="ja-JP" altLang="en-US" b="1" i="1">
                            <a:latin typeface="Cambria Math" panose="02040503050406030204" pitchFamily="18" charset="0"/>
                          </a:rPr>
                          <m:t>𝒚</m:t>
                        </m:r>
                      </m:e>
                      <m:sub>
                        <m:r>
                          <a:rPr lang="ja-JP" altLang="en-US">
                            <a:latin typeface="Cambria Math" panose="02040503050406030204" pitchFamily="18" charset="0"/>
                          </a:rPr>
                          <m:t>&lt;</m:t>
                        </m:r>
                        <m:r>
                          <a:rPr lang="ja-JP" altLang="en-US" i="1">
                            <a:latin typeface="Cambria Math" panose="02040503050406030204" pitchFamily="18" charset="0"/>
                          </a:rPr>
                          <m:t>𝑡</m:t>
                        </m:r>
                      </m:sub>
                    </m:sSub>
                  </m:oMath>
                </a14:m>
                <a:r>
                  <a:rPr lang="en-US" altLang="ja-JP"/>
                  <a:t>  : t</a:t>
                </a:r>
                <a:r>
                  <a:rPr lang="ja-JP" altLang="en-US"/>
                  <a:t>までの正解文字列</a:t>
                </a:r>
                <a:endParaRPr lang="en-US" altLang="ja-JP"/>
              </a:p>
              <a:p>
                <a14:m>
                  <m:oMath xmlns:m="http://schemas.openxmlformats.org/officeDocument/2006/math">
                    <m:r>
                      <a:rPr lang="ja-JP" altLang="en-US" b="1" i="1">
                        <a:latin typeface="Cambria Math" panose="02040503050406030204" pitchFamily="18" charset="0"/>
                      </a:rPr>
                      <m:t>𝒉</m:t>
                    </m:r>
                    <m:r>
                      <a:rPr lang="en-US" altLang="ja-JP" b="0" i="0" smtClean="0">
                        <a:latin typeface="Cambria Math" panose="02040503050406030204" pitchFamily="18" charset="0"/>
                      </a:rPr>
                      <m:t> </m:t>
                    </m:r>
                  </m:oMath>
                </a14:m>
                <a:r>
                  <a:rPr lang="ja-JP" altLang="en-US"/>
                  <a:t>　</a:t>
                </a:r>
                <a:r>
                  <a:rPr lang="en-US" altLang="ja-JP"/>
                  <a:t> : </a:t>
                </a:r>
                <a:r>
                  <a:rPr lang="ja-JP" altLang="en-US"/>
                  <a:t>コネクタ層の出力</a:t>
                </a:r>
                <a:endParaRPr lang="en-US" altLang="ja-JP"/>
              </a:p>
              <a:p>
                <a14:m>
                  <m:oMath xmlns:m="http://schemas.openxmlformats.org/officeDocument/2006/math">
                    <m:r>
                      <a:rPr lang="en-US" altLang="ja-JP" i="1" smtClean="0">
                        <a:latin typeface="Cambria Math" panose="02040503050406030204" pitchFamily="18" charset="0"/>
                      </a:rPr>
                      <m:t>𝐿</m:t>
                    </m:r>
                  </m:oMath>
                </a14:m>
                <a:r>
                  <a:rPr lang="en-US" altLang="ja-JP"/>
                  <a:t>  </a:t>
                </a:r>
                <a:r>
                  <a:rPr lang="ja-JP" altLang="en-US"/>
                  <a:t>　</a:t>
                </a:r>
                <a:r>
                  <a:rPr lang="en-US" altLang="ja-JP"/>
                  <a:t>: LAIL</a:t>
                </a:r>
                <a:r>
                  <a:rPr lang="ja-JP" altLang="en-US"/>
                  <a:t>への接続層</a:t>
                </a:r>
                <a:endParaRPr lang="en-US" altLang="ja-JP"/>
              </a:p>
              <a:p>
                <a14:m>
                  <m:oMath xmlns:m="http://schemas.openxmlformats.org/officeDocument/2006/math">
                    <m:sSub>
                      <m:sSubPr>
                        <m:ctrlPr>
                          <a:rPr lang="en-US" altLang="ja-JP" i="1">
                            <a:latin typeface="Cambria Math" panose="02040503050406030204" pitchFamily="18" charset="0"/>
                            <a:ea typeface="Cambria Math" panose="02040503050406030204" pitchFamily="18" charset="0"/>
                          </a:rPr>
                        </m:ctrlPr>
                      </m:sSubPr>
                      <m:e>
                        <m:r>
                          <a:rPr lang="en-US" altLang="ja-JP" i="1">
                            <a:latin typeface="Cambria Math" panose="02040503050406030204" pitchFamily="18" charset="0"/>
                            <a:ea typeface="Cambria Math" panose="02040503050406030204" pitchFamily="18" charset="0"/>
                          </a:rPr>
                          <m:t>𝜆</m:t>
                        </m:r>
                      </m:e>
                      <m:sub>
                        <m:r>
                          <a:rPr lang="en-US" altLang="ja-JP" i="1">
                            <a:latin typeface="Cambria Math" panose="02040503050406030204" pitchFamily="18" charset="0"/>
                            <a:ea typeface="Cambria Math" panose="02040503050406030204" pitchFamily="18" charset="0"/>
                          </a:rPr>
                          <m:t>𝑙</m:t>
                        </m:r>
                      </m:sub>
                    </m:sSub>
                    <m:r>
                      <a:rPr lang="en-US" altLang="ja-JP" b="0" i="0" smtClean="0">
                        <a:latin typeface="Cambria Math" panose="02040503050406030204" pitchFamily="18" charset="0"/>
                        <a:ea typeface="Cambria Math" panose="02040503050406030204" pitchFamily="18" charset="0"/>
                      </a:rPr>
                      <m:t>  </m:t>
                    </m:r>
                  </m:oMath>
                </a14:m>
                <a:r>
                  <a:rPr lang="en-US" altLang="ja-JP"/>
                  <a:t>   : </a:t>
                </a:r>
                <a:r>
                  <a:rPr lang="ja-JP" altLang="en-US"/>
                  <a:t>各層の損失の調整</a:t>
                </a:r>
                <a:r>
                  <a:rPr lang="en-US" altLang="ja-JP"/>
                  <a:t>HP</a:t>
                </a:r>
              </a:p>
            </p:txBody>
          </p:sp>
        </mc:Choice>
        <mc:Fallback xmlns="">
          <p:sp>
            <p:nvSpPr>
              <p:cNvPr id="6" name="テキスト ボックス 5">
                <a:extLst>
                  <a:ext uri="{FF2B5EF4-FFF2-40B4-BE49-F238E27FC236}">
                    <a16:creationId xmlns:a16="http://schemas.microsoft.com/office/drawing/2014/main" id="{A092F454-D0A0-0103-2BE8-1E5DF9AEFC7A}"/>
                  </a:ext>
                </a:extLst>
              </p:cNvPr>
              <p:cNvSpPr txBox="1">
                <a:spLocks noRot="1" noChangeAspect="1" noMove="1" noResize="1" noEditPoints="1" noAdjustHandles="1" noChangeArrowheads="1" noChangeShapeType="1" noTextEdit="1"/>
              </p:cNvSpPr>
              <p:nvPr/>
            </p:nvSpPr>
            <p:spPr>
              <a:xfrm>
                <a:off x="8839103" y="1505973"/>
                <a:ext cx="3048000" cy="1500988"/>
              </a:xfrm>
              <a:prstGeom prst="rect">
                <a:avLst/>
              </a:prstGeom>
              <a:blipFill>
                <a:blip r:embed="rId5"/>
                <a:stretch>
                  <a:fillRect t="-1626" b="-4472"/>
                </a:stretch>
              </a:blipFill>
            </p:spPr>
            <p:txBody>
              <a:bodyPr/>
              <a:lstStyle/>
              <a:p>
                <a:r>
                  <a:rPr lang="en-US">
                    <a:noFill/>
                  </a:rPr>
                  <a:t> </a:t>
                </a:r>
              </a:p>
            </p:txBody>
          </p:sp>
        </mc:Fallback>
      </mc:AlternateContent>
      <p:sp>
        <p:nvSpPr>
          <p:cNvPr id="12" name="右矢印 11">
            <a:extLst>
              <a:ext uri="{FF2B5EF4-FFF2-40B4-BE49-F238E27FC236}">
                <a16:creationId xmlns:a16="http://schemas.microsoft.com/office/drawing/2014/main" id="{85AE5249-2122-4CCB-007B-E082B9816426}"/>
              </a:ext>
            </a:extLst>
          </p:cNvPr>
          <p:cNvSpPr/>
          <p:nvPr/>
        </p:nvSpPr>
        <p:spPr>
          <a:xfrm rot="1283212">
            <a:off x="8240981" y="3383241"/>
            <a:ext cx="553799" cy="347660"/>
          </a:xfrm>
          <a:prstGeom prst="rightArrow">
            <a:avLst>
              <a:gd name="adj1" fmla="val 31752"/>
              <a:gd name="adj2" fmla="val 50000"/>
            </a:avLst>
          </a:prstGeom>
          <a:solidFill>
            <a:srgbClr val="FE4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2000" algn="ctr">
              <a:spcBef>
                <a:spcPts val="600"/>
              </a:spcBef>
            </a:pPr>
            <a:endParaRPr kumimoji="1" lang="ja-JP" altLang="en-US" sz="2000">
              <a:solidFill>
                <a:schemeClr val="tx1"/>
              </a:solidFill>
            </a:endParaRPr>
          </a:p>
        </p:txBody>
      </p:sp>
      <p:sp>
        <p:nvSpPr>
          <p:cNvPr id="15" name="タイトル 14">
            <a:extLst>
              <a:ext uri="{FF2B5EF4-FFF2-40B4-BE49-F238E27FC236}">
                <a16:creationId xmlns:a16="http://schemas.microsoft.com/office/drawing/2014/main" id="{98CCC540-1323-AE18-CD44-1BD26D4E3076}"/>
              </a:ext>
            </a:extLst>
          </p:cNvPr>
          <p:cNvSpPr>
            <a:spLocks noGrp="1"/>
          </p:cNvSpPr>
          <p:nvPr>
            <p:ph type="title"/>
          </p:nvPr>
        </p:nvSpPr>
        <p:spPr/>
        <p:txBody>
          <a:bodyPr/>
          <a:lstStyle/>
          <a:p>
            <a:r>
              <a:rPr lang="ja-JP" altLang="en-US" sz="3200">
                <a:ea typeface="游ゴシック"/>
              </a:rPr>
              <a:t>エンコーダへの言語特徴付与</a:t>
            </a:r>
            <a:br>
              <a:rPr lang="en-US" altLang="ja-JP"/>
            </a:br>
            <a:r>
              <a:rPr lang="ja-JP" altLang="en-US">
                <a:solidFill>
                  <a:schemeClr val="tx1"/>
                </a:solidFill>
                <a:ea typeface="游ゴシック Light"/>
              </a:rPr>
              <a:t>損失関数の設計</a:t>
            </a:r>
            <a:endParaRPr lang="ja-JP" altLang="en-US"/>
          </a:p>
        </p:txBody>
      </p:sp>
    </p:spTree>
    <p:extLst>
      <p:ext uri="{BB962C8B-B14F-4D97-AF65-F5344CB8AC3E}">
        <p14:creationId xmlns:p14="http://schemas.microsoft.com/office/powerpoint/2010/main" val="41372143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23BAC7-AB40-CD57-6C9C-00B3A7FD1A38}"/>
            </a:ext>
          </a:extLst>
        </p:cNvPr>
        <p:cNvGrpSpPr/>
        <p:nvPr/>
      </p:nvGrpSpPr>
      <p:grpSpPr>
        <a:xfrm>
          <a:off x="0" y="0"/>
          <a:ext cx="0" cy="0"/>
          <a:chOff x="0" y="0"/>
          <a:chExt cx="0" cy="0"/>
        </a:xfrm>
      </p:grpSpPr>
      <p:pic>
        <p:nvPicPr>
          <p:cNvPr id="9218" name="Picture 2">
            <a:extLst>
              <a:ext uri="{FF2B5EF4-FFF2-40B4-BE49-F238E27FC236}">
                <a16:creationId xmlns:a16="http://schemas.microsoft.com/office/drawing/2014/main" id="{D95536D0-2933-A38C-9D5B-55E3FBAAA10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37388" y="3551791"/>
            <a:ext cx="7317224" cy="3300535"/>
          </a:xfrm>
          <a:prstGeom prst="rect">
            <a:avLst/>
          </a:prstGeom>
          <a:noFill/>
          <a:extLst>
            <a:ext uri="{909E8E84-426E-40DD-AFC4-6F175D3DCCD1}">
              <a14:hiddenFill xmlns:a14="http://schemas.microsoft.com/office/drawing/2010/main">
                <a:solidFill>
                  <a:srgbClr val="FFFFFF"/>
                </a:solidFill>
              </a14:hiddenFill>
            </a:ext>
          </a:extLst>
        </p:spPr>
      </p:pic>
      <p:sp>
        <p:nvSpPr>
          <p:cNvPr id="10" name="コンテンツ プレースホルダー 2">
            <a:extLst>
              <a:ext uri="{FF2B5EF4-FFF2-40B4-BE49-F238E27FC236}">
                <a16:creationId xmlns:a16="http://schemas.microsoft.com/office/drawing/2014/main" id="{60F11718-2CCF-F6DD-8765-AE8DF523C57F}"/>
              </a:ext>
            </a:extLst>
          </p:cNvPr>
          <p:cNvSpPr txBox="1">
            <a:spLocks/>
          </p:cNvSpPr>
          <p:nvPr/>
        </p:nvSpPr>
        <p:spPr>
          <a:xfrm>
            <a:off x="839788" y="1681163"/>
            <a:ext cx="5157787" cy="823912"/>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Clr>
                <a:schemeClr val="accent5"/>
              </a:buClr>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5">
                  <a:lumMod val="60000"/>
                  <a:lumOff val="40000"/>
                </a:schemeClr>
              </a:buClr>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5">
                  <a:lumMod val="75000"/>
                </a:schemeClr>
              </a:buClr>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5">
                  <a:lumMod val="50000"/>
                </a:schemeClr>
              </a:buClr>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5">
                  <a:lumMod val="50000"/>
                </a:schemeClr>
              </a:buClr>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buClr>
                <a:srgbClr val="4472C4"/>
              </a:buClr>
            </a:pPr>
            <a:endParaRPr lang="ja-JP" altLang="en-US" b="1"/>
          </a:p>
          <a:p>
            <a:pPr>
              <a:buClr>
                <a:srgbClr val="4472C4">
                  <a:lumMod val="50000"/>
                </a:srgbClr>
              </a:buClr>
            </a:pPr>
            <a:endParaRPr lang="ja-JP" altLang="en-US" b="1"/>
          </a:p>
        </p:txBody>
      </p:sp>
      <mc:AlternateContent xmlns:mc="http://schemas.openxmlformats.org/markup-compatibility/2006" xmlns:a14="http://schemas.microsoft.com/office/drawing/2010/main">
        <mc:Choice Requires="a14">
          <p:sp>
            <p:nvSpPr>
              <p:cNvPr id="3" name="Content Placeholder 132">
                <a:extLst>
                  <a:ext uri="{FF2B5EF4-FFF2-40B4-BE49-F238E27FC236}">
                    <a16:creationId xmlns:a16="http://schemas.microsoft.com/office/drawing/2014/main" id="{4451989E-267B-04ED-A0B9-6BC82186994D}"/>
                  </a:ext>
                </a:extLst>
              </p:cNvPr>
              <p:cNvSpPr txBox="1">
                <a:spLocks/>
              </p:cNvSpPr>
              <p:nvPr/>
            </p:nvSpPr>
            <p:spPr>
              <a:xfrm>
                <a:off x="845115" y="1596914"/>
                <a:ext cx="10508685" cy="486103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Clr>
                    <a:schemeClr val="accent5"/>
                  </a:buClr>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5">
                      <a:lumMod val="60000"/>
                      <a:lumOff val="40000"/>
                    </a:schemeClr>
                  </a:buClr>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5">
                      <a:lumMod val="75000"/>
                    </a:schemeClr>
                  </a:buClr>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5">
                      <a:lumMod val="50000"/>
                    </a:schemeClr>
                  </a:buClr>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5">
                      <a:lumMod val="50000"/>
                    </a:schemeClr>
                  </a:buClr>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a:ea typeface="游ゴシック"/>
                  </a:rPr>
                  <a:t>CTC</a:t>
                </a:r>
                <a:r>
                  <a:rPr lang="ja-JP" altLang="en-US">
                    <a:ea typeface="游ゴシック"/>
                  </a:rPr>
                  <a:t> 損失</a:t>
                </a:r>
                <a:endParaRPr lang="en-US" altLang="ja-JP">
                  <a:ea typeface="游ゴシック"/>
                </a:endParaRPr>
              </a:p>
              <a:p>
                <a:pPr marL="0" indent="0">
                  <a:buNone/>
                </a:pPr>
                <a:endParaRPr lang="en-US" altLang="ja-JP" sz="2000">
                  <a:ea typeface="游ゴシック"/>
                </a:endParaRPr>
              </a:p>
              <a:p>
                <a:pPr marL="0" indent="0">
                  <a:buNone/>
                </a:pPr>
                <a14:m>
                  <m:oMathPara xmlns:m="http://schemas.openxmlformats.org/officeDocument/2006/math">
                    <m:oMathParaPr>
                      <m:jc m:val="centerGroup"/>
                    </m:oMathParaPr>
                    <m:oMath xmlns:m="http://schemas.openxmlformats.org/officeDocument/2006/math">
                      <m:sSub>
                        <m:sSubPr>
                          <m:ctrlPr>
                            <a:rPr lang="en-US" altLang="ja-JP" i="1">
                              <a:latin typeface="Cambria Math" panose="02040503050406030204" pitchFamily="18" charset="0"/>
                            </a:rPr>
                          </m:ctrlPr>
                        </m:sSubPr>
                        <m:e>
                          <m:r>
                            <a:rPr lang="ja-JP" altLang="en-US">
                              <a:latin typeface="Cambria Math" panose="02040503050406030204" pitchFamily="18" charset="0"/>
                            </a:rPr>
                            <m:t>ℒ</m:t>
                          </m:r>
                        </m:e>
                        <m:sub>
                          <m:r>
                            <a:rPr lang="en-US" altLang="ja-JP" i="1">
                              <a:latin typeface="Cambria Math" panose="02040503050406030204" pitchFamily="18" charset="0"/>
                            </a:rPr>
                            <m:t>𝐶𝑇𝐶</m:t>
                          </m:r>
                        </m:sub>
                      </m:sSub>
                      <m:func>
                        <m:funcPr>
                          <m:ctrlPr>
                            <a:rPr lang="en-US" altLang="ja-JP" i="1">
                              <a:latin typeface="Cambria Math" panose="02040503050406030204" pitchFamily="18" charset="0"/>
                            </a:rPr>
                          </m:ctrlPr>
                        </m:funcPr>
                        <m:fName>
                          <m:r>
                            <a:rPr lang="en-US" altLang="ja-JP">
                              <a:latin typeface="Cambria Math" panose="02040503050406030204" pitchFamily="18" charset="0"/>
                            </a:rPr>
                            <m:t>=−</m:t>
                          </m:r>
                          <m:r>
                            <m:rPr>
                              <m:sty m:val="p"/>
                            </m:rPr>
                            <a:rPr lang="en-US" altLang="ja-JP">
                              <a:latin typeface="Cambria Math" panose="02040503050406030204" pitchFamily="18" charset="0"/>
                            </a:rPr>
                            <m:t>log</m:t>
                          </m:r>
                        </m:fName>
                        <m:e>
                          <m:r>
                            <a:rPr lang="en-US" altLang="ja-JP" i="1">
                              <a:latin typeface="Cambria Math" panose="02040503050406030204" pitchFamily="18" charset="0"/>
                            </a:rPr>
                            <m:t>(</m:t>
                          </m:r>
                          <m:r>
                            <a:rPr lang="en-US" altLang="ja-JP" i="1">
                              <a:latin typeface="Cambria Math" panose="02040503050406030204" pitchFamily="18" charset="0"/>
                            </a:rPr>
                            <m:t>𝑝</m:t>
                          </m:r>
                          <m:r>
                            <a:rPr lang="en-US" altLang="ja-JP" i="1">
                              <a:latin typeface="Cambria Math" panose="02040503050406030204" pitchFamily="18" charset="0"/>
                            </a:rPr>
                            <m:t>(</m:t>
                          </m:r>
                          <m:r>
                            <a:rPr lang="en-US" altLang="ja-JP" b="1" i="1">
                              <a:latin typeface="Cambria Math" panose="02040503050406030204" pitchFamily="18" charset="0"/>
                            </a:rPr>
                            <m:t>𝒚</m:t>
                          </m:r>
                          <m:r>
                            <a:rPr lang="en-US" altLang="ja-JP" i="1">
                              <a:latin typeface="Cambria Math" panose="02040503050406030204" pitchFamily="18" charset="0"/>
                            </a:rPr>
                            <m:t>))</m:t>
                          </m:r>
                        </m:e>
                      </m:func>
                    </m:oMath>
                  </m:oMathPara>
                </a14:m>
                <a:endParaRPr lang="en-US" altLang="ja-JP" sz="1600">
                  <a:ea typeface="游ゴシック"/>
                </a:endParaRPr>
              </a:p>
              <a:p>
                <a:pPr marL="0" indent="0">
                  <a:buNone/>
                </a:pPr>
                <a:endParaRPr lang="ja-JP" altLang="en-US">
                  <a:ea typeface="游ゴシック"/>
                </a:endParaRPr>
              </a:p>
            </p:txBody>
          </p:sp>
        </mc:Choice>
        <mc:Fallback xmlns="">
          <p:sp>
            <p:nvSpPr>
              <p:cNvPr id="3" name="Content Placeholder 132">
                <a:extLst>
                  <a:ext uri="{FF2B5EF4-FFF2-40B4-BE49-F238E27FC236}">
                    <a16:creationId xmlns:a16="http://schemas.microsoft.com/office/drawing/2014/main" id="{4451989E-267B-04ED-A0B9-6BC82186994D}"/>
                  </a:ext>
                </a:extLst>
              </p:cNvPr>
              <p:cNvSpPr txBox="1">
                <a:spLocks noRot="1" noChangeAspect="1" noMove="1" noResize="1" noEditPoints="1" noAdjustHandles="1" noChangeArrowheads="1" noChangeShapeType="1" noTextEdit="1"/>
              </p:cNvSpPr>
              <p:nvPr/>
            </p:nvSpPr>
            <p:spPr>
              <a:xfrm>
                <a:off x="845115" y="1596914"/>
                <a:ext cx="10508685" cy="4861035"/>
              </a:xfrm>
              <a:prstGeom prst="rect">
                <a:avLst/>
              </a:prstGeom>
              <a:blipFill>
                <a:blip r:embed="rId4"/>
                <a:stretch>
                  <a:fillRect l="-1044" t="-2133"/>
                </a:stretch>
              </a:blipFill>
            </p:spPr>
            <p:txBody>
              <a:bodyPr/>
              <a:lstStyle/>
              <a:p>
                <a:r>
                  <a:rPr lang="en-US">
                    <a:noFill/>
                  </a:rPr>
                  <a:t> </a:t>
                </a:r>
              </a:p>
            </p:txBody>
          </p:sp>
        </mc:Fallback>
      </mc:AlternateContent>
      <p:sp>
        <p:nvSpPr>
          <p:cNvPr id="4" name="スライド番号プレースホルダー 3">
            <a:extLst>
              <a:ext uri="{FF2B5EF4-FFF2-40B4-BE49-F238E27FC236}">
                <a16:creationId xmlns:a16="http://schemas.microsoft.com/office/drawing/2014/main" id="{78E5EC33-C621-A03A-68EB-438D4660697A}"/>
              </a:ext>
            </a:extLst>
          </p:cNvPr>
          <p:cNvSpPr>
            <a:spLocks noGrp="1"/>
          </p:cNvSpPr>
          <p:nvPr>
            <p:ph type="sldNum" sz="quarter" idx="12"/>
          </p:nvPr>
        </p:nvSpPr>
        <p:spPr/>
        <p:txBody>
          <a:bodyPr/>
          <a:lstStyle/>
          <a:p>
            <a:fld id="{397E558F-9F61-480E-94CF-2C9CB5412042}" type="slidenum">
              <a:rPr lang="ja-JP" altLang="en-US" smtClean="0"/>
              <a:pPr/>
              <a:t>19</a:t>
            </a:fld>
            <a:endParaRPr lang="ja-JP" altLang="en-US"/>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3F199134-B524-E78C-409B-DC04E228FBFB}"/>
                  </a:ext>
                </a:extLst>
              </p:cNvPr>
              <p:cNvSpPr txBox="1"/>
              <p:nvPr/>
            </p:nvSpPr>
            <p:spPr>
              <a:xfrm>
                <a:off x="8412534" y="2207696"/>
                <a:ext cx="3474569" cy="680123"/>
              </a:xfrm>
              <a:prstGeom prst="rect">
                <a:avLst/>
              </a:prstGeom>
              <a:noFill/>
            </p:spPr>
            <p:txBody>
              <a:bodyPr wrap="square">
                <a:spAutoFit/>
              </a:bodyPr>
              <a:lstStyle/>
              <a:p>
                <a14:m>
                  <m:oMath xmlns:m="http://schemas.openxmlformats.org/officeDocument/2006/math">
                    <m:r>
                      <a:rPr lang="en-US" altLang="ja-JP" b="1" i="1">
                        <a:latin typeface="Cambria Math" panose="02040503050406030204" pitchFamily="18" charset="0"/>
                      </a:rPr>
                      <m:t>𝒚</m:t>
                    </m:r>
                    <m:r>
                      <a:rPr lang="ja-JP" altLang="en-US" i="1">
                        <a:latin typeface="Cambria Math" panose="02040503050406030204" pitchFamily="18" charset="0"/>
                      </a:rPr>
                      <m:t>　</m:t>
                    </m:r>
                    <m:r>
                      <a:rPr lang="en-US" altLang="ja-JP" i="1">
                        <a:latin typeface="Cambria Math" panose="02040503050406030204" pitchFamily="18" charset="0"/>
                      </a:rPr>
                      <m:t>  </m:t>
                    </m:r>
                    <m:r>
                      <a:rPr lang="ja-JP" altLang="en-US" i="1">
                        <a:latin typeface="Cambria Math" panose="02040503050406030204" pitchFamily="18" charset="0"/>
                      </a:rPr>
                      <m:t>：正解</m:t>
                    </m:r>
                  </m:oMath>
                </a14:m>
                <a:r>
                  <a:rPr lang="ja-JP" altLang="en-US"/>
                  <a:t>文字列</a:t>
                </a:r>
                <a:endParaRPr lang="en-US" altLang="ja-JP"/>
              </a:p>
              <a:p>
                <a14:m>
                  <m:oMath xmlns:m="http://schemas.openxmlformats.org/officeDocument/2006/math">
                    <m:r>
                      <a:rPr lang="en-US" altLang="ja-JP" i="1">
                        <a:latin typeface="Cambria Math" panose="02040503050406030204" pitchFamily="18" charset="0"/>
                      </a:rPr>
                      <m:t>𝑝</m:t>
                    </m:r>
                    <m:r>
                      <a:rPr lang="en-US" altLang="ja-JP" i="1">
                        <a:latin typeface="Cambria Math" panose="02040503050406030204" pitchFamily="18" charset="0"/>
                      </a:rPr>
                      <m:t>(</m:t>
                    </m:r>
                    <m:r>
                      <a:rPr lang="en-US" altLang="ja-JP" b="1" i="1">
                        <a:latin typeface="Cambria Math" panose="02040503050406030204" pitchFamily="18" charset="0"/>
                      </a:rPr>
                      <m:t>𝒚</m:t>
                    </m:r>
                    <m:r>
                      <a:rPr lang="en-US" altLang="ja-JP" i="1">
                        <a:latin typeface="Cambria Math" panose="02040503050406030204" pitchFamily="18" charset="0"/>
                      </a:rPr>
                      <m:t>)</m:t>
                    </m:r>
                    <m:r>
                      <a:rPr lang="ja-JP" altLang="en-US" i="1">
                        <a:latin typeface="Cambria Math" panose="02040503050406030204" pitchFamily="18" charset="0"/>
                      </a:rPr>
                      <m:t>：予測文字列</m:t>
                    </m:r>
                  </m:oMath>
                </a14:m>
                <a:r>
                  <a:rPr lang="ja-JP" altLang="en-US"/>
                  <a:t> </a:t>
                </a:r>
                <a14:m>
                  <m:oMath xmlns:m="http://schemas.openxmlformats.org/officeDocument/2006/math">
                    <m:r>
                      <a:rPr lang="en-US" altLang="ja-JP" b="1" i="1">
                        <a:latin typeface="Cambria Math" panose="02040503050406030204" pitchFamily="18" charset="0"/>
                      </a:rPr>
                      <m:t>𝒚</m:t>
                    </m:r>
                  </m:oMath>
                </a14:m>
                <a:r>
                  <a:rPr lang="ja-JP" altLang="en-US"/>
                  <a:t>になる確率</a:t>
                </a:r>
                <a:endParaRPr lang="en-US" altLang="ja-JP"/>
              </a:p>
            </p:txBody>
          </p:sp>
        </mc:Choice>
        <mc:Fallback xmlns="">
          <p:sp>
            <p:nvSpPr>
              <p:cNvPr id="6" name="テキスト ボックス 5">
                <a:extLst>
                  <a:ext uri="{FF2B5EF4-FFF2-40B4-BE49-F238E27FC236}">
                    <a16:creationId xmlns:a16="http://schemas.microsoft.com/office/drawing/2014/main" id="{3F199134-B524-E78C-409B-DC04E228FBFB}"/>
                  </a:ext>
                </a:extLst>
              </p:cNvPr>
              <p:cNvSpPr txBox="1">
                <a:spLocks noRot="1" noChangeAspect="1" noMove="1" noResize="1" noEditPoints="1" noAdjustHandles="1" noChangeArrowheads="1" noChangeShapeType="1" noTextEdit="1"/>
              </p:cNvSpPr>
              <p:nvPr/>
            </p:nvSpPr>
            <p:spPr>
              <a:xfrm>
                <a:off x="8412534" y="2207696"/>
                <a:ext cx="3474569" cy="680123"/>
              </a:xfrm>
              <a:prstGeom prst="rect">
                <a:avLst/>
              </a:prstGeom>
              <a:blipFill>
                <a:blip r:embed="rId5"/>
                <a:stretch>
                  <a:fillRect b="-13393"/>
                </a:stretch>
              </a:blipFill>
            </p:spPr>
            <p:txBody>
              <a:bodyPr/>
              <a:lstStyle/>
              <a:p>
                <a:r>
                  <a:rPr lang="en-US">
                    <a:noFill/>
                  </a:rPr>
                  <a:t> </a:t>
                </a:r>
              </a:p>
            </p:txBody>
          </p:sp>
        </mc:Fallback>
      </mc:AlternateContent>
      <p:sp>
        <p:nvSpPr>
          <p:cNvPr id="12" name="右矢印 11">
            <a:extLst>
              <a:ext uri="{FF2B5EF4-FFF2-40B4-BE49-F238E27FC236}">
                <a16:creationId xmlns:a16="http://schemas.microsoft.com/office/drawing/2014/main" id="{DA189CF5-2F2C-EEEA-8F1C-50153DFD12E0}"/>
              </a:ext>
            </a:extLst>
          </p:cNvPr>
          <p:cNvSpPr/>
          <p:nvPr/>
        </p:nvSpPr>
        <p:spPr>
          <a:xfrm rot="7503132">
            <a:off x="5125994" y="3153982"/>
            <a:ext cx="461028" cy="265933"/>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2000" algn="ctr">
              <a:spcBef>
                <a:spcPts val="600"/>
              </a:spcBef>
            </a:pPr>
            <a:endParaRPr kumimoji="1" lang="ja-JP" altLang="en-US" sz="2000">
              <a:solidFill>
                <a:schemeClr val="tx1"/>
              </a:solidFill>
            </a:endParaRPr>
          </a:p>
        </p:txBody>
      </p:sp>
      <p:sp>
        <p:nvSpPr>
          <p:cNvPr id="7" name="タイトル 6">
            <a:extLst>
              <a:ext uri="{FF2B5EF4-FFF2-40B4-BE49-F238E27FC236}">
                <a16:creationId xmlns:a16="http://schemas.microsoft.com/office/drawing/2014/main" id="{A012ABB2-512D-7018-534D-1418AE544BD9}"/>
              </a:ext>
            </a:extLst>
          </p:cNvPr>
          <p:cNvSpPr>
            <a:spLocks noGrp="1"/>
          </p:cNvSpPr>
          <p:nvPr>
            <p:ph type="title"/>
          </p:nvPr>
        </p:nvSpPr>
        <p:spPr/>
        <p:txBody>
          <a:bodyPr/>
          <a:lstStyle/>
          <a:p>
            <a:r>
              <a:rPr lang="ja-JP" altLang="en-US" sz="3200">
                <a:ea typeface="游ゴシック"/>
              </a:rPr>
              <a:t>エンコーダへの言語特徴付与</a:t>
            </a:r>
            <a:br>
              <a:rPr lang="en-US" altLang="ja-JP"/>
            </a:br>
            <a:r>
              <a:rPr lang="ja-JP" altLang="en-US">
                <a:solidFill>
                  <a:schemeClr val="tx1"/>
                </a:solidFill>
                <a:ea typeface="游ゴシック Light"/>
              </a:rPr>
              <a:t>損失関数の設計</a:t>
            </a:r>
            <a:endParaRPr lang="ja-JP" altLang="en-US"/>
          </a:p>
        </p:txBody>
      </p:sp>
    </p:spTree>
    <p:extLst>
      <p:ext uri="{BB962C8B-B14F-4D97-AF65-F5344CB8AC3E}">
        <p14:creationId xmlns:p14="http://schemas.microsoft.com/office/powerpoint/2010/main" val="23414875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35DB9-FD46-7DBB-05C3-88A89B8F7077}"/>
            </a:ext>
          </a:extLst>
        </p:cNvPr>
        <p:cNvGrpSpPr/>
        <p:nvPr/>
      </p:nvGrpSpPr>
      <p:grpSpPr>
        <a:xfrm>
          <a:off x="0" y="0"/>
          <a:ext cx="0" cy="0"/>
          <a:chOff x="0" y="0"/>
          <a:chExt cx="0" cy="0"/>
        </a:xfrm>
      </p:grpSpPr>
      <p:sp>
        <p:nvSpPr>
          <p:cNvPr id="10" name="コンテンツ プレースホルダー 2">
            <a:extLst>
              <a:ext uri="{FF2B5EF4-FFF2-40B4-BE49-F238E27FC236}">
                <a16:creationId xmlns:a16="http://schemas.microsoft.com/office/drawing/2014/main" id="{E34B10B5-4716-A3B2-2A61-E0678634222F}"/>
              </a:ext>
            </a:extLst>
          </p:cNvPr>
          <p:cNvSpPr txBox="1">
            <a:spLocks/>
          </p:cNvSpPr>
          <p:nvPr/>
        </p:nvSpPr>
        <p:spPr>
          <a:xfrm>
            <a:off x="839788" y="1681163"/>
            <a:ext cx="5157787" cy="823912"/>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Clr>
                <a:schemeClr val="accent5"/>
              </a:buClr>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5">
                  <a:lumMod val="60000"/>
                  <a:lumOff val="40000"/>
                </a:schemeClr>
              </a:buClr>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5">
                  <a:lumMod val="75000"/>
                </a:schemeClr>
              </a:buClr>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5">
                  <a:lumMod val="50000"/>
                </a:schemeClr>
              </a:buClr>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5">
                  <a:lumMod val="50000"/>
                </a:schemeClr>
              </a:buClr>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buClr>
                <a:srgbClr val="4472C4"/>
              </a:buClr>
            </a:pPr>
            <a:endParaRPr lang="ja-JP" altLang="en-US" b="1"/>
          </a:p>
          <a:p>
            <a:pPr>
              <a:buClr>
                <a:srgbClr val="4472C4">
                  <a:lumMod val="50000"/>
                </a:srgbClr>
              </a:buClr>
            </a:pPr>
            <a:endParaRPr lang="ja-JP" altLang="en-US" b="1"/>
          </a:p>
        </p:txBody>
      </p:sp>
      <mc:AlternateContent xmlns:mc="http://schemas.openxmlformats.org/markup-compatibility/2006" xmlns:a14="http://schemas.microsoft.com/office/drawing/2010/main">
        <mc:Choice Requires="a14">
          <p:sp>
            <p:nvSpPr>
              <p:cNvPr id="3" name="Content Placeholder 132">
                <a:extLst>
                  <a:ext uri="{FF2B5EF4-FFF2-40B4-BE49-F238E27FC236}">
                    <a16:creationId xmlns:a16="http://schemas.microsoft.com/office/drawing/2014/main" id="{F268D540-A0F1-8FA8-0148-1A34C0DC0E0F}"/>
                  </a:ext>
                </a:extLst>
              </p:cNvPr>
              <p:cNvSpPr txBox="1">
                <a:spLocks/>
              </p:cNvSpPr>
              <p:nvPr/>
            </p:nvSpPr>
            <p:spPr>
              <a:xfrm>
                <a:off x="845115" y="1596914"/>
                <a:ext cx="10508685" cy="486103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Clr>
                    <a:schemeClr val="accent5"/>
                  </a:buClr>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5">
                      <a:lumMod val="60000"/>
                      <a:lumOff val="40000"/>
                    </a:schemeClr>
                  </a:buClr>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5">
                      <a:lumMod val="75000"/>
                    </a:schemeClr>
                  </a:buClr>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5">
                      <a:lumMod val="50000"/>
                    </a:schemeClr>
                  </a:buClr>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5">
                      <a:lumMod val="50000"/>
                    </a:schemeClr>
                  </a:buClr>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a:solidFill>
                      <a:schemeClr val="bg1">
                        <a:lumMod val="50000"/>
                      </a:schemeClr>
                    </a:solidFill>
                    <a:ea typeface="游ゴシック"/>
                  </a:rPr>
                  <a:t>LAIL </a:t>
                </a:r>
                <a:r>
                  <a:rPr lang="ja-JP" altLang="en-US">
                    <a:solidFill>
                      <a:schemeClr val="bg1">
                        <a:lumMod val="50000"/>
                      </a:schemeClr>
                    </a:solidFill>
                    <a:ea typeface="游ゴシック"/>
                  </a:rPr>
                  <a:t>損失</a:t>
                </a:r>
                <a:endParaRPr lang="en-US" altLang="ja-JP">
                  <a:solidFill>
                    <a:schemeClr val="bg1">
                      <a:lumMod val="50000"/>
                    </a:schemeClr>
                  </a:solidFill>
                  <a:ea typeface="游ゴシック"/>
                </a:endParaRPr>
              </a:p>
              <a:p>
                <a:pPr marL="0" indent="0">
                  <a:buNone/>
                </a:pPr>
                <a:endParaRPr lang="en-US" altLang="ja-JP" sz="1600">
                  <a:solidFill>
                    <a:schemeClr val="bg1">
                      <a:lumMod val="50000"/>
                    </a:schemeClr>
                  </a:solidFill>
                  <a:ea typeface="游ゴシック"/>
                </a:endParaRPr>
              </a:p>
              <a:p>
                <a:pPr marL="0" indent="0">
                  <a:buNone/>
                </a:pPr>
                <a14:m>
                  <m:oMathPara xmlns:m="http://schemas.openxmlformats.org/officeDocument/2006/math">
                    <m:oMathParaPr>
                      <m:jc m:val="centerGroup"/>
                    </m:oMathParaPr>
                    <m:oMath xmlns:m="http://schemas.openxmlformats.org/officeDocument/2006/math">
                      <m:sSub>
                        <m:sSubPr>
                          <m:ctrlPr>
                            <a:rPr lang="ja-JP" altLang="en-US" sz="2000" i="1">
                              <a:solidFill>
                                <a:schemeClr val="bg1">
                                  <a:lumMod val="50000"/>
                                </a:schemeClr>
                              </a:solidFill>
                              <a:latin typeface="Cambria Math" panose="02040503050406030204" pitchFamily="18" charset="0"/>
                            </a:rPr>
                          </m:ctrlPr>
                        </m:sSubPr>
                        <m:e>
                          <m:r>
                            <a:rPr lang="ja-JP" altLang="en-US" sz="2000">
                              <a:solidFill>
                                <a:schemeClr val="bg1">
                                  <a:lumMod val="50000"/>
                                </a:schemeClr>
                              </a:solidFill>
                              <a:latin typeface="Cambria Math" panose="02040503050406030204" pitchFamily="18" charset="0"/>
                            </a:rPr>
                            <m:t>ℒ</m:t>
                          </m:r>
                        </m:e>
                        <m:sub>
                          <m:r>
                            <a:rPr lang="en-US" altLang="ja-JP" sz="2000" i="1">
                              <a:solidFill>
                                <a:schemeClr val="bg1">
                                  <a:lumMod val="50000"/>
                                </a:schemeClr>
                              </a:solidFill>
                              <a:latin typeface="Cambria Math" panose="02040503050406030204" pitchFamily="18" charset="0"/>
                            </a:rPr>
                            <m:t>𝐿𝐴𝐼𝐿</m:t>
                          </m:r>
                        </m:sub>
                      </m:sSub>
                      <m:r>
                        <a:rPr lang="ja-JP" altLang="en-US" sz="2000">
                          <a:solidFill>
                            <a:schemeClr val="bg1">
                              <a:lumMod val="50000"/>
                            </a:schemeClr>
                          </a:solidFill>
                          <a:latin typeface="Cambria Math" panose="02040503050406030204" pitchFamily="18" charset="0"/>
                        </a:rPr>
                        <m:t>=</m:t>
                      </m:r>
                      <m:r>
                        <a:rPr lang="en-US" altLang="ja-JP" sz="2000" b="0" i="1" smtClean="0">
                          <a:solidFill>
                            <a:schemeClr val="bg1">
                              <a:lumMod val="50000"/>
                            </a:schemeClr>
                          </a:solidFill>
                          <a:latin typeface="Cambria Math" panose="02040503050406030204" pitchFamily="18" charset="0"/>
                        </a:rPr>
                        <m:t>−</m:t>
                      </m:r>
                      <m:nary>
                        <m:naryPr>
                          <m:chr m:val="∑"/>
                          <m:limLoc m:val="subSup"/>
                          <m:supHide m:val="on"/>
                          <m:ctrlPr>
                            <a:rPr lang="en-US" altLang="ja-JP" sz="2000" i="1">
                              <a:solidFill>
                                <a:schemeClr val="bg1">
                                  <a:lumMod val="50000"/>
                                </a:schemeClr>
                              </a:solidFill>
                              <a:latin typeface="Cambria Math" panose="02040503050406030204" pitchFamily="18" charset="0"/>
                            </a:rPr>
                          </m:ctrlPr>
                        </m:naryPr>
                        <m:sub>
                          <m:r>
                            <m:rPr>
                              <m:brk m:alnAt="9"/>
                            </m:rPr>
                            <a:rPr lang="en-US" altLang="ja-JP" sz="2000" i="1">
                              <a:solidFill>
                                <a:schemeClr val="bg1">
                                  <a:lumMod val="50000"/>
                                </a:schemeClr>
                              </a:solidFill>
                              <a:latin typeface="Cambria Math" panose="02040503050406030204" pitchFamily="18" charset="0"/>
                            </a:rPr>
                            <m:t>𝑙</m:t>
                          </m:r>
                          <m:r>
                            <a:rPr lang="en-US" altLang="ja-JP" sz="2000" i="1">
                              <a:solidFill>
                                <a:schemeClr val="bg1">
                                  <a:lumMod val="50000"/>
                                </a:schemeClr>
                              </a:solidFill>
                              <a:latin typeface="Cambria Math" panose="02040503050406030204" pitchFamily="18" charset="0"/>
                              <a:ea typeface="Cambria Math" panose="02040503050406030204" pitchFamily="18" charset="0"/>
                            </a:rPr>
                            <m:t>∈</m:t>
                          </m:r>
                          <m:r>
                            <a:rPr lang="en-US" altLang="ja-JP" sz="2000" i="1">
                              <a:solidFill>
                                <a:schemeClr val="bg1">
                                  <a:lumMod val="50000"/>
                                </a:schemeClr>
                              </a:solidFill>
                              <a:latin typeface="Cambria Math" panose="02040503050406030204" pitchFamily="18" charset="0"/>
                              <a:ea typeface="Cambria Math" panose="02040503050406030204" pitchFamily="18" charset="0"/>
                            </a:rPr>
                            <m:t>𝐿</m:t>
                          </m:r>
                        </m:sub>
                        <m:sup/>
                        <m:e>
                          <m:sSub>
                            <m:sSubPr>
                              <m:ctrlPr>
                                <a:rPr lang="en-US" altLang="ja-JP" sz="2000" i="1" smtClean="0">
                                  <a:solidFill>
                                    <a:schemeClr val="bg1">
                                      <a:lumMod val="50000"/>
                                    </a:schemeClr>
                                  </a:solidFill>
                                  <a:latin typeface="Cambria Math" panose="02040503050406030204" pitchFamily="18" charset="0"/>
                                  <a:ea typeface="Cambria Math" panose="02040503050406030204" pitchFamily="18" charset="0"/>
                                </a:rPr>
                              </m:ctrlPr>
                            </m:sSubPr>
                            <m:e>
                              <m:r>
                                <a:rPr lang="en-US" altLang="ja-JP" sz="2000" i="1" smtClean="0">
                                  <a:solidFill>
                                    <a:schemeClr val="bg1">
                                      <a:lumMod val="50000"/>
                                    </a:schemeClr>
                                  </a:solidFill>
                                  <a:latin typeface="Cambria Math" panose="02040503050406030204" pitchFamily="18" charset="0"/>
                                  <a:ea typeface="Cambria Math" panose="02040503050406030204" pitchFamily="18" charset="0"/>
                                </a:rPr>
                                <m:t>𝜆</m:t>
                              </m:r>
                            </m:e>
                            <m:sub>
                              <m:r>
                                <a:rPr lang="en-US" altLang="ja-JP" sz="2000" b="0" i="1" smtClean="0">
                                  <a:solidFill>
                                    <a:schemeClr val="bg1">
                                      <a:lumMod val="50000"/>
                                    </a:schemeClr>
                                  </a:solidFill>
                                  <a:latin typeface="Cambria Math" panose="02040503050406030204" pitchFamily="18" charset="0"/>
                                  <a:ea typeface="Cambria Math" panose="02040503050406030204" pitchFamily="18" charset="0"/>
                                </a:rPr>
                                <m:t>𝑙</m:t>
                              </m:r>
                            </m:sub>
                          </m:sSub>
                          <m:nary>
                            <m:naryPr>
                              <m:chr m:val="∑"/>
                              <m:limLoc m:val="subSup"/>
                              <m:ctrlPr>
                                <a:rPr lang="en-US" altLang="ja-JP" sz="2000" i="1">
                                  <a:solidFill>
                                    <a:schemeClr val="bg1">
                                      <a:lumMod val="50000"/>
                                    </a:schemeClr>
                                  </a:solidFill>
                                  <a:latin typeface="Cambria Math" panose="02040503050406030204" pitchFamily="18" charset="0"/>
                                </a:rPr>
                              </m:ctrlPr>
                            </m:naryPr>
                            <m:sub>
                              <m:r>
                                <m:rPr>
                                  <m:brk m:alnAt="25"/>
                                </m:rPr>
                                <a:rPr lang="en-US" altLang="ja-JP" sz="2000" i="1">
                                  <a:solidFill>
                                    <a:schemeClr val="bg1">
                                      <a:lumMod val="50000"/>
                                    </a:schemeClr>
                                  </a:solidFill>
                                  <a:latin typeface="Cambria Math" panose="02040503050406030204" pitchFamily="18" charset="0"/>
                                </a:rPr>
                                <m:t>𝑡</m:t>
                              </m:r>
                              <m:r>
                                <a:rPr lang="en-US" altLang="ja-JP" sz="2000" i="1">
                                  <a:solidFill>
                                    <a:schemeClr val="bg1">
                                      <a:lumMod val="50000"/>
                                    </a:schemeClr>
                                  </a:solidFill>
                                  <a:latin typeface="Cambria Math" panose="02040503050406030204" pitchFamily="18" charset="0"/>
                                </a:rPr>
                                <m:t>=1</m:t>
                              </m:r>
                            </m:sub>
                            <m:sup>
                              <m:r>
                                <a:rPr lang="en-US" altLang="ja-JP" sz="2000" i="1">
                                  <a:solidFill>
                                    <a:schemeClr val="bg1">
                                      <a:lumMod val="50000"/>
                                    </a:schemeClr>
                                  </a:solidFill>
                                  <a:latin typeface="Cambria Math" panose="02040503050406030204" pitchFamily="18" charset="0"/>
                                </a:rPr>
                                <m:t>𝑇</m:t>
                              </m:r>
                            </m:sup>
                            <m:e>
                              <m:r>
                                <m:rPr>
                                  <m:sty m:val="p"/>
                                </m:rPr>
                                <a:rPr lang="en-US" altLang="ja-JP" sz="2000">
                                  <a:solidFill>
                                    <a:schemeClr val="bg1">
                                      <a:lumMod val="50000"/>
                                    </a:schemeClr>
                                  </a:solidFill>
                                  <a:latin typeface="Cambria Math" panose="02040503050406030204" pitchFamily="18" charset="0"/>
                                </a:rPr>
                                <m:t>logP</m:t>
                              </m:r>
                            </m:e>
                          </m:nary>
                          <m:r>
                            <a:rPr lang="en-US" altLang="ja-JP" sz="2000" i="1">
                              <a:solidFill>
                                <a:schemeClr val="bg1">
                                  <a:lumMod val="50000"/>
                                </a:schemeClr>
                              </a:solidFill>
                              <a:latin typeface="Cambria Math" panose="02040503050406030204" pitchFamily="18" charset="0"/>
                            </a:rPr>
                            <m:t>(</m:t>
                          </m:r>
                          <m:sSub>
                            <m:sSubPr>
                              <m:ctrlPr>
                                <a:rPr lang="ja-JP" altLang="en-US" sz="2000" i="1">
                                  <a:solidFill>
                                    <a:schemeClr val="bg1">
                                      <a:lumMod val="50000"/>
                                    </a:schemeClr>
                                  </a:solidFill>
                                  <a:latin typeface="Cambria Math" panose="02040503050406030204" pitchFamily="18" charset="0"/>
                                </a:rPr>
                              </m:ctrlPr>
                            </m:sSubPr>
                            <m:e>
                              <m:r>
                                <a:rPr lang="ja-JP" altLang="en-US" sz="2000" b="1" i="1">
                                  <a:solidFill>
                                    <a:schemeClr val="bg1">
                                      <a:lumMod val="50000"/>
                                    </a:schemeClr>
                                  </a:solidFill>
                                  <a:latin typeface="Cambria Math" panose="02040503050406030204" pitchFamily="18" charset="0"/>
                                </a:rPr>
                                <m:t>𝒚</m:t>
                              </m:r>
                            </m:e>
                            <m:sub>
                              <m:r>
                                <a:rPr lang="ja-JP" altLang="en-US" sz="2000" i="1">
                                  <a:solidFill>
                                    <a:schemeClr val="bg1">
                                      <a:lumMod val="50000"/>
                                    </a:schemeClr>
                                  </a:solidFill>
                                  <a:latin typeface="Cambria Math" panose="02040503050406030204" pitchFamily="18" charset="0"/>
                                </a:rPr>
                                <m:t>𝑡</m:t>
                              </m:r>
                            </m:sub>
                          </m:sSub>
                          <m:r>
                            <a:rPr lang="ja-JP" altLang="en-US" sz="2000">
                              <a:solidFill>
                                <a:schemeClr val="bg1">
                                  <a:lumMod val="50000"/>
                                </a:schemeClr>
                              </a:solidFill>
                              <a:latin typeface="Cambria Math" panose="02040503050406030204" pitchFamily="18" charset="0"/>
                            </a:rPr>
                            <m:t>∣</m:t>
                          </m:r>
                          <m:sSub>
                            <m:sSubPr>
                              <m:ctrlPr>
                                <a:rPr lang="ja-JP" altLang="en-US" sz="2000" i="1">
                                  <a:solidFill>
                                    <a:schemeClr val="bg1">
                                      <a:lumMod val="50000"/>
                                    </a:schemeClr>
                                  </a:solidFill>
                                  <a:latin typeface="Cambria Math" panose="02040503050406030204" pitchFamily="18" charset="0"/>
                                </a:rPr>
                              </m:ctrlPr>
                            </m:sSubPr>
                            <m:e>
                              <m:r>
                                <a:rPr lang="ja-JP" altLang="en-US" sz="2000" b="1" i="1">
                                  <a:solidFill>
                                    <a:schemeClr val="bg1">
                                      <a:lumMod val="50000"/>
                                    </a:schemeClr>
                                  </a:solidFill>
                                  <a:latin typeface="Cambria Math" panose="02040503050406030204" pitchFamily="18" charset="0"/>
                                </a:rPr>
                                <m:t>𝒚</m:t>
                              </m:r>
                            </m:e>
                            <m:sub>
                              <m:r>
                                <a:rPr lang="ja-JP" altLang="en-US" sz="2000">
                                  <a:solidFill>
                                    <a:schemeClr val="bg1">
                                      <a:lumMod val="50000"/>
                                    </a:schemeClr>
                                  </a:solidFill>
                                  <a:latin typeface="Cambria Math" panose="02040503050406030204" pitchFamily="18" charset="0"/>
                                </a:rPr>
                                <m:t>&lt;</m:t>
                              </m:r>
                              <m:r>
                                <a:rPr lang="ja-JP" altLang="en-US" sz="2000" i="1">
                                  <a:solidFill>
                                    <a:schemeClr val="bg1">
                                      <a:lumMod val="50000"/>
                                    </a:schemeClr>
                                  </a:solidFill>
                                  <a:latin typeface="Cambria Math" panose="02040503050406030204" pitchFamily="18" charset="0"/>
                                </a:rPr>
                                <m:t>𝑡</m:t>
                              </m:r>
                            </m:sub>
                          </m:sSub>
                          <m:sSub>
                            <m:sSubPr>
                              <m:ctrlPr>
                                <a:rPr lang="ja-JP" altLang="en-US" sz="2000" i="1">
                                  <a:solidFill>
                                    <a:schemeClr val="bg1">
                                      <a:lumMod val="50000"/>
                                    </a:schemeClr>
                                  </a:solidFill>
                                  <a:latin typeface="Cambria Math" panose="02040503050406030204" pitchFamily="18" charset="0"/>
                                </a:rPr>
                              </m:ctrlPr>
                            </m:sSubPr>
                            <m:e>
                              <m:r>
                                <a:rPr lang="en-US" altLang="ja-JP" sz="2000" b="1" i="1">
                                  <a:solidFill>
                                    <a:schemeClr val="bg1">
                                      <a:lumMod val="50000"/>
                                    </a:schemeClr>
                                  </a:solidFill>
                                  <a:latin typeface="Cambria Math" panose="02040503050406030204" pitchFamily="18" charset="0"/>
                                </a:rPr>
                                <m:t>,</m:t>
                              </m:r>
                              <m:r>
                                <a:rPr lang="ja-JP" altLang="en-US" sz="2000" b="1" i="1">
                                  <a:solidFill>
                                    <a:schemeClr val="bg1">
                                      <a:lumMod val="50000"/>
                                    </a:schemeClr>
                                  </a:solidFill>
                                  <a:latin typeface="Cambria Math" panose="02040503050406030204" pitchFamily="18" charset="0"/>
                                </a:rPr>
                                <m:t>𝒉</m:t>
                              </m:r>
                            </m:e>
                            <m:sub>
                              <m:r>
                                <a:rPr lang="ja-JP" altLang="en-US" sz="2000" i="1">
                                  <a:solidFill>
                                    <a:schemeClr val="bg1">
                                      <a:lumMod val="50000"/>
                                    </a:schemeClr>
                                  </a:solidFill>
                                  <a:latin typeface="Cambria Math" panose="02040503050406030204" pitchFamily="18" charset="0"/>
                                </a:rPr>
                                <m:t>𝑝𝑟𝑜𝑗</m:t>
                              </m:r>
                            </m:sub>
                          </m:sSub>
                          <m:r>
                            <a:rPr lang="en-US" altLang="ja-JP" sz="2000" i="1">
                              <a:solidFill>
                                <a:schemeClr val="bg1">
                                  <a:lumMod val="50000"/>
                                </a:schemeClr>
                              </a:solidFill>
                              <a:latin typeface="Cambria Math" panose="02040503050406030204" pitchFamily="18" charset="0"/>
                            </a:rPr>
                            <m:t>)</m:t>
                          </m:r>
                        </m:e>
                      </m:nary>
                    </m:oMath>
                  </m:oMathPara>
                </a14:m>
                <a:endParaRPr lang="en-US" altLang="ja-JP" sz="2000" b="0">
                  <a:solidFill>
                    <a:schemeClr val="bg1">
                      <a:lumMod val="50000"/>
                    </a:schemeClr>
                  </a:solidFill>
                </a:endParaRPr>
              </a:p>
              <a:p>
                <a:pPr marL="0" indent="0">
                  <a:buNone/>
                </a:pPr>
                <a:endParaRPr lang="en-US" altLang="ja-JP" sz="1600">
                  <a:solidFill>
                    <a:schemeClr val="bg1">
                      <a:lumMod val="50000"/>
                    </a:schemeClr>
                  </a:solidFill>
                  <a:ea typeface="游ゴシック"/>
                </a:endParaRPr>
              </a:p>
              <a:p>
                <a:r>
                  <a:rPr lang="en-US" altLang="ja-JP">
                    <a:solidFill>
                      <a:schemeClr val="bg1">
                        <a:lumMod val="50000"/>
                      </a:schemeClr>
                    </a:solidFill>
                    <a:ea typeface="游ゴシック"/>
                  </a:rPr>
                  <a:t>CTC</a:t>
                </a:r>
                <a:r>
                  <a:rPr lang="ja-JP" altLang="en-US">
                    <a:solidFill>
                      <a:schemeClr val="bg1">
                        <a:lumMod val="50000"/>
                      </a:schemeClr>
                    </a:solidFill>
                    <a:ea typeface="游ゴシック"/>
                  </a:rPr>
                  <a:t> 損失</a:t>
                </a:r>
                <a:endParaRPr lang="en-US" altLang="ja-JP">
                  <a:solidFill>
                    <a:schemeClr val="bg1">
                      <a:lumMod val="50000"/>
                    </a:schemeClr>
                  </a:solidFill>
                  <a:ea typeface="游ゴシック"/>
                </a:endParaRPr>
              </a:p>
              <a:p>
                <a:pPr marL="0" indent="0">
                  <a:buNone/>
                </a:pPr>
                <a:endParaRPr lang="en-US" altLang="ja-JP" sz="1600">
                  <a:solidFill>
                    <a:schemeClr val="bg1">
                      <a:lumMod val="50000"/>
                    </a:schemeClr>
                  </a:solidFill>
                  <a:ea typeface="游ゴシック"/>
                </a:endParaRPr>
              </a:p>
              <a:p>
                <a:pPr marL="0" indent="0">
                  <a:buNone/>
                </a:pPr>
                <a14:m>
                  <m:oMathPara xmlns:m="http://schemas.openxmlformats.org/officeDocument/2006/math">
                    <m:oMathParaPr>
                      <m:jc m:val="centerGroup"/>
                    </m:oMathParaPr>
                    <m:oMath xmlns:m="http://schemas.openxmlformats.org/officeDocument/2006/math">
                      <m:sSub>
                        <m:sSubPr>
                          <m:ctrlPr>
                            <a:rPr lang="en-US" altLang="ja-JP" sz="2000" i="1">
                              <a:solidFill>
                                <a:schemeClr val="bg1">
                                  <a:lumMod val="50000"/>
                                </a:schemeClr>
                              </a:solidFill>
                              <a:latin typeface="Cambria Math" panose="02040503050406030204" pitchFamily="18" charset="0"/>
                            </a:rPr>
                          </m:ctrlPr>
                        </m:sSubPr>
                        <m:e>
                          <m:r>
                            <a:rPr lang="ja-JP" altLang="en-US" sz="2000">
                              <a:solidFill>
                                <a:schemeClr val="bg1">
                                  <a:lumMod val="50000"/>
                                </a:schemeClr>
                              </a:solidFill>
                              <a:latin typeface="Cambria Math" panose="02040503050406030204" pitchFamily="18" charset="0"/>
                            </a:rPr>
                            <m:t>ℒ</m:t>
                          </m:r>
                        </m:e>
                        <m:sub>
                          <m:r>
                            <a:rPr lang="en-US" altLang="ja-JP" sz="2000" b="0" i="1" smtClean="0">
                              <a:solidFill>
                                <a:schemeClr val="bg1">
                                  <a:lumMod val="50000"/>
                                </a:schemeClr>
                              </a:solidFill>
                              <a:latin typeface="Cambria Math" panose="02040503050406030204" pitchFamily="18" charset="0"/>
                            </a:rPr>
                            <m:t>𝐶𝑇𝐶</m:t>
                          </m:r>
                        </m:sub>
                      </m:sSub>
                      <m:func>
                        <m:funcPr>
                          <m:ctrlPr>
                            <a:rPr lang="en-US" altLang="ja-JP" sz="2000" i="1">
                              <a:solidFill>
                                <a:schemeClr val="bg1">
                                  <a:lumMod val="50000"/>
                                </a:schemeClr>
                              </a:solidFill>
                              <a:latin typeface="Cambria Math" panose="02040503050406030204" pitchFamily="18" charset="0"/>
                            </a:rPr>
                          </m:ctrlPr>
                        </m:funcPr>
                        <m:fName>
                          <m:r>
                            <a:rPr lang="en-US" altLang="ja-JP" sz="2000">
                              <a:solidFill>
                                <a:schemeClr val="bg1">
                                  <a:lumMod val="50000"/>
                                </a:schemeClr>
                              </a:solidFill>
                              <a:latin typeface="Cambria Math" panose="02040503050406030204" pitchFamily="18" charset="0"/>
                            </a:rPr>
                            <m:t>=−</m:t>
                          </m:r>
                          <m:r>
                            <m:rPr>
                              <m:sty m:val="p"/>
                            </m:rPr>
                            <a:rPr lang="en-US" altLang="ja-JP" sz="2000">
                              <a:solidFill>
                                <a:schemeClr val="bg1">
                                  <a:lumMod val="50000"/>
                                </a:schemeClr>
                              </a:solidFill>
                              <a:latin typeface="Cambria Math" panose="02040503050406030204" pitchFamily="18" charset="0"/>
                            </a:rPr>
                            <m:t>log</m:t>
                          </m:r>
                        </m:fName>
                        <m:e>
                          <m:r>
                            <a:rPr lang="en-US" altLang="ja-JP" sz="2000" i="1">
                              <a:solidFill>
                                <a:schemeClr val="bg1">
                                  <a:lumMod val="50000"/>
                                </a:schemeClr>
                              </a:solidFill>
                              <a:latin typeface="Cambria Math" panose="02040503050406030204" pitchFamily="18" charset="0"/>
                            </a:rPr>
                            <m:t>(</m:t>
                          </m:r>
                          <m:r>
                            <a:rPr lang="en-US" altLang="ja-JP" sz="2000" b="0" i="1" smtClean="0">
                              <a:solidFill>
                                <a:schemeClr val="bg1">
                                  <a:lumMod val="50000"/>
                                </a:schemeClr>
                              </a:solidFill>
                              <a:latin typeface="Cambria Math" panose="02040503050406030204" pitchFamily="18" charset="0"/>
                            </a:rPr>
                            <m:t>𝑝</m:t>
                          </m:r>
                          <m:r>
                            <a:rPr lang="en-US" altLang="ja-JP" sz="2000" b="0" i="1" smtClean="0">
                              <a:solidFill>
                                <a:schemeClr val="bg1">
                                  <a:lumMod val="50000"/>
                                </a:schemeClr>
                              </a:solidFill>
                              <a:latin typeface="Cambria Math" panose="02040503050406030204" pitchFamily="18" charset="0"/>
                            </a:rPr>
                            <m:t>(</m:t>
                          </m:r>
                          <m:r>
                            <a:rPr lang="en-US" altLang="ja-JP" sz="2000" b="1" i="1" smtClean="0">
                              <a:solidFill>
                                <a:schemeClr val="bg1">
                                  <a:lumMod val="50000"/>
                                </a:schemeClr>
                              </a:solidFill>
                              <a:latin typeface="Cambria Math" panose="02040503050406030204" pitchFamily="18" charset="0"/>
                            </a:rPr>
                            <m:t>𝒚</m:t>
                          </m:r>
                          <m:r>
                            <a:rPr lang="en-US" altLang="ja-JP" sz="2000" b="0" i="1" smtClean="0">
                              <a:solidFill>
                                <a:schemeClr val="bg1">
                                  <a:lumMod val="50000"/>
                                </a:schemeClr>
                              </a:solidFill>
                              <a:latin typeface="Cambria Math" panose="02040503050406030204" pitchFamily="18" charset="0"/>
                            </a:rPr>
                            <m:t>)</m:t>
                          </m:r>
                          <m:r>
                            <a:rPr lang="en-US" altLang="ja-JP" sz="2000" i="1">
                              <a:solidFill>
                                <a:schemeClr val="bg1">
                                  <a:lumMod val="50000"/>
                                </a:schemeClr>
                              </a:solidFill>
                              <a:latin typeface="Cambria Math" panose="02040503050406030204" pitchFamily="18" charset="0"/>
                            </a:rPr>
                            <m:t>)</m:t>
                          </m:r>
                        </m:e>
                      </m:func>
                    </m:oMath>
                  </m:oMathPara>
                </a14:m>
                <a:endParaRPr lang="en-US" altLang="ja-JP">
                  <a:solidFill>
                    <a:schemeClr val="bg1">
                      <a:lumMod val="50000"/>
                    </a:schemeClr>
                  </a:solidFill>
                  <a:ea typeface="游ゴシック"/>
                </a:endParaRPr>
              </a:p>
              <a:p>
                <a:r>
                  <a:rPr lang="ja-JP" altLang="en-US" b="1">
                    <a:ea typeface="游ゴシック"/>
                  </a:rPr>
                  <a:t>全体損失</a:t>
                </a:r>
                <a:endParaRPr lang="en-US" altLang="ja-JP" b="1">
                  <a:ea typeface="游ゴシック"/>
                </a:endParaRPr>
              </a:p>
              <a:p>
                <a:endParaRPr lang="en-US" altLang="ja-JP" sz="3200">
                  <a:ea typeface="游ゴシック"/>
                </a:endParaRPr>
              </a:p>
              <a:p>
                <a:pPr marL="0" indent="0">
                  <a:buNone/>
                </a:pPr>
                <a14:m>
                  <m:oMathPara xmlns:m="http://schemas.openxmlformats.org/officeDocument/2006/math">
                    <m:oMathParaPr>
                      <m:jc m:val="centerGroup"/>
                    </m:oMathParaPr>
                    <m:oMath xmlns:m="http://schemas.openxmlformats.org/officeDocument/2006/math">
                      <m:sSub>
                        <m:sSubPr>
                          <m:ctrlPr>
                            <a:rPr lang="en-US" altLang="ja-JP" b="1" i="1" smtClean="0">
                              <a:solidFill>
                                <a:schemeClr val="tx1"/>
                              </a:solidFill>
                              <a:latin typeface="Cambria Math" panose="02040503050406030204" pitchFamily="18" charset="0"/>
                            </a:rPr>
                          </m:ctrlPr>
                        </m:sSubPr>
                        <m:e>
                          <m:r>
                            <a:rPr lang="ja-JP" altLang="en-US" b="1" i="1">
                              <a:solidFill>
                                <a:schemeClr val="tx1"/>
                              </a:solidFill>
                              <a:latin typeface="Cambria Math" panose="02040503050406030204" pitchFamily="18" charset="0"/>
                            </a:rPr>
                            <m:t>𝓛</m:t>
                          </m:r>
                        </m:e>
                        <m:sub>
                          <m:r>
                            <a:rPr lang="en-US" altLang="ja-JP" b="1" i="1">
                              <a:solidFill>
                                <a:schemeClr val="tx1"/>
                              </a:solidFill>
                              <a:latin typeface="Cambria Math" panose="02040503050406030204" pitchFamily="18" charset="0"/>
                            </a:rPr>
                            <m:t>𝒕𝒐𝒕𝒂𝒍</m:t>
                          </m:r>
                        </m:sub>
                      </m:sSub>
                      <m:r>
                        <a:rPr lang="en-US" altLang="ja-JP" b="1" i="1">
                          <a:solidFill>
                            <a:schemeClr val="tx1"/>
                          </a:solidFill>
                          <a:latin typeface="Cambria Math" panose="02040503050406030204" pitchFamily="18" charset="0"/>
                        </a:rPr>
                        <m:t>=</m:t>
                      </m:r>
                      <m:sSub>
                        <m:sSubPr>
                          <m:ctrlPr>
                            <a:rPr lang="ja-JP" altLang="en-US" b="1" i="1">
                              <a:solidFill>
                                <a:schemeClr val="tx1"/>
                              </a:solidFill>
                              <a:latin typeface="Cambria Math" panose="02040503050406030204" pitchFamily="18" charset="0"/>
                            </a:rPr>
                          </m:ctrlPr>
                        </m:sSubPr>
                        <m:e>
                          <m:r>
                            <a:rPr lang="ja-JP" altLang="en-US" b="1" i="1">
                              <a:solidFill>
                                <a:schemeClr val="tx1"/>
                              </a:solidFill>
                              <a:latin typeface="Cambria Math" panose="02040503050406030204" pitchFamily="18" charset="0"/>
                            </a:rPr>
                            <m:t>𝓛</m:t>
                          </m:r>
                        </m:e>
                        <m:sub>
                          <m:r>
                            <a:rPr lang="en-US" altLang="ja-JP" b="1" i="1">
                              <a:solidFill>
                                <a:schemeClr val="tx1"/>
                              </a:solidFill>
                              <a:latin typeface="Cambria Math" panose="02040503050406030204" pitchFamily="18" charset="0"/>
                            </a:rPr>
                            <m:t>𝑪𝑻𝑪</m:t>
                          </m:r>
                        </m:sub>
                      </m:sSub>
                      <m:r>
                        <a:rPr lang="en-US" altLang="ja-JP" b="1">
                          <a:solidFill>
                            <a:schemeClr val="tx1"/>
                          </a:solidFill>
                          <a:latin typeface="Cambria Math" panose="02040503050406030204" pitchFamily="18" charset="0"/>
                        </a:rPr>
                        <m:t>+</m:t>
                      </m:r>
                      <m:r>
                        <a:rPr lang="en-US" altLang="ja-JP" b="1" i="1">
                          <a:solidFill>
                            <a:schemeClr val="tx1"/>
                          </a:solidFill>
                          <a:latin typeface="Cambria Math" panose="02040503050406030204" pitchFamily="18" charset="0"/>
                        </a:rPr>
                        <m:t>𝜶</m:t>
                      </m:r>
                      <m:sSub>
                        <m:sSubPr>
                          <m:ctrlPr>
                            <a:rPr lang="en-US" altLang="ja-JP" b="1" i="1" smtClean="0">
                              <a:solidFill>
                                <a:srgbClr val="FF0000"/>
                              </a:solidFill>
                              <a:latin typeface="Cambria Math" panose="02040503050406030204" pitchFamily="18" charset="0"/>
                            </a:rPr>
                          </m:ctrlPr>
                        </m:sSubPr>
                        <m:e>
                          <m:r>
                            <a:rPr lang="ja-JP" altLang="en-US" b="1" i="1">
                              <a:solidFill>
                                <a:srgbClr val="FF0000"/>
                              </a:solidFill>
                              <a:latin typeface="Cambria Math" panose="02040503050406030204" pitchFamily="18" charset="0"/>
                            </a:rPr>
                            <m:t>𝓛</m:t>
                          </m:r>
                        </m:e>
                        <m:sub>
                          <m:r>
                            <a:rPr lang="en-US" altLang="ja-JP" b="1" i="1">
                              <a:solidFill>
                                <a:srgbClr val="FF0000"/>
                              </a:solidFill>
                              <a:latin typeface="Cambria Math" panose="02040503050406030204" pitchFamily="18" charset="0"/>
                            </a:rPr>
                            <m:t>𝑳𝑨𝑰𝑳</m:t>
                          </m:r>
                        </m:sub>
                      </m:sSub>
                    </m:oMath>
                  </m:oMathPara>
                </a14:m>
                <a:endParaRPr lang="en-US" altLang="ja-JP" b="1">
                  <a:ea typeface="游ゴシック"/>
                </a:endParaRPr>
              </a:p>
              <a:p>
                <a:pPr marL="0" indent="0">
                  <a:buNone/>
                </a:pPr>
                <a:endParaRPr lang="ja-JP" altLang="en-US">
                  <a:ea typeface="游ゴシック"/>
                </a:endParaRPr>
              </a:p>
            </p:txBody>
          </p:sp>
        </mc:Choice>
        <mc:Fallback xmlns="">
          <p:sp>
            <p:nvSpPr>
              <p:cNvPr id="3" name="Content Placeholder 132">
                <a:extLst>
                  <a:ext uri="{FF2B5EF4-FFF2-40B4-BE49-F238E27FC236}">
                    <a16:creationId xmlns:a16="http://schemas.microsoft.com/office/drawing/2014/main" id="{F268D540-A0F1-8FA8-0148-1A34C0DC0E0F}"/>
                  </a:ext>
                </a:extLst>
              </p:cNvPr>
              <p:cNvSpPr txBox="1">
                <a:spLocks noRot="1" noChangeAspect="1" noMove="1" noResize="1" noEditPoints="1" noAdjustHandles="1" noChangeArrowheads="1" noChangeShapeType="1" noTextEdit="1"/>
              </p:cNvSpPr>
              <p:nvPr/>
            </p:nvSpPr>
            <p:spPr>
              <a:xfrm>
                <a:off x="845115" y="1596914"/>
                <a:ext cx="10508685" cy="4861035"/>
              </a:xfrm>
              <a:prstGeom prst="rect">
                <a:avLst/>
              </a:prstGeom>
              <a:blipFill>
                <a:blip r:embed="rId3"/>
                <a:stretch>
                  <a:fillRect l="-1044" t="-2133"/>
                </a:stretch>
              </a:blipFill>
            </p:spPr>
            <p:txBody>
              <a:bodyPr/>
              <a:lstStyle/>
              <a:p>
                <a:r>
                  <a:rPr lang="en-US">
                    <a:noFill/>
                  </a:rPr>
                  <a:t> </a:t>
                </a:r>
              </a:p>
            </p:txBody>
          </p:sp>
        </mc:Fallback>
      </mc:AlternateContent>
      <p:sp>
        <p:nvSpPr>
          <p:cNvPr id="4" name="スライド番号プレースホルダー 3">
            <a:extLst>
              <a:ext uri="{FF2B5EF4-FFF2-40B4-BE49-F238E27FC236}">
                <a16:creationId xmlns:a16="http://schemas.microsoft.com/office/drawing/2014/main" id="{595D781F-DAB4-F0B4-50C4-75E7C621A39B}"/>
              </a:ext>
            </a:extLst>
          </p:cNvPr>
          <p:cNvSpPr>
            <a:spLocks noGrp="1"/>
          </p:cNvSpPr>
          <p:nvPr>
            <p:ph type="sldNum" sz="quarter" idx="12"/>
          </p:nvPr>
        </p:nvSpPr>
        <p:spPr/>
        <p:txBody>
          <a:bodyPr/>
          <a:lstStyle/>
          <a:p>
            <a:fld id="{397E558F-9F61-480E-94CF-2C9CB5412042}" type="slidenum">
              <a:rPr lang="ja-JP" altLang="en-US" smtClean="0"/>
              <a:pPr/>
              <a:t>20</a:t>
            </a:fld>
            <a:endParaRPr lang="ja-JP" altLang="en-US"/>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6431F947-0AEF-C07E-7A9C-3AD549AA1D75}"/>
                  </a:ext>
                </a:extLst>
              </p:cNvPr>
              <p:cNvSpPr txBox="1"/>
              <p:nvPr/>
            </p:nvSpPr>
            <p:spPr>
              <a:xfrm>
                <a:off x="8858945" y="1909807"/>
                <a:ext cx="3048000" cy="1500988"/>
              </a:xfrm>
              <a:prstGeom prst="rect">
                <a:avLst/>
              </a:prstGeom>
              <a:noFill/>
            </p:spPr>
            <p:txBody>
              <a:bodyPr wrap="square">
                <a:spAutoFit/>
              </a:bodyPr>
              <a:lstStyle/>
              <a:p>
                <a14:m>
                  <m:oMath xmlns:m="http://schemas.openxmlformats.org/officeDocument/2006/math">
                    <m:sSub>
                      <m:sSubPr>
                        <m:ctrlPr>
                          <a:rPr lang="ja-JP" altLang="en-US" i="1" smtClean="0">
                            <a:solidFill>
                              <a:schemeClr val="bg1">
                                <a:lumMod val="65000"/>
                              </a:schemeClr>
                            </a:solidFill>
                            <a:latin typeface="Cambria Math" panose="02040503050406030204" pitchFamily="18" charset="0"/>
                          </a:rPr>
                        </m:ctrlPr>
                      </m:sSubPr>
                      <m:e>
                        <m:r>
                          <a:rPr lang="ja-JP" altLang="en-US" b="1" i="1">
                            <a:solidFill>
                              <a:schemeClr val="bg1">
                                <a:lumMod val="65000"/>
                              </a:schemeClr>
                            </a:solidFill>
                            <a:latin typeface="Cambria Math" panose="02040503050406030204" pitchFamily="18" charset="0"/>
                          </a:rPr>
                          <m:t>𝒚</m:t>
                        </m:r>
                      </m:e>
                      <m:sub>
                        <m:r>
                          <a:rPr lang="ja-JP" altLang="en-US" i="1">
                            <a:solidFill>
                              <a:schemeClr val="bg1">
                                <a:lumMod val="65000"/>
                              </a:schemeClr>
                            </a:solidFill>
                            <a:latin typeface="Cambria Math" panose="02040503050406030204" pitchFamily="18" charset="0"/>
                          </a:rPr>
                          <m:t>𝑡</m:t>
                        </m:r>
                      </m:sub>
                    </m:sSub>
                    <m:r>
                      <a:rPr lang="en-US" altLang="ja-JP" b="0" i="1" smtClean="0">
                        <a:solidFill>
                          <a:schemeClr val="bg1">
                            <a:lumMod val="65000"/>
                          </a:schemeClr>
                        </a:solidFill>
                        <a:latin typeface="Cambria Math" panose="02040503050406030204" pitchFamily="18" charset="0"/>
                      </a:rPr>
                      <m:t> </m:t>
                    </m:r>
                  </m:oMath>
                </a14:m>
                <a:r>
                  <a:rPr lang="en-US" altLang="ja-JP">
                    <a:solidFill>
                      <a:schemeClr val="bg1">
                        <a:lumMod val="65000"/>
                      </a:schemeClr>
                    </a:solidFill>
                  </a:rPr>
                  <a:t>   : </a:t>
                </a:r>
                <a:r>
                  <a:rPr lang="ja-JP" altLang="en-US">
                    <a:solidFill>
                      <a:schemeClr val="bg1">
                        <a:lumMod val="65000"/>
                      </a:schemeClr>
                    </a:solidFill>
                  </a:rPr>
                  <a:t>正解文字列</a:t>
                </a:r>
                <a:endParaRPr lang="en-US" altLang="ja-JP">
                  <a:solidFill>
                    <a:schemeClr val="bg1">
                      <a:lumMod val="65000"/>
                    </a:schemeClr>
                  </a:solidFill>
                </a:endParaRPr>
              </a:p>
              <a:p>
                <a14:m>
                  <m:oMath xmlns:m="http://schemas.openxmlformats.org/officeDocument/2006/math">
                    <m:sSub>
                      <m:sSubPr>
                        <m:ctrlPr>
                          <a:rPr lang="ja-JP" altLang="en-US" i="1">
                            <a:solidFill>
                              <a:schemeClr val="bg1">
                                <a:lumMod val="65000"/>
                              </a:schemeClr>
                            </a:solidFill>
                            <a:latin typeface="Cambria Math" panose="02040503050406030204" pitchFamily="18" charset="0"/>
                          </a:rPr>
                        </m:ctrlPr>
                      </m:sSubPr>
                      <m:e>
                        <m:r>
                          <a:rPr lang="ja-JP" altLang="en-US" b="1" i="1">
                            <a:solidFill>
                              <a:schemeClr val="bg1">
                                <a:lumMod val="65000"/>
                              </a:schemeClr>
                            </a:solidFill>
                            <a:latin typeface="Cambria Math" panose="02040503050406030204" pitchFamily="18" charset="0"/>
                          </a:rPr>
                          <m:t>𝒚</m:t>
                        </m:r>
                      </m:e>
                      <m:sub>
                        <m:r>
                          <a:rPr lang="ja-JP" altLang="en-US">
                            <a:solidFill>
                              <a:schemeClr val="bg1">
                                <a:lumMod val="65000"/>
                              </a:schemeClr>
                            </a:solidFill>
                            <a:latin typeface="Cambria Math" panose="02040503050406030204" pitchFamily="18" charset="0"/>
                          </a:rPr>
                          <m:t>&lt;</m:t>
                        </m:r>
                        <m:r>
                          <a:rPr lang="ja-JP" altLang="en-US" i="1">
                            <a:solidFill>
                              <a:schemeClr val="bg1">
                                <a:lumMod val="65000"/>
                              </a:schemeClr>
                            </a:solidFill>
                            <a:latin typeface="Cambria Math" panose="02040503050406030204" pitchFamily="18" charset="0"/>
                          </a:rPr>
                          <m:t>𝑡</m:t>
                        </m:r>
                      </m:sub>
                    </m:sSub>
                  </m:oMath>
                </a14:m>
                <a:r>
                  <a:rPr lang="en-US" altLang="ja-JP">
                    <a:solidFill>
                      <a:schemeClr val="bg1">
                        <a:lumMod val="65000"/>
                      </a:schemeClr>
                    </a:solidFill>
                  </a:rPr>
                  <a:t>  : t</a:t>
                </a:r>
                <a:r>
                  <a:rPr lang="ja-JP" altLang="en-US">
                    <a:solidFill>
                      <a:schemeClr val="bg1">
                        <a:lumMod val="65000"/>
                      </a:schemeClr>
                    </a:solidFill>
                  </a:rPr>
                  <a:t>までの正解文字列</a:t>
                </a:r>
                <a:endParaRPr lang="en-US" altLang="ja-JP">
                  <a:solidFill>
                    <a:schemeClr val="bg1">
                      <a:lumMod val="65000"/>
                    </a:schemeClr>
                  </a:solidFill>
                </a:endParaRPr>
              </a:p>
              <a:p>
                <a14:m>
                  <m:oMath xmlns:m="http://schemas.openxmlformats.org/officeDocument/2006/math">
                    <m:r>
                      <a:rPr lang="ja-JP" altLang="en-US" b="1" i="1">
                        <a:solidFill>
                          <a:schemeClr val="bg1">
                            <a:lumMod val="65000"/>
                          </a:schemeClr>
                        </a:solidFill>
                        <a:latin typeface="Cambria Math" panose="02040503050406030204" pitchFamily="18" charset="0"/>
                      </a:rPr>
                      <m:t>𝒉</m:t>
                    </m:r>
                    <m:r>
                      <a:rPr lang="en-US" altLang="ja-JP" b="0" i="0" smtClean="0">
                        <a:solidFill>
                          <a:schemeClr val="bg1">
                            <a:lumMod val="65000"/>
                          </a:schemeClr>
                        </a:solidFill>
                        <a:latin typeface="Cambria Math" panose="02040503050406030204" pitchFamily="18" charset="0"/>
                      </a:rPr>
                      <m:t> </m:t>
                    </m:r>
                  </m:oMath>
                </a14:m>
                <a:r>
                  <a:rPr lang="ja-JP" altLang="en-US">
                    <a:solidFill>
                      <a:schemeClr val="bg1">
                        <a:lumMod val="65000"/>
                      </a:schemeClr>
                    </a:solidFill>
                  </a:rPr>
                  <a:t>　</a:t>
                </a:r>
                <a:r>
                  <a:rPr lang="en-US" altLang="ja-JP">
                    <a:solidFill>
                      <a:schemeClr val="bg1">
                        <a:lumMod val="65000"/>
                      </a:schemeClr>
                    </a:solidFill>
                  </a:rPr>
                  <a:t> : </a:t>
                </a:r>
                <a:r>
                  <a:rPr lang="ja-JP" altLang="en-US">
                    <a:solidFill>
                      <a:schemeClr val="bg1">
                        <a:lumMod val="65000"/>
                      </a:schemeClr>
                    </a:solidFill>
                  </a:rPr>
                  <a:t>コネクタ層の出力</a:t>
                </a:r>
                <a:endParaRPr lang="en-US" altLang="ja-JP">
                  <a:solidFill>
                    <a:schemeClr val="bg1">
                      <a:lumMod val="65000"/>
                    </a:schemeClr>
                  </a:solidFill>
                </a:endParaRPr>
              </a:p>
              <a:p>
                <a14:m>
                  <m:oMath xmlns:m="http://schemas.openxmlformats.org/officeDocument/2006/math">
                    <m:r>
                      <a:rPr lang="en-US" altLang="ja-JP" i="1" smtClean="0">
                        <a:solidFill>
                          <a:schemeClr val="bg1">
                            <a:lumMod val="65000"/>
                          </a:schemeClr>
                        </a:solidFill>
                        <a:latin typeface="Cambria Math" panose="02040503050406030204" pitchFamily="18" charset="0"/>
                      </a:rPr>
                      <m:t>𝐿</m:t>
                    </m:r>
                  </m:oMath>
                </a14:m>
                <a:r>
                  <a:rPr lang="en-US" altLang="ja-JP">
                    <a:solidFill>
                      <a:schemeClr val="bg1">
                        <a:lumMod val="65000"/>
                      </a:schemeClr>
                    </a:solidFill>
                  </a:rPr>
                  <a:t>  </a:t>
                </a:r>
                <a:r>
                  <a:rPr lang="ja-JP" altLang="en-US">
                    <a:solidFill>
                      <a:schemeClr val="bg1">
                        <a:lumMod val="65000"/>
                      </a:schemeClr>
                    </a:solidFill>
                  </a:rPr>
                  <a:t>　</a:t>
                </a:r>
                <a:r>
                  <a:rPr lang="en-US" altLang="ja-JP">
                    <a:solidFill>
                      <a:schemeClr val="bg1">
                        <a:lumMod val="65000"/>
                      </a:schemeClr>
                    </a:solidFill>
                  </a:rPr>
                  <a:t>: LAIL</a:t>
                </a:r>
                <a:r>
                  <a:rPr lang="ja-JP" altLang="en-US">
                    <a:solidFill>
                      <a:schemeClr val="bg1">
                        <a:lumMod val="65000"/>
                      </a:schemeClr>
                    </a:solidFill>
                  </a:rPr>
                  <a:t>への接続層</a:t>
                </a:r>
                <a:endParaRPr lang="en-US" altLang="ja-JP">
                  <a:solidFill>
                    <a:schemeClr val="bg1">
                      <a:lumMod val="65000"/>
                    </a:schemeClr>
                  </a:solidFill>
                </a:endParaRPr>
              </a:p>
              <a:p>
                <a14:m>
                  <m:oMath xmlns:m="http://schemas.openxmlformats.org/officeDocument/2006/math">
                    <m:sSub>
                      <m:sSubPr>
                        <m:ctrlPr>
                          <a:rPr lang="en-US" altLang="ja-JP" i="1">
                            <a:solidFill>
                              <a:schemeClr val="bg1">
                                <a:lumMod val="65000"/>
                              </a:schemeClr>
                            </a:solidFill>
                            <a:latin typeface="Cambria Math" panose="02040503050406030204" pitchFamily="18" charset="0"/>
                            <a:ea typeface="Cambria Math" panose="02040503050406030204" pitchFamily="18" charset="0"/>
                          </a:rPr>
                        </m:ctrlPr>
                      </m:sSubPr>
                      <m:e>
                        <m:r>
                          <a:rPr lang="en-US" altLang="ja-JP" i="1">
                            <a:solidFill>
                              <a:schemeClr val="bg1">
                                <a:lumMod val="65000"/>
                              </a:schemeClr>
                            </a:solidFill>
                            <a:latin typeface="Cambria Math" panose="02040503050406030204" pitchFamily="18" charset="0"/>
                            <a:ea typeface="Cambria Math" panose="02040503050406030204" pitchFamily="18" charset="0"/>
                          </a:rPr>
                          <m:t>𝜆</m:t>
                        </m:r>
                      </m:e>
                      <m:sub>
                        <m:r>
                          <a:rPr lang="en-US" altLang="ja-JP" i="1">
                            <a:solidFill>
                              <a:schemeClr val="bg1">
                                <a:lumMod val="65000"/>
                              </a:schemeClr>
                            </a:solidFill>
                            <a:latin typeface="Cambria Math" panose="02040503050406030204" pitchFamily="18" charset="0"/>
                            <a:ea typeface="Cambria Math" panose="02040503050406030204" pitchFamily="18" charset="0"/>
                          </a:rPr>
                          <m:t>𝑙</m:t>
                        </m:r>
                      </m:sub>
                    </m:sSub>
                    <m:r>
                      <a:rPr lang="en-US" altLang="ja-JP" b="0" i="0" smtClean="0">
                        <a:solidFill>
                          <a:schemeClr val="bg1">
                            <a:lumMod val="65000"/>
                          </a:schemeClr>
                        </a:solidFill>
                        <a:latin typeface="Cambria Math" panose="02040503050406030204" pitchFamily="18" charset="0"/>
                        <a:ea typeface="Cambria Math" panose="02040503050406030204" pitchFamily="18" charset="0"/>
                      </a:rPr>
                      <m:t>  </m:t>
                    </m:r>
                  </m:oMath>
                </a14:m>
                <a:r>
                  <a:rPr lang="en-US" altLang="ja-JP">
                    <a:solidFill>
                      <a:schemeClr val="bg1">
                        <a:lumMod val="65000"/>
                      </a:schemeClr>
                    </a:solidFill>
                  </a:rPr>
                  <a:t>   : </a:t>
                </a:r>
                <a:r>
                  <a:rPr lang="ja-JP" altLang="en-US">
                    <a:solidFill>
                      <a:schemeClr val="bg1">
                        <a:lumMod val="65000"/>
                      </a:schemeClr>
                    </a:solidFill>
                  </a:rPr>
                  <a:t>各層の損失の調整</a:t>
                </a:r>
                <a:r>
                  <a:rPr lang="en-US" altLang="ja-JP">
                    <a:solidFill>
                      <a:schemeClr val="bg1">
                        <a:lumMod val="65000"/>
                      </a:schemeClr>
                    </a:solidFill>
                  </a:rPr>
                  <a:t>HP</a:t>
                </a:r>
              </a:p>
            </p:txBody>
          </p:sp>
        </mc:Choice>
        <mc:Fallback xmlns="">
          <p:sp>
            <p:nvSpPr>
              <p:cNvPr id="6" name="テキスト ボックス 5">
                <a:extLst>
                  <a:ext uri="{FF2B5EF4-FFF2-40B4-BE49-F238E27FC236}">
                    <a16:creationId xmlns:a16="http://schemas.microsoft.com/office/drawing/2014/main" id="{6431F947-0AEF-C07E-7A9C-3AD549AA1D75}"/>
                  </a:ext>
                </a:extLst>
              </p:cNvPr>
              <p:cNvSpPr txBox="1">
                <a:spLocks noRot="1" noChangeAspect="1" noMove="1" noResize="1" noEditPoints="1" noAdjustHandles="1" noChangeArrowheads="1" noChangeShapeType="1" noTextEdit="1"/>
              </p:cNvSpPr>
              <p:nvPr/>
            </p:nvSpPr>
            <p:spPr>
              <a:xfrm>
                <a:off x="8858945" y="1909807"/>
                <a:ext cx="3048000" cy="1500988"/>
              </a:xfrm>
              <a:prstGeom prst="rect">
                <a:avLst/>
              </a:prstGeom>
              <a:blipFill>
                <a:blip r:embed="rId4"/>
                <a:stretch>
                  <a:fillRect t="-1619" b="-404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D0EC7166-3E7C-7919-D72B-1BE26720CCE8}"/>
                  </a:ext>
                </a:extLst>
              </p:cNvPr>
              <p:cNvSpPr txBox="1"/>
              <p:nvPr/>
            </p:nvSpPr>
            <p:spPr>
              <a:xfrm>
                <a:off x="8121878" y="5544785"/>
                <a:ext cx="3785067" cy="369332"/>
              </a:xfrm>
              <a:prstGeom prst="rect">
                <a:avLst/>
              </a:prstGeom>
              <a:noFill/>
            </p:spPr>
            <p:txBody>
              <a:bodyPr wrap="square">
                <a:spAutoFit/>
              </a:bodyPr>
              <a:lstStyle/>
              <a:p>
                <a14:m>
                  <m:oMath xmlns:m="http://schemas.openxmlformats.org/officeDocument/2006/math">
                    <m:r>
                      <a:rPr lang="en-US" altLang="ja-JP" b="1" i="1">
                        <a:latin typeface="Cambria Math" panose="02040503050406030204" pitchFamily="18" charset="0"/>
                      </a:rPr>
                      <m:t>𝜶</m:t>
                    </m:r>
                    <m:r>
                      <a:rPr lang="en-US" altLang="ja-JP" b="1" i="1">
                        <a:latin typeface="Cambria Math" panose="02040503050406030204" pitchFamily="18" charset="0"/>
                      </a:rPr>
                      <m:t> </m:t>
                    </m:r>
                  </m:oMath>
                </a14:m>
                <a:r>
                  <a:rPr lang="en-US" altLang="ja-JP" b="1"/>
                  <a:t>: </a:t>
                </a:r>
                <a14:m>
                  <m:oMath xmlns:m="http://schemas.openxmlformats.org/officeDocument/2006/math">
                    <m:sSub>
                      <m:sSubPr>
                        <m:ctrlPr>
                          <a:rPr lang="en-US" altLang="ja-JP" b="1" i="1">
                            <a:latin typeface="Cambria Math" panose="02040503050406030204" pitchFamily="18" charset="0"/>
                          </a:rPr>
                        </m:ctrlPr>
                      </m:sSubPr>
                      <m:e>
                        <m:r>
                          <a:rPr lang="ja-JP" altLang="en-US" b="1" i="1">
                            <a:latin typeface="Cambria Math" panose="02040503050406030204" pitchFamily="18" charset="0"/>
                          </a:rPr>
                          <m:t>𝓛</m:t>
                        </m:r>
                      </m:e>
                      <m:sub>
                        <m:r>
                          <a:rPr lang="en-US" altLang="ja-JP" b="1" i="1">
                            <a:latin typeface="Cambria Math" panose="02040503050406030204" pitchFamily="18" charset="0"/>
                          </a:rPr>
                          <m:t>𝑳𝑨𝑰𝑳</m:t>
                        </m:r>
                      </m:sub>
                    </m:sSub>
                  </m:oMath>
                </a14:m>
                <a:r>
                  <a:rPr lang="ja-JP" altLang="en-US" b="1"/>
                  <a:t>を調整する</a:t>
                </a:r>
                <a:r>
                  <a:rPr lang="en-US" altLang="ja-JP" b="1"/>
                  <a:t>HP</a:t>
                </a:r>
              </a:p>
            </p:txBody>
          </p:sp>
        </mc:Choice>
        <mc:Fallback xmlns="">
          <p:sp>
            <p:nvSpPr>
              <p:cNvPr id="7" name="テキスト ボックス 6">
                <a:extLst>
                  <a:ext uri="{FF2B5EF4-FFF2-40B4-BE49-F238E27FC236}">
                    <a16:creationId xmlns:a16="http://schemas.microsoft.com/office/drawing/2014/main" id="{D0EC7166-3E7C-7919-D72B-1BE26720CCE8}"/>
                  </a:ext>
                </a:extLst>
              </p:cNvPr>
              <p:cNvSpPr txBox="1">
                <a:spLocks noRot="1" noChangeAspect="1" noMove="1" noResize="1" noEditPoints="1" noAdjustHandles="1" noChangeArrowheads="1" noChangeShapeType="1" noTextEdit="1"/>
              </p:cNvSpPr>
              <p:nvPr/>
            </p:nvSpPr>
            <p:spPr>
              <a:xfrm>
                <a:off x="8121878" y="5544785"/>
                <a:ext cx="3785067" cy="369332"/>
              </a:xfrm>
              <a:prstGeom prst="rect">
                <a:avLst/>
              </a:prstGeom>
              <a:blipFill>
                <a:blip r:embed="rId5"/>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74AD713C-4CE9-688E-64DD-0ECEEAE5B807}"/>
                  </a:ext>
                </a:extLst>
              </p:cNvPr>
              <p:cNvSpPr txBox="1"/>
              <p:nvPr/>
            </p:nvSpPr>
            <p:spPr>
              <a:xfrm>
                <a:off x="8061054" y="4012844"/>
                <a:ext cx="3845891" cy="680123"/>
              </a:xfrm>
              <a:prstGeom prst="rect">
                <a:avLst/>
              </a:prstGeom>
              <a:noFill/>
            </p:spPr>
            <p:txBody>
              <a:bodyPr wrap="square">
                <a:spAutoFit/>
              </a:bodyPr>
              <a:lstStyle/>
              <a:p>
                <a14:m>
                  <m:oMath xmlns:m="http://schemas.openxmlformats.org/officeDocument/2006/math">
                    <m:r>
                      <a:rPr lang="en-US" altLang="ja-JP" b="1" i="1" smtClean="0">
                        <a:solidFill>
                          <a:schemeClr val="bg1">
                            <a:lumMod val="65000"/>
                          </a:schemeClr>
                        </a:solidFill>
                        <a:latin typeface="Cambria Math" panose="02040503050406030204" pitchFamily="18" charset="0"/>
                      </a:rPr>
                      <m:t>𝒚</m:t>
                    </m:r>
                    <m:r>
                      <a:rPr lang="ja-JP" altLang="en-US" b="0" i="1" smtClean="0">
                        <a:solidFill>
                          <a:schemeClr val="bg1">
                            <a:lumMod val="65000"/>
                          </a:schemeClr>
                        </a:solidFill>
                        <a:latin typeface="Cambria Math" panose="02040503050406030204" pitchFamily="18" charset="0"/>
                      </a:rPr>
                      <m:t>　</m:t>
                    </m:r>
                    <m:r>
                      <a:rPr lang="en-US" altLang="ja-JP" b="0" i="1" smtClean="0">
                        <a:solidFill>
                          <a:schemeClr val="bg1">
                            <a:lumMod val="65000"/>
                          </a:schemeClr>
                        </a:solidFill>
                        <a:latin typeface="Cambria Math" panose="02040503050406030204" pitchFamily="18" charset="0"/>
                      </a:rPr>
                      <m:t>  </m:t>
                    </m:r>
                    <m:r>
                      <a:rPr lang="ja-JP" altLang="en-US" i="1">
                        <a:solidFill>
                          <a:schemeClr val="bg1">
                            <a:lumMod val="65000"/>
                          </a:schemeClr>
                        </a:solidFill>
                        <a:latin typeface="Cambria Math" panose="02040503050406030204" pitchFamily="18" charset="0"/>
                      </a:rPr>
                      <m:t>：正解</m:t>
                    </m:r>
                  </m:oMath>
                </a14:m>
                <a:r>
                  <a:rPr lang="ja-JP" altLang="en-US">
                    <a:solidFill>
                      <a:schemeClr val="bg1">
                        <a:lumMod val="65000"/>
                      </a:schemeClr>
                    </a:solidFill>
                  </a:rPr>
                  <a:t>文字列</a:t>
                </a:r>
                <a:endParaRPr lang="en-US" altLang="ja-JP">
                  <a:solidFill>
                    <a:schemeClr val="bg1">
                      <a:lumMod val="65000"/>
                    </a:schemeClr>
                  </a:solidFill>
                </a:endParaRPr>
              </a:p>
              <a:p>
                <a14:m>
                  <m:oMath xmlns:m="http://schemas.openxmlformats.org/officeDocument/2006/math">
                    <m:r>
                      <a:rPr lang="en-US" altLang="ja-JP" i="1">
                        <a:solidFill>
                          <a:schemeClr val="bg1">
                            <a:lumMod val="65000"/>
                          </a:schemeClr>
                        </a:solidFill>
                        <a:latin typeface="Cambria Math" panose="02040503050406030204" pitchFamily="18" charset="0"/>
                      </a:rPr>
                      <m:t>𝑝</m:t>
                    </m:r>
                    <m:r>
                      <a:rPr lang="en-US" altLang="ja-JP" i="1">
                        <a:solidFill>
                          <a:schemeClr val="bg1">
                            <a:lumMod val="65000"/>
                          </a:schemeClr>
                        </a:solidFill>
                        <a:latin typeface="Cambria Math" panose="02040503050406030204" pitchFamily="18" charset="0"/>
                      </a:rPr>
                      <m:t>(</m:t>
                    </m:r>
                    <m:r>
                      <a:rPr lang="en-US" altLang="ja-JP" b="1" i="1">
                        <a:solidFill>
                          <a:schemeClr val="bg1">
                            <a:lumMod val="65000"/>
                          </a:schemeClr>
                        </a:solidFill>
                        <a:latin typeface="Cambria Math" panose="02040503050406030204" pitchFamily="18" charset="0"/>
                      </a:rPr>
                      <m:t>𝒚</m:t>
                    </m:r>
                    <m:r>
                      <a:rPr lang="en-US" altLang="ja-JP" i="1">
                        <a:solidFill>
                          <a:schemeClr val="bg1">
                            <a:lumMod val="65000"/>
                          </a:schemeClr>
                        </a:solidFill>
                        <a:latin typeface="Cambria Math" panose="02040503050406030204" pitchFamily="18" charset="0"/>
                      </a:rPr>
                      <m:t>)</m:t>
                    </m:r>
                    <m:r>
                      <a:rPr lang="ja-JP" altLang="en-US" i="1">
                        <a:solidFill>
                          <a:schemeClr val="bg1">
                            <a:lumMod val="65000"/>
                          </a:schemeClr>
                        </a:solidFill>
                        <a:latin typeface="Cambria Math" panose="02040503050406030204" pitchFamily="18" charset="0"/>
                      </a:rPr>
                      <m:t>：予測文字列</m:t>
                    </m:r>
                  </m:oMath>
                </a14:m>
                <a:r>
                  <a:rPr lang="ja-JP" altLang="en-US">
                    <a:solidFill>
                      <a:schemeClr val="bg1">
                        <a:lumMod val="65000"/>
                      </a:schemeClr>
                    </a:solidFill>
                  </a:rPr>
                  <a:t> </a:t>
                </a:r>
                <a14:m>
                  <m:oMath xmlns:m="http://schemas.openxmlformats.org/officeDocument/2006/math">
                    <m:r>
                      <a:rPr lang="en-US" altLang="ja-JP" b="1" i="1">
                        <a:solidFill>
                          <a:schemeClr val="bg1">
                            <a:lumMod val="65000"/>
                          </a:schemeClr>
                        </a:solidFill>
                        <a:latin typeface="Cambria Math" panose="02040503050406030204" pitchFamily="18" charset="0"/>
                      </a:rPr>
                      <m:t>𝒚</m:t>
                    </m:r>
                  </m:oMath>
                </a14:m>
                <a:r>
                  <a:rPr lang="ja-JP" altLang="en-US">
                    <a:solidFill>
                      <a:schemeClr val="bg1">
                        <a:lumMod val="65000"/>
                      </a:schemeClr>
                    </a:solidFill>
                  </a:rPr>
                  <a:t>になる確率</a:t>
                </a:r>
                <a:endParaRPr lang="en-US" altLang="ja-JP">
                  <a:solidFill>
                    <a:schemeClr val="bg1">
                      <a:lumMod val="65000"/>
                    </a:schemeClr>
                  </a:solidFill>
                </a:endParaRPr>
              </a:p>
            </p:txBody>
          </p:sp>
        </mc:Choice>
        <mc:Fallback xmlns="">
          <p:sp>
            <p:nvSpPr>
              <p:cNvPr id="5" name="テキスト ボックス 4">
                <a:extLst>
                  <a:ext uri="{FF2B5EF4-FFF2-40B4-BE49-F238E27FC236}">
                    <a16:creationId xmlns:a16="http://schemas.microsoft.com/office/drawing/2014/main" id="{74AD713C-4CE9-688E-64DD-0ECEEAE5B807}"/>
                  </a:ext>
                </a:extLst>
              </p:cNvPr>
              <p:cNvSpPr txBox="1">
                <a:spLocks noRot="1" noChangeAspect="1" noMove="1" noResize="1" noEditPoints="1" noAdjustHandles="1" noChangeArrowheads="1" noChangeShapeType="1" noTextEdit="1"/>
              </p:cNvSpPr>
              <p:nvPr/>
            </p:nvSpPr>
            <p:spPr>
              <a:xfrm>
                <a:off x="8061054" y="4012844"/>
                <a:ext cx="3845891" cy="680123"/>
              </a:xfrm>
              <a:prstGeom prst="rect">
                <a:avLst/>
              </a:prstGeom>
              <a:blipFill>
                <a:blip r:embed="rId6"/>
                <a:stretch>
                  <a:fillRect b="-13393"/>
                </a:stretch>
              </a:blipFill>
            </p:spPr>
            <p:txBody>
              <a:bodyPr/>
              <a:lstStyle/>
              <a:p>
                <a:r>
                  <a:rPr lang="en-US">
                    <a:noFill/>
                  </a:rPr>
                  <a:t> </a:t>
                </a:r>
              </a:p>
            </p:txBody>
          </p:sp>
        </mc:Fallback>
      </mc:AlternateContent>
      <p:sp>
        <p:nvSpPr>
          <p:cNvPr id="9" name="タイトル 8">
            <a:extLst>
              <a:ext uri="{FF2B5EF4-FFF2-40B4-BE49-F238E27FC236}">
                <a16:creationId xmlns:a16="http://schemas.microsoft.com/office/drawing/2014/main" id="{B586DD04-2F46-B848-F5DF-F230261C0E9F}"/>
              </a:ext>
            </a:extLst>
          </p:cNvPr>
          <p:cNvSpPr>
            <a:spLocks noGrp="1"/>
          </p:cNvSpPr>
          <p:nvPr>
            <p:ph type="title"/>
          </p:nvPr>
        </p:nvSpPr>
        <p:spPr/>
        <p:txBody>
          <a:bodyPr>
            <a:normAutofit/>
          </a:bodyPr>
          <a:lstStyle/>
          <a:p>
            <a:r>
              <a:rPr lang="ja-JP" altLang="en-US" sz="3200">
                <a:ea typeface="游ゴシック"/>
              </a:rPr>
              <a:t>エンコーダへの言語特徴付与</a:t>
            </a:r>
            <a:br>
              <a:rPr lang="en-US" altLang="ja-JP"/>
            </a:br>
            <a:r>
              <a:rPr lang="ja-JP" altLang="en-US">
                <a:solidFill>
                  <a:schemeClr val="tx1"/>
                </a:solidFill>
                <a:ea typeface="游ゴシック Light"/>
              </a:rPr>
              <a:t>損失関数の設計</a:t>
            </a:r>
            <a:endParaRPr lang="ja-JP" altLang="en-US"/>
          </a:p>
        </p:txBody>
      </p:sp>
    </p:spTree>
    <p:extLst>
      <p:ext uri="{BB962C8B-B14F-4D97-AF65-F5344CB8AC3E}">
        <p14:creationId xmlns:p14="http://schemas.microsoft.com/office/powerpoint/2010/main" val="13010865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6C00829-9C36-4D63-3FFA-85066AB57EC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27B43DD-1E74-32FE-69C6-7E1FAE99B485}"/>
              </a:ext>
            </a:extLst>
          </p:cNvPr>
          <p:cNvSpPr>
            <a:spLocks noGrp="1"/>
          </p:cNvSpPr>
          <p:nvPr>
            <p:ph type="title"/>
          </p:nvPr>
        </p:nvSpPr>
        <p:spPr/>
        <p:txBody>
          <a:bodyPr>
            <a:normAutofit/>
          </a:bodyPr>
          <a:lstStyle/>
          <a:p>
            <a:pPr>
              <a:lnSpc>
                <a:spcPct val="100000"/>
              </a:lnSpc>
            </a:pPr>
            <a:r>
              <a:rPr lang="ja-JP" altLang="en-US" sz="3200">
                <a:ea typeface="游ゴシック"/>
              </a:rPr>
              <a:t>エンコーダへの言語特徴付与</a:t>
            </a:r>
            <a:br>
              <a:rPr lang="en-US" altLang="ja-JP"/>
            </a:br>
            <a:r>
              <a:rPr lang="ja-JP" altLang="en-US">
                <a:solidFill>
                  <a:schemeClr val="tx1"/>
                </a:solidFill>
                <a:ea typeface="游ゴシック Light"/>
              </a:rPr>
              <a:t>損失関数の設計</a:t>
            </a:r>
            <a:r>
              <a:rPr lang="en-US" altLang="ja-JP">
                <a:solidFill>
                  <a:schemeClr val="tx1"/>
                </a:solidFill>
                <a:ea typeface="游ゴシック Light"/>
              </a:rPr>
              <a:t>(CTC)</a:t>
            </a:r>
          </a:p>
        </p:txBody>
      </p:sp>
      <p:sp>
        <p:nvSpPr>
          <p:cNvPr id="10" name="コンテンツ プレースホルダー 2">
            <a:extLst>
              <a:ext uri="{FF2B5EF4-FFF2-40B4-BE49-F238E27FC236}">
                <a16:creationId xmlns:a16="http://schemas.microsoft.com/office/drawing/2014/main" id="{4A0EA94D-754C-204E-2E7B-78A95CC01A37}"/>
              </a:ext>
            </a:extLst>
          </p:cNvPr>
          <p:cNvSpPr txBox="1">
            <a:spLocks/>
          </p:cNvSpPr>
          <p:nvPr/>
        </p:nvSpPr>
        <p:spPr>
          <a:xfrm>
            <a:off x="839788" y="1681163"/>
            <a:ext cx="5157787" cy="823912"/>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Clr>
                <a:schemeClr val="accent5"/>
              </a:buClr>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5">
                  <a:lumMod val="60000"/>
                  <a:lumOff val="40000"/>
                </a:schemeClr>
              </a:buClr>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5">
                  <a:lumMod val="75000"/>
                </a:schemeClr>
              </a:buClr>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5">
                  <a:lumMod val="50000"/>
                </a:schemeClr>
              </a:buClr>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5">
                  <a:lumMod val="50000"/>
                </a:schemeClr>
              </a:buClr>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buClr>
                <a:srgbClr val="4472C4"/>
              </a:buClr>
            </a:pPr>
            <a:endParaRPr lang="ja-JP" altLang="en-US" b="1"/>
          </a:p>
          <a:p>
            <a:pPr>
              <a:buClr>
                <a:srgbClr val="4472C4">
                  <a:lumMod val="50000"/>
                </a:srgbClr>
              </a:buClr>
            </a:pPr>
            <a:endParaRPr lang="ja-JP" altLang="en-US" b="1"/>
          </a:p>
        </p:txBody>
      </p:sp>
      <p:sp>
        <p:nvSpPr>
          <p:cNvPr id="4" name="スライド番号プレースホルダー 3">
            <a:extLst>
              <a:ext uri="{FF2B5EF4-FFF2-40B4-BE49-F238E27FC236}">
                <a16:creationId xmlns:a16="http://schemas.microsoft.com/office/drawing/2014/main" id="{37BD573A-F8B2-1CDF-24B5-438E9E5207EC}"/>
              </a:ext>
            </a:extLst>
          </p:cNvPr>
          <p:cNvSpPr>
            <a:spLocks noGrp="1"/>
          </p:cNvSpPr>
          <p:nvPr>
            <p:ph type="sldNum" sz="quarter" idx="12"/>
          </p:nvPr>
        </p:nvSpPr>
        <p:spPr/>
        <p:txBody>
          <a:bodyPr/>
          <a:lstStyle/>
          <a:p>
            <a:fld id="{397E558F-9F61-480E-94CF-2C9CB5412042}" type="slidenum">
              <a:rPr lang="ja-JP" altLang="en-US" smtClean="0"/>
              <a:pPr/>
              <a:t>21</a:t>
            </a:fld>
            <a:endParaRPr lang="ja-JP" altLang="en-US"/>
          </a:p>
        </p:txBody>
      </p:sp>
      <p:pic>
        <p:nvPicPr>
          <p:cNvPr id="3074" name="Picture 2">
            <a:extLst>
              <a:ext uri="{FF2B5EF4-FFF2-40B4-BE49-F238E27FC236}">
                <a16:creationId xmlns:a16="http://schemas.microsoft.com/office/drawing/2014/main" id="{592DAEE8-8C78-4C23-DD22-ECED4559803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44265" y="1774826"/>
            <a:ext cx="8237935" cy="458152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15E75573-9000-790F-3116-5C7F89B96133}"/>
                  </a:ext>
                </a:extLst>
              </p:cNvPr>
              <p:cNvSpPr txBox="1"/>
              <p:nvPr/>
            </p:nvSpPr>
            <p:spPr>
              <a:xfrm>
                <a:off x="1434240" y="5951848"/>
                <a:ext cx="6096000" cy="80900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ja-JP" sz="1800" i="1" smtClean="0">
                              <a:latin typeface="Cambria Math" panose="02040503050406030204" pitchFamily="18" charset="0"/>
                            </a:rPr>
                          </m:ctrlPr>
                        </m:sSubPr>
                        <m:e>
                          <m:r>
                            <a:rPr lang="ja-JP" altLang="en-US" sz="1800">
                              <a:latin typeface="Cambria Math" panose="02040503050406030204" pitchFamily="18" charset="0"/>
                            </a:rPr>
                            <m:t>ℒ</m:t>
                          </m:r>
                        </m:e>
                        <m:sub>
                          <m:r>
                            <a:rPr lang="en-US" altLang="ja-JP" sz="1800" b="0" i="1" smtClean="0">
                              <a:latin typeface="Cambria Math" panose="02040503050406030204" pitchFamily="18" charset="0"/>
                            </a:rPr>
                            <m:t>𝐶𝑇𝐶</m:t>
                          </m:r>
                        </m:sub>
                      </m:sSub>
                      <m:func>
                        <m:funcPr>
                          <m:ctrlPr>
                            <a:rPr lang="en-US" altLang="ja-JP" sz="1800" i="1">
                              <a:latin typeface="Cambria Math" panose="02040503050406030204" pitchFamily="18" charset="0"/>
                            </a:rPr>
                          </m:ctrlPr>
                        </m:funcPr>
                        <m:fName>
                          <m:r>
                            <a:rPr lang="en-US" altLang="ja-JP" sz="1800">
                              <a:latin typeface="Cambria Math" panose="02040503050406030204" pitchFamily="18" charset="0"/>
                            </a:rPr>
                            <m:t>=−</m:t>
                          </m:r>
                          <m:r>
                            <m:rPr>
                              <m:sty m:val="p"/>
                            </m:rPr>
                            <a:rPr lang="en-US" altLang="ja-JP" sz="1800">
                              <a:latin typeface="Cambria Math" panose="02040503050406030204" pitchFamily="18" charset="0"/>
                            </a:rPr>
                            <m:t>log</m:t>
                          </m:r>
                        </m:fName>
                        <m:e>
                          <m:r>
                            <a:rPr lang="en-US" altLang="ja-JP" sz="1800" i="1">
                              <a:latin typeface="Cambria Math" panose="02040503050406030204" pitchFamily="18" charset="0"/>
                            </a:rPr>
                            <m:t>(</m:t>
                          </m:r>
                          <m:nary>
                            <m:naryPr>
                              <m:chr m:val="∑"/>
                              <m:supHide m:val="on"/>
                              <m:ctrlPr>
                                <a:rPr lang="pt-BR" altLang="ja-JP" sz="1800" i="1" smtClean="0">
                                  <a:latin typeface="Cambria Math" panose="02040503050406030204" pitchFamily="18" charset="0"/>
                                </a:rPr>
                              </m:ctrlPr>
                            </m:naryPr>
                            <m:sub>
                              <m:sSup>
                                <m:sSupPr>
                                  <m:ctrlPr>
                                    <a:rPr lang="pt-BR" altLang="ja-JP" sz="1800" i="1" smtClean="0">
                                      <a:latin typeface="Cambria Math" panose="02040503050406030204" pitchFamily="18" charset="0"/>
                                    </a:rPr>
                                  </m:ctrlPr>
                                </m:sSupPr>
                                <m:e>
                                  <m:r>
                                    <m:rPr>
                                      <m:sty m:val="p"/>
                                    </m:rPr>
                                    <a:rPr lang="en-US" altLang="ja-JP" sz="1800" i="1">
                                      <a:latin typeface="Cambria Math" panose="02040503050406030204" pitchFamily="18" charset="0"/>
                                    </a:rPr>
                                    <m:t>β</m:t>
                                  </m:r>
                                </m:e>
                                <m:sup>
                                  <m:r>
                                    <a:rPr lang="en-US" altLang="ja-JP" sz="1800" i="1">
                                      <a:latin typeface="Cambria Math" panose="02040503050406030204" pitchFamily="18" charset="0"/>
                                    </a:rPr>
                                    <m:t>−1</m:t>
                                  </m:r>
                                </m:sup>
                              </m:sSup>
                              <m:r>
                                <m:rPr>
                                  <m:brk m:alnAt="7"/>
                                </m:rPr>
                                <a:rPr lang="en-US" altLang="ja-JP" sz="1800" i="1" smtClean="0">
                                  <a:latin typeface="Cambria Math" panose="02040503050406030204" pitchFamily="18" charset="0"/>
                                </a:rPr>
                                <m:t>(</m:t>
                              </m:r>
                              <m:r>
                                <a:rPr lang="en-US" altLang="ja-JP" sz="1800" i="1" smtClean="0">
                                  <a:latin typeface="Cambria Math" panose="02040503050406030204" pitchFamily="18" charset="0"/>
                                </a:rPr>
                                <m:t>𝑦</m:t>
                              </m:r>
                              <m:r>
                                <a:rPr lang="en-US" altLang="ja-JP" sz="1800" i="1" smtClean="0">
                                  <a:latin typeface="Cambria Math" panose="02040503050406030204" pitchFamily="18" charset="0"/>
                                </a:rPr>
                                <m:t>)∍</m:t>
                              </m:r>
                              <m:r>
                                <m:rPr>
                                  <m:sty m:val="p"/>
                                </m:rPr>
                                <a:rPr lang="en-US" altLang="ja-JP" sz="1800" i="1" smtClean="0">
                                  <a:latin typeface="Cambria Math" panose="02040503050406030204" pitchFamily="18" charset="0"/>
                                </a:rPr>
                                <m:t>π</m:t>
                              </m:r>
                            </m:sub>
                            <m:sup/>
                            <m:e>
                              <m:r>
                                <a:rPr lang="en-US" altLang="ja-JP" sz="1800" i="1">
                                  <a:latin typeface="Cambria Math" panose="02040503050406030204" pitchFamily="18" charset="0"/>
                                </a:rPr>
                                <m:t>𝑝</m:t>
                              </m:r>
                              <m:r>
                                <a:rPr lang="en-US" altLang="ja-JP" sz="1800" i="1">
                                  <a:latin typeface="Cambria Math" panose="02040503050406030204" pitchFamily="18" charset="0"/>
                                </a:rPr>
                                <m:t>(</m:t>
                              </m:r>
                              <m:r>
                                <m:rPr>
                                  <m:sty m:val="p"/>
                                </m:rPr>
                                <a:rPr lang="en-US" altLang="ja-JP" sz="1800" i="1">
                                  <a:latin typeface="Cambria Math" panose="02040503050406030204" pitchFamily="18" charset="0"/>
                                </a:rPr>
                                <m:t>π</m:t>
                              </m:r>
                              <m:r>
                                <a:rPr lang="en-US" altLang="ja-JP" sz="1800" i="1">
                                  <a:latin typeface="Cambria Math" panose="02040503050406030204" pitchFamily="18" charset="0"/>
                                </a:rPr>
                                <m:t>|</m:t>
                              </m:r>
                              <m:r>
                                <a:rPr lang="en-US" altLang="ja-JP" sz="1800" i="1">
                                  <a:latin typeface="Cambria Math" panose="02040503050406030204" pitchFamily="18" charset="0"/>
                                </a:rPr>
                                <m:t>𝑋</m:t>
                              </m:r>
                              <m:r>
                                <a:rPr lang="en-US" altLang="ja-JP" sz="1800" i="1">
                                  <a:latin typeface="Cambria Math" panose="02040503050406030204" pitchFamily="18" charset="0"/>
                                </a:rPr>
                                <m:t>)</m:t>
                              </m:r>
                            </m:e>
                          </m:nary>
                          <m:r>
                            <a:rPr lang="en-US" altLang="ja-JP" sz="1800" i="1">
                              <a:latin typeface="Cambria Math" panose="02040503050406030204" pitchFamily="18" charset="0"/>
                            </a:rPr>
                            <m:t>)</m:t>
                          </m:r>
                        </m:e>
                      </m:func>
                    </m:oMath>
                  </m:oMathPara>
                </a14:m>
                <a:endParaRPr lang="ja-JP" altLang="en-US"/>
              </a:p>
            </p:txBody>
          </p:sp>
        </mc:Choice>
        <mc:Fallback xmlns="">
          <p:sp>
            <p:nvSpPr>
              <p:cNvPr id="5" name="テキスト ボックス 4">
                <a:extLst>
                  <a:ext uri="{FF2B5EF4-FFF2-40B4-BE49-F238E27FC236}">
                    <a16:creationId xmlns:a16="http://schemas.microsoft.com/office/drawing/2014/main" id="{15E75573-9000-790F-3116-5C7F89B96133}"/>
                  </a:ext>
                </a:extLst>
              </p:cNvPr>
              <p:cNvSpPr txBox="1">
                <a:spLocks noRot="1" noChangeAspect="1" noMove="1" noResize="1" noEditPoints="1" noAdjustHandles="1" noChangeArrowheads="1" noChangeShapeType="1" noTextEdit="1"/>
              </p:cNvSpPr>
              <p:nvPr/>
            </p:nvSpPr>
            <p:spPr>
              <a:xfrm>
                <a:off x="1434240" y="5951848"/>
                <a:ext cx="6096000" cy="809004"/>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409159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21D9527-85BC-4DDE-AAE7-1995EF32C281}"/>
              </a:ext>
            </a:extLst>
          </p:cNvPr>
          <p:cNvSpPr>
            <a:spLocks noGrp="1"/>
          </p:cNvSpPr>
          <p:nvPr>
            <p:ph type="title"/>
          </p:nvPr>
        </p:nvSpPr>
        <p:spPr/>
        <p:txBody>
          <a:bodyPr/>
          <a:lstStyle/>
          <a:p>
            <a:pPr>
              <a:lnSpc>
                <a:spcPct val="100000"/>
              </a:lnSpc>
            </a:pPr>
            <a:r>
              <a:rPr kumimoji="1" lang="ja-JP" altLang="en-US" sz="3200">
                <a:ea typeface="游ゴシック Light"/>
              </a:rPr>
              <a:t>実験</a:t>
            </a:r>
            <a:br>
              <a:rPr kumimoji="1" lang="en-US" altLang="ja-JP"/>
            </a:br>
            <a:r>
              <a:rPr lang="ja-JP" altLang="en-US">
                <a:solidFill>
                  <a:schemeClr val="tx1"/>
                </a:solidFill>
                <a:ea typeface="游ゴシック Light"/>
              </a:rPr>
              <a:t>実験設定</a:t>
            </a:r>
            <a:endParaRPr kumimoji="1" lang="ja-JP" altLang="en-US">
              <a:solidFill>
                <a:schemeClr val="tx1"/>
              </a:solidFill>
              <a:ea typeface="游ゴシック Light"/>
            </a:endParaRP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CE4A34C7-B6F1-4C07-9FAE-B5C25547FA05}"/>
                  </a:ext>
                </a:extLst>
              </p:cNvPr>
              <p:cNvSpPr>
                <a:spLocks noGrp="1"/>
              </p:cNvSpPr>
              <p:nvPr>
                <p:ph idx="1"/>
              </p:nvPr>
            </p:nvSpPr>
            <p:spPr>
              <a:xfrm>
                <a:off x="838200" y="1584000"/>
                <a:ext cx="10515600" cy="5272583"/>
              </a:xfrm>
            </p:spPr>
            <p:txBody>
              <a:bodyPr vert="horz" lIns="91440" tIns="45720" rIns="91440" bIns="45720" rtlCol="0" anchor="t">
                <a:normAutofit/>
              </a:bodyPr>
              <a:lstStyle/>
              <a:p>
                <a:pPr>
                  <a:buClr>
                    <a:srgbClr val="4472C4"/>
                  </a:buClr>
                </a:pPr>
                <a:r>
                  <a:rPr lang="en-US" altLang="ja-JP">
                    <a:ea typeface="+mn-lt"/>
                    <a:cs typeface="+mn-lt"/>
                  </a:rPr>
                  <a:t>IAM</a:t>
                </a:r>
                <a:r>
                  <a:rPr lang="ja-JP" altLang="en-US">
                    <a:ea typeface="+mn-lt"/>
                    <a:cs typeface="+mn-lt"/>
                  </a:rPr>
                  <a:t>データセット</a:t>
                </a:r>
                <a:endParaRPr lang="en-US" altLang="ja-JP"/>
              </a:p>
              <a:p>
                <a:pPr lvl="1">
                  <a:buClr>
                    <a:srgbClr val="8FAADC"/>
                  </a:buClr>
                  <a:buFont typeface="Courier New" panose="020B0604020202020204" pitchFamily="34" charset="0"/>
                  <a:buChar char="o"/>
                </a:pPr>
                <a:r>
                  <a:rPr lang="ja-JP" altLang="en-US">
                    <a:ea typeface="游ゴシック"/>
                  </a:rPr>
                  <a:t>画像高さ    ：</a:t>
                </a:r>
                <a:r>
                  <a:rPr lang="en-US" altLang="ja-JP">
                    <a:ea typeface="游ゴシック"/>
                  </a:rPr>
                  <a:t>128</a:t>
                </a:r>
                <a:r>
                  <a:rPr lang="ja-JP" altLang="en-US">
                    <a:ea typeface="游ゴシック"/>
                  </a:rPr>
                  <a:t>px</a:t>
                </a:r>
                <a:endParaRPr lang="en-US" altLang="ja-JP">
                  <a:ea typeface="游ゴシック"/>
                </a:endParaRPr>
              </a:p>
              <a:p>
                <a:pPr lvl="1">
                  <a:buClr>
                    <a:srgbClr val="8FAADC"/>
                  </a:buClr>
                  <a:buFont typeface="Courier New" panose="020B0604020202020204" pitchFamily="34" charset="0"/>
                  <a:buChar char="o"/>
                </a:pPr>
                <a:r>
                  <a:rPr lang="ja-JP" altLang="en-US">
                    <a:ea typeface="游ゴシック"/>
                  </a:rPr>
                  <a:t>学習データ数  ：</a:t>
                </a:r>
                <a:r>
                  <a:rPr lang="en-US" altLang="ja-JP">
                    <a:ea typeface="游ゴシック"/>
                  </a:rPr>
                  <a:t>6161</a:t>
                </a:r>
                <a:r>
                  <a:rPr lang="ja-JP" altLang="en-US">
                    <a:ea typeface="游ゴシック"/>
                  </a:rPr>
                  <a:t>枚</a:t>
                </a:r>
              </a:p>
              <a:p>
                <a:pPr lvl="1">
                  <a:buClr>
                    <a:srgbClr val="8FAADC"/>
                  </a:buClr>
                  <a:buFont typeface="Courier New" panose="020B0604020202020204" pitchFamily="34" charset="0"/>
                  <a:buChar char="o"/>
                </a:pPr>
                <a:r>
                  <a:rPr lang="ja-JP" altLang="en-US">
                    <a:ea typeface="游ゴシック"/>
                  </a:rPr>
                  <a:t>検証データ数 　：</a:t>
                </a:r>
                <a:r>
                  <a:rPr lang="en-US" altLang="ja-JP">
                    <a:ea typeface="游ゴシック"/>
                  </a:rPr>
                  <a:t>966</a:t>
                </a:r>
                <a:r>
                  <a:rPr lang="ja-JP" altLang="en-US">
                    <a:ea typeface="游ゴシック"/>
                  </a:rPr>
                  <a:t>枚</a:t>
                </a:r>
                <a:endParaRPr lang="en-US" altLang="ja-JP">
                  <a:ea typeface="游ゴシック"/>
                </a:endParaRPr>
              </a:p>
              <a:p>
                <a:pPr lvl="1">
                  <a:buClr>
                    <a:srgbClr val="8FAADC"/>
                  </a:buClr>
                  <a:buFont typeface="Courier New" panose="020B0604020202020204" pitchFamily="34" charset="0"/>
                  <a:buChar char="o"/>
                </a:pPr>
                <a:r>
                  <a:rPr lang="ja-JP" altLang="en-US">
                    <a:ea typeface="游ゴシック"/>
                  </a:rPr>
                  <a:t>テストデータ数　：</a:t>
                </a:r>
                <a:r>
                  <a:rPr lang="en-US" altLang="ja-JP">
                    <a:ea typeface="游ゴシック"/>
                  </a:rPr>
                  <a:t>2915</a:t>
                </a:r>
                <a:r>
                  <a:rPr lang="ja-JP" altLang="en-US">
                    <a:ea typeface="游ゴシック"/>
                  </a:rPr>
                  <a:t>枚</a:t>
                </a:r>
                <a:endParaRPr lang="en-US" altLang="ja-JP">
                  <a:ea typeface="游ゴシック"/>
                </a:endParaRPr>
              </a:p>
              <a:p>
                <a:pPr>
                  <a:buClr>
                    <a:srgbClr val="8FAADC"/>
                  </a:buClr>
                  <a:buFont typeface="Courier New" panose="020B0604020202020204" pitchFamily="34" charset="0"/>
                  <a:buChar char="o"/>
                </a:pPr>
                <a:endParaRPr lang="en-US" altLang="ja-JP" sz="2000">
                  <a:ea typeface="+mn-lt"/>
                  <a:cs typeface="+mn-lt"/>
                </a:endParaRPr>
              </a:p>
              <a:p>
                <a:pPr marL="0" indent="0">
                  <a:buClr>
                    <a:srgbClr val="8FAADC"/>
                  </a:buClr>
                  <a:buNone/>
                </a:pPr>
                <a:endParaRPr lang="en-US" altLang="ja-JP" sz="2000">
                  <a:ea typeface="+mn-lt"/>
                  <a:cs typeface="+mn-lt"/>
                </a:endParaRPr>
              </a:p>
              <a:p>
                <a:pPr>
                  <a:buClr>
                    <a:srgbClr val="4472C4"/>
                  </a:buClr>
                </a:pPr>
                <a:r>
                  <a:rPr lang="ja-JP" altLang="en-US">
                    <a:ea typeface="+mn-lt"/>
                    <a:cs typeface="+mn-lt"/>
                  </a:rPr>
                  <a:t>実験設定</a:t>
                </a:r>
                <a:r>
                  <a:rPr lang="en-US" altLang="ja-JP">
                    <a:ea typeface="+mn-lt"/>
                    <a:cs typeface="+mn-lt"/>
                  </a:rPr>
                  <a:t>(</a:t>
                </a:r>
                <a:r>
                  <a:rPr lang="ja-JP" altLang="en-US">
                    <a:ea typeface="+mn-lt"/>
                    <a:cs typeface="+mn-lt"/>
                  </a:rPr>
                  <a:t>ベースライン</a:t>
                </a:r>
                <a:r>
                  <a:rPr lang="en-US" altLang="ja-JP">
                    <a:ea typeface="+mn-lt"/>
                    <a:cs typeface="+mn-lt"/>
                  </a:rPr>
                  <a:t>)</a:t>
                </a:r>
              </a:p>
              <a:p>
                <a:pPr lvl="1">
                  <a:buClr>
                    <a:srgbClr val="8FAADC"/>
                  </a:buClr>
                  <a:buFont typeface="Courier New" panose="020B0604020202020204" pitchFamily="34" charset="0"/>
                  <a:buChar char="o"/>
                </a:pPr>
                <a:r>
                  <a:rPr lang="ja-JP" altLang="en-US">
                    <a:ea typeface="游ゴシック"/>
                  </a:rPr>
                  <a:t>バッチサイズ</a:t>
                </a:r>
                <a:r>
                  <a:rPr lang="en-US" altLang="ja-JP">
                    <a:ea typeface="游ゴシック"/>
                  </a:rPr>
                  <a:t>	</a:t>
                </a:r>
                <a:r>
                  <a:rPr lang="ja-JP" altLang="en-US">
                    <a:ea typeface="游ゴシック"/>
                  </a:rPr>
                  <a:t>：</a:t>
                </a:r>
                <a:r>
                  <a:rPr lang="en-US" altLang="ja-JP">
                    <a:ea typeface="游ゴシック"/>
                  </a:rPr>
                  <a:t>4</a:t>
                </a:r>
              </a:p>
              <a:p>
                <a:pPr lvl="1">
                  <a:buClr>
                    <a:srgbClr val="8FAADC"/>
                  </a:buClr>
                  <a:buFont typeface="Courier New" panose="020B0604020202020204" pitchFamily="34" charset="0"/>
                  <a:buChar char="o"/>
                </a:pPr>
                <a:r>
                  <a:rPr lang="ja-JP" altLang="en-US">
                    <a:ea typeface="游ゴシック"/>
                  </a:rPr>
                  <a:t>学習率  </a:t>
                </a:r>
                <a:r>
                  <a:rPr lang="en-US" altLang="ja-JP">
                    <a:ea typeface="游ゴシック"/>
                  </a:rPr>
                  <a:t>	</a:t>
                </a:r>
                <a:r>
                  <a:rPr lang="ja-JP" altLang="en-US">
                    <a:ea typeface="游ゴシック"/>
                  </a:rPr>
                  <a:t>：</a:t>
                </a:r>
                <a14:m>
                  <m:oMath xmlns:m="http://schemas.openxmlformats.org/officeDocument/2006/math">
                    <m:sSup>
                      <m:sSupPr>
                        <m:ctrlPr>
                          <a:rPr lang="en-US" altLang="ja-JP" i="1" smtClean="0">
                            <a:latin typeface="Cambria Math" panose="02040503050406030204" pitchFamily="18" charset="0"/>
                            <a:ea typeface="游ゴシック"/>
                          </a:rPr>
                        </m:ctrlPr>
                      </m:sSupPr>
                      <m:e>
                        <m:r>
                          <m:rPr>
                            <m:nor/>
                          </m:rPr>
                          <a:rPr lang="en-US" altLang="ja-JP" dirty="0">
                            <a:ea typeface="游ゴシック"/>
                          </a:rPr>
                          <m:t>1 </m:t>
                        </m:r>
                        <m:r>
                          <m:rPr>
                            <m:nor/>
                          </m:rPr>
                          <a:rPr lang="en-US" altLang="ja-JP" dirty="0">
                            <a:ea typeface="游ゴシック"/>
                          </a:rPr>
                          <m:t>×</m:t>
                        </m:r>
                        <m:r>
                          <a:rPr lang="en-US" altLang="ja-JP" b="0" i="1" smtClean="0">
                            <a:latin typeface="Cambria Math" panose="02040503050406030204" pitchFamily="18" charset="0"/>
                            <a:ea typeface="游ゴシック"/>
                          </a:rPr>
                          <m:t>10</m:t>
                        </m:r>
                      </m:e>
                      <m:sup>
                        <m:r>
                          <a:rPr lang="en-US" altLang="ja-JP" b="0" i="1" smtClean="0">
                            <a:latin typeface="Cambria Math" panose="02040503050406030204" pitchFamily="18" charset="0"/>
                            <a:ea typeface="游ゴシック"/>
                          </a:rPr>
                          <m:t>−4</m:t>
                        </m:r>
                      </m:sup>
                    </m:sSup>
                  </m:oMath>
                </a14:m>
                <a:endParaRPr lang="ja-JP" altLang="en-US">
                  <a:ea typeface="游ゴシック"/>
                </a:endParaRPr>
              </a:p>
              <a:p>
                <a:pPr marL="457200" lvl="1" indent="0">
                  <a:buClr>
                    <a:srgbClr val="8FAADC"/>
                  </a:buClr>
                  <a:buNone/>
                </a:pPr>
                <a:endParaRPr lang="en-US" altLang="ja-JP">
                  <a:ea typeface="游ゴシック"/>
                </a:endParaRPr>
              </a:p>
              <a:p>
                <a:pPr marL="457200" lvl="1" indent="0">
                  <a:buClr>
                    <a:srgbClr val="4472C4"/>
                  </a:buClr>
                  <a:buNone/>
                </a:pPr>
                <a:endParaRPr lang="en-US" altLang="ja-JP" sz="2000">
                  <a:ea typeface="+mn-lt"/>
                  <a:cs typeface="+mn-lt"/>
                </a:endParaRPr>
              </a:p>
            </p:txBody>
          </p:sp>
        </mc:Choice>
        <mc:Fallback xmlns="">
          <p:sp>
            <p:nvSpPr>
              <p:cNvPr id="3" name="コンテンツ プレースホルダー 2">
                <a:extLst>
                  <a:ext uri="{FF2B5EF4-FFF2-40B4-BE49-F238E27FC236}">
                    <a16:creationId xmlns:a16="http://schemas.microsoft.com/office/drawing/2014/main" id="{CE4A34C7-B6F1-4C07-9FAE-B5C25547FA05}"/>
                  </a:ext>
                </a:extLst>
              </p:cNvPr>
              <p:cNvSpPr>
                <a:spLocks noGrp="1" noRot="1" noChangeAspect="1" noMove="1" noResize="1" noEditPoints="1" noAdjustHandles="1" noChangeArrowheads="1" noChangeShapeType="1" noTextEdit="1"/>
              </p:cNvSpPr>
              <p:nvPr>
                <p:ph idx="1"/>
              </p:nvPr>
            </p:nvSpPr>
            <p:spPr>
              <a:xfrm>
                <a:off x="838200" y="1584000"/>
                <a:ext cx="10515600" cy="5272583"/>
              </a:xfrm>
              <a:blipFill>
                <a:blip r:embed="rId3"/>
                <a:stretch>
                  <a:fillRect l="-1043" t="-1965"/>
                </a:stretch>
              </a:blipFill>
            </p:spPr>
            <p:txBody>
              <a:bodyPr/>
              <a:lstStyle/>
              <a:p>
                <a:r>
                  <a:rPr lang="en-US">
                    <a:noFill/>
                  </a:rPr>
                  <a:t> </a:t>
                </a:r>
              </a:p>
            </p:txBody>
          </p:sp>
        </mc:Fallback>
      </mc:AlternateContent>
      <p:sp>
        <p:nvSpPr>
          <p:cNvPr id="4" name="スライド番号プレースホルダー 3">
            <a:extLst>
              <a:ext uri="{FF2B5EF4-FFF2-40B4-BE49-F238E27FC236}">
                <a16:creationId xmlns:a16="http://schemas.microsoft.com/office/drawing/2014/main" id="{3DB35027-58CB-4285-83D4-CEF71FDE064B}"/>
              </a:ext>
            </a:extLst>
          </p:cNvPr>
          <p:cNvSpPr>
            <a:spLocks noGrp="1"/>
          </p:cNvSpPr>
          <p:nvPr>
            <p:ph type="sldNum" sz="quarter" idx="12"/>
          </p:nvPr>
        </p:nvSpPr>
        <p:spPr/>
        <p:txBody>
          <a:bodyPr/>
          <a:lstStyle/>
          <a:p>
            <a:fld id="{397E558F-9F61-480E-94CF-2C9CB5412042}" type="slidenum">
              <a:rPr lang="ja-JP" altLang="en-US" smtClean="0"/>
              <a:pPr/>
              <a:t>22</a:t>
            </a:fld>
            <a:endParaRPr lang="ja-JP" altLang="en-US"/>
          </a:p>
        </p:txBody>
      </p:sp>
      <mc:AlternateContent xmlns:mc="http://schemas.openxmlformats.org/markup-compatibility/2006" xmlns:a14="http://schemas.microsoft.com/office/drawing/2010/main">
        <mc:Choice Requires="a14">
          <p:sp>
            <p:nvSpPr>
              <p:cNvPr id="14" name="コンテンツ プレースホルダー 2">
                <a:extLst>
                  <a:ext uri="{FF2B5EF4-FFF2-40B4-BE49-F238E27FC236}">
                    <a16:creationId xmlns:a16="http://schemas.microsoft.com/office/drawing/2014/main" id="{B0CE4BA8-0283-1E45-E9FD-4A6E6DC7DF34}"/>
                  </a:ext>
                </a:extLst>
              </p:cNvPr>
              <p:cNvSpPr txBox="1">
                <a:spLocks/>
              </p:cNvSpPr>
              <p:nvPr/>
            </p:nvSpPr>
            <p:spPr>
              <a:xfrm>
                <a:off x="6096000" y="4435123"/>
                <a:ext cx="5265821" cy="2103789"/>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Clr>
                    <a:schemeClr val="accent5"/>
                  </a:buClr>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5">
                      <a:lumMod val="60000"/>
                      <a:lumOff val="40000"/>
                    </a:schemeClr>
                  </a:buClr>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5">
                      <a:lumMod val="75000"/>
                    </a:schemeClr>
                  </a:buClr>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5">
                      <a:lumMod val="50000"/>
                    </a:schemeClr>
                  </a:buClr>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5">
                      <a:lumMod val="50000"/>
                    </a:schemeClr>
                  </a:buClr>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buClr>
                    <a:srgbClr val="4472C4"/>
                  </a:buClr>
                </a:pPr>
                <a:r>
                  <a:rPr lang="ja-JP" altLang="en-US">
                    <a:ea typeface="+mn-lt"/>
                    <a:cs typeface="+mn-lt"/>
                  </a:rPr>
                  <a:t>実験設定</a:t>
                </a:r>
                <a:r>
                  <a:rPr lang="en-US" altLang="ja-JP">
                    <a:ea typeface="+mn-lt"/>
                    <a:cs typeface="+mn-lt"/>
                  </a:rPr>
                  <a:t>(</a:t>
                </a:r>
                <a:r>
                  <a:rPr lang="ja-JP" altLang="en-US">
                    <a:ea typeface="+mn-lt"/>
                    <a:cs typeface="+mn-lt"/>
                  </a:rPr>
                  <a:t>提案手法</a:t>
                </a:r>
                <a:r>
                  <a:rPr lang="en-US" altLang="ja-JP">
                    <a:ea typeface="+mn-lt"/>
                    <a:cs typeface="+mn-lt"/>
                  </a:rPr>
                  <a:t>)</a:t>
                </a:r>
              </a:p>
              <a:p>
                <a:pPr lvl="1">
                  <a:buClr>
                    <a:srgbClr val="8FAADC"/>
                  </a:buClr>
                  <a:buFont typeface="Courier New" panose="020B0604020202020204" pitchFamily="34" charset="0"/>
                  <a:buChar char="o"/>
                </a:pPr>
                <a:r>
                  <a:rPr lang="ja-JP" altLang="en-US">
                    <a:ea typeface="游ゴシック"/>
                  </a:rPr>
                  <a:t>バッチサイズ</a:t>
                </a:r>
                <a:r>
                  <a:rPr lang="en-US" altLang="ja-JP">
                    <a:ea typeface="游ゴシック"/>
                  </a:rPr>
                  <a:t>	</a:t>
                </a:r>
                <a:r>
                  <a:rPr lang="ja-JP" altLang="en-US">
                    <a:ea typeface="游ゴシック"/>
                  </a:rPr>
                  <a:t>：</a:t>
                </a:r>
                <a:r>
                  <a:rPr lang="en-US" altLang="ja-JP">
                    <a:ea typeface="游ゴシック"/>
                  </a:rPr>
                  <a:t>4</a:t>
                </a:r>
              </a:p>
              <a:p>
                <a:pPr lvl="1">
                  <a:buClr>
                    <a:srgbClr val="8FAADC"/>
                  </a:buClr>
                  <a:buFont typeface="Courier New" panose="020B0604020202020204" pitchFamily="34" charset="0"/>
                  <a:buChar char="o"/>
                </a:pPr>
                <a:r>
                  <a:rPr lang="ja-JP" altLang="en-US">
                    <a:ea typeface="游ゴシック"/>
                  </a:rPr>
                  <a:t>学習率  </a:t>
                </a:r>
                <a:r>
                  <a:rPr lang="en-US" altLang="ja-JP">
                    <a:ea typeface="游ゴシック"/>
                  </a:rPr>
                  <a:t>	</a:t>
                </a:r>
                <a:r>
                  <a:rPr lang="ja-JP" altLang="en-US">
                    <a:ea typeface="游ゴシック"/>
                  </a:rPr>
                  <a:t>：</a:t>
                </a:r>
                <a14:m>
                  <m:oMath xmlns:m="http://schemas.openxmlformats.org/officeDocument/2006/math">
                    <m:sSup>
                      <m:sSupPr>
                        <m:ctrlPr>
                          <a:rPr lang="en-US" altLang="ja-JP" i="1" smtClean="0">
                            <a:latin typeface="Cambria Math" panose="02040503050406030204" pitchFamily="18" charset="0"/>
                            <a:ea typeface="游ゴシック"/>
                          </a:rPr>
                        </m:ctrlPr>
                      </m:sSupPr>
                      <m:e>
                        <m:r>
                          <m:rPr>
                            <m:nor/>
                          </m:rPr>
                          <a:rPr lang="en-US" altLang="ja-JP" dirty="0">
                            <a:ea typeface="游ゴシック"/>
                          </a:rPr>
                          <m:t>1 </m:t>
                        </m:r>
                        <m:r>
                          <m:rPr>
                            <m:nor/>
                          </m:rPr>
                          <a:rPr lang="en-US" altLang="ja-JP" dirty="0">
                            <a:ea typeface="游ゴシック"/>
                          </a:rPr>
                          <m:t>×</m:t>
                        </m:r>
                        <m:r>
                          <a:rPr lang="en-US" altLang="ja-JP" b="0" i="1" smtClean="0">
                            <a:latin typeface="Cambria Math" panose="02040503050406030204" pitchFamily="18" charset="0"/>
                            <a:ea typeface="游ゴシック"/>
                          </a:rPr>
                          <m:t>10</m:t>
                        </m:r>
                      </m:e>
                      <m:sup>
                        <m:r>
                          <a:rPr lang="en-US" altLang="ja-JP" b="0" i="1" smtClean="0">
                            <a:latin typeface="Cambria Math" panose="02040503050406030204" pitchFamily="18" charset="0"/>
                            <a:ea typeface="游ゴシック"/>
                          </a:rPr>
                          <m:t>−4</m:t>
                        </m:r>
                      </m:sup>
                    </m:sSup>
                  </m:oMath>
                </a14:m>
                <a:endParaRPr lang="en-US" altLang="ja-JP" b="0">
                  <a:ea typeface="游ゴシック"/>
                </a:endParaRPr>
              </a:p>
              <a:p>
                <a:pPr lvl="1">
                  <a:buClr>
                    <a:srgbClr val="8FAADC"/>
                  </a:buClr>
                  <a:buFont typeface="Courier New" panose="020B0604020202020204" pitchFamily="34" charset="0"/>
                  <a:buChar char="o"/>
                </a:pPr>
                <a:r>
                  <a:rPr lang="ja-JP" altLang="en-US">
                    <a:ea typeface="游ゴシック"/>
                  </a:rPr>
                  <a:t>使用</a:t>
                </a:r>
                <a:r>
                  <a:rPr lang="en-US" altLang="ja-JP">
                    <a:ea typeface="游ゴシック"/>
                  </a:rPr>
                  <a:t>LLM	</a:t>
                </a:r>
                <a:r>
                  <a:rPr lang="ja-JP" altLang="en-US">
                    <a:ea typeface="游ゴシック"/>
                  </a:rPr>
                  <a:t>：</a:t>
                </a:r>
                <a:r>
                  <a:rPr lang="en-US" altLang="ja-JP">
                    <a:ea typeface="游ゴシック"/>
                  </a:rPr>
                  <a:t>Llama3</a:t>
                </a:r>
              </a:p>
              <a:p>
                <a:pPr lvl="1">
                  <a:buClr>
                    <a:srgbClr val="8FAADC"/>
                  </a:buClr>
                  <a:buFont typeface="Courier New" panose="020B0604020202020204" pitchFamily="34" charset="0"/>
                  <a:buChar char="o"/>
                </a:pPr>
                <a14:m>
                  <m:oMath xmlns:m="http://schemas.openxmlformats.org/officeDocument/2006/math">
                    <m:sSub>
                      <m:sSubPr>
                        <m:ctrlPr>
                          <a:rPr lang="en-US" altLang="ja-JP" i="1" dirty="0" smtClean="0">
                            <a:latin typeface="Cambria Math" panose="02040503050406030204" pitchFamily="18" charset="0"/>
                            <a:ea typeface="游ゴシック"/>
                          </a:rPr>
                        </m:ctrlPr>
                      </m:sSubPr>
                      <m:e>
                        <m:r>
                          <m:rPr>
                            <m:sty m:val="p"/>
                          </m:rPr>
                          <a:rPr lang="en-US" altLang="ja-JP" i="1" dirty="0">
                            <a:latin typeface="Cambria Math" panose="02040503050406030204" pitchFamily="18" charset="0"/>
                            <a:ea typeface="游ゴシック"/>
                          </a:rPr>
                          <m:t>L</m:t>
                        </m:r>
                      </m:e>
                      <m:sub>
                        <m:r>
                          <a:rPr lang="en-US" altLang="ja-JP" b="0" i="1" dirty="0" smtClean="0">
                            <a:latin typeface="Cambria Math" panose="02040503050406030204" pitchFamily="18" charset="0"/>
                            <a:ea typeface="游ゴシック"/>
                          </a:rPr>
                          <m:t>𝐿𝐴𝐼𝐿</m:t>
                        </m:r>
                      </m:sub>
                    </m:sSub>
                  </m:oMath>
                </a14:m>
                <a:r>
                  <a:rPr lang="ja-JP" altLang="en-US">
                    <a:ea typeface="游ゴシック"/>
                  </a:rPr>
                  <a:t>の重み</a:t>
                </a:r>
                <a:r>
                  <a:rPr lang="en-US" altLang="ja-JP">
                    <a:ea typeface="游ゴシック"/>
                  </a:rPr>
                  <a:t>α	</a:t>
                </a:r>
                <a:r>
                  <a:rPr lang="ja-JP" altLang="en-US">
                    <a:ea typeface="游ゴシック"/>
                  </a:rPr>
                  <a:t>：</a:t>
                </a:r>
                <a:r>
                  <a:rPr lang="en-US" altLang="ja-JP">
                    <a:ea typeface="游ゴシック"/>
                  </a:rPr>
                  <a:t>0.01</a:t>
                </a:r>
              </a:p>
              <a:p>
                <a:pPr marL="457200" lvl="1" indent="0">
                  <a:buClr>
                    <a:srgbClr val="4472C4"/>
                  </a:buClr>
                  <a:buFont typeface="Arial" panose="020B0604020202020204" pitchFamily="34" charset="0"/>
                  <a:buNone/>
                </a:pPr>
                <a:endParaRPr lang="en-US" altLang="ja-JP" sz="2000">
                  <a:ea typeface="+mn-lt"/>
                  <a:cs typeface="+mn-lt"/>
                </a:endParaRPr>
              </a:p>
            </p:txBody>
          </p:sp>
        </mc:Choice>
        <mc:Fallback xmlns="">
          <p:sp>
            <p:nvSpPr>
              <p:cNvPr id="14" name="コンテンツ プレースホルダー 2">
                <a:extLst>
                  <a:ext uri="{FF2B5EF4-FFF2-40B4-BE49-F238E27FC236}">
                    <a16:creationId xmlns:a16="http://schemas.microsoft.com/office/drawing/2014/main" id="{B0CE4BA8-0283-1E45-E9FD-4A6E6DC7DF34}"/>
                  </a:ext>
                </a:extLst>
              </p:cNvPr>
              <p:cNvSpPr txBox="1">
                <a:spLocks noRot="1" noChangeAspect="1" noMove="1" noResize="1" noEditPoints="1" noAdjustHandles="1" noChangeArrowheads="1" noChangeShapeType="1" noTextEdit="1"/>
              </p:cNvSpPr>
              <p:nvPr/>
            </p:nvSpPr>
            <p:spPr>
              <a:xfrm>
                <a:off x="6096000" y="4435123"/>
                <a:ext cx="5265821" cy="2103789"/>
              </a:xfrm>
              <a:prstGeom prst="rect">
                <a:avLst/>
              </a:prstGeom>
              <a:blipFill>
                <a:blip r:embed="rId4"/>
                <a:stretch>
                  <a:fillRect l="-2083" t="-4928" b="-4058"/>
                </a:stretch>
              </a:blipFill>
            </p:spPr>
            <p:txBody>
              <a:bodyPr/>
              <a:lstStyle/>
              <a:p>
                <a:r>
                  <a:rPr lang="en-US">
                    <a:noFill/>
                  </a:rPr>
                  <a:t> </a:t>
                </a:r>
              </a:p>
            </p:txBody>
          </p:sp>
        </mc:Fallback>
      </mc:AlternateContent>
    </p:spTree>
    <p:extLst>
      <p:ext uri="{BB962C8B-B14F-4D97-AF65-F5344CB8AC3E}">
        <p14:creationId xmlns:p14="http://schemas.microsoft.com/office/powerpoint/2010/main" val="5908087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CE9D8D5-C128-632B-8327-39070755741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B18900E-6EBC-5D92-072F-4EDE144F8B84}"/>
              </a:ext>
            </a:extLst>
          </p:cNvPr>
          <p:cNvSpPr>
            <a:spLocks noGrp="1"/>
          </p:cNvSpPr>
          <p:nvPr>
            <p:ph type="title"/>
          </p:nvPr>
        </p:nvSpPr>
        <p:spPr/>
        <p:txBody>
          <a:bodyPr/>
          <a:lstStyle/>
          <a:p>
            <a:pPr>
              <a:lnSpc>
                <a:spcPct val="100000"/>
              </a:lnSpc>
            </a:pPr>
            <a:r>
              <a:rPr kumimoji="1" lang="ja-JP" altLang="en-US" sz="3200">
                <a:ea typeface="游ゴシック Light"/>
              </a:rPr>
              <a:t>実験</a:t>
            </a:r>
            <a:br>
              <a:rPr kumimoji="1" lang="en-US" altLang="ja-JP"/>
            </a:br>
            <a:r>
              <a:rPr lang="ja-JP" altLang="en-US">
                <a:solidFill>
                  <a:schemeClr val="tx1"/>
                </a:solidFill>
                <a:ea typeface="游ゴシック Light"/>
              </a:rPr>
              <a:t>データセットについて</a:t>
            </a:r>
            <a:endParaRPr kumimoji="1" lang="ja-JP" altLang="en-US">
              <a:solidFill>
                <a:schemeClr val="tx1"/>
              </a:solidFill>
              <a:ea typeface="游ゴシック Light"/>
            </a:endParaRPr>
          </a:p>
        </p:txBody>
      </p:sp>
      <p:sp>
        <p:nvSpPr>
          <p:cNvPr id="3" name="コンテンツ プレースホルダー 2">
            <a:extLst>
              <a:ext uri="{FF2B5EF4-FFF2-40B4-BE49-F238E27FC236}">
                <a16:creationId xmlns:a16="http://schemas.microsoft.com/office/drawing/2014/main" id="{05C56559-6854-DED2-7580-BA1B21F59491}"/>
              </a:ext>
            </a:extLst>
          </p:cNvPr>
          <p:cNvSpPr>
            <a:spLocks noGrp="1"/>
          </p:cNvSpPr>
          <p:nvPr>
            <p:ph idx="1"/>
          </p:nvPr>
        </p:nvSpPr>
        <p:spPr>
          <a:xfrm>
            <a:off x="838200" y="1584000"/>
            <a:ext cx="10515600" cy="5272583"/>
          </a:xfrm>
        </p:spPr>
        <p:txBody>
          <a:bodyPr vert="horz" lIns="91440" tIns="45720" rIns="91440" bIns="45720" rtlCol="0" anchor="t">
            <a:normAutofit/>
          </a:bodyPr>
          <a:lstStyle/>
          <a:p>
            <a:pPr>
              <a:buClr>
                <a:srgbClr val="4472C4"/>
              </a:buClr>
            </a:pPr>
            <a:r>
              <a:rPr lang="en-US" altLang="ja-JP">
                <a:ea typeface="+mn-lt"/>
                <a:cs typeface="+mn-lt"/>
              </a:rPr>
              <a:t>IAM</a:t>
            </a:r>
            <a:r>
              <a:rPr lang="ja-JP" altLang="en-US">
                <a:ea typeface="+mn-lt"/>
                <a:cs typeface="+mn-lt"/>
              </a:rPr>
              <a:t>データセット</a:t>
            </a:r>
            <a:endParaRPr lang="en-US" altLang="ja-JP"/>
          </a:p>
          <a:p>
            <a:pPr lvl="1">
              <a:buClr>
                <a:srgbClr val="8FAADC"/>
              </a:buClr>
              <a:buFont typeface="Courier New" panose="020B0604020202020204" pitchFamily="34" charset="0"/>
              <a:buChar char="o"/>
            </a:pPr>
            <a:r>
              <a:rPr lang="ja-JP" altLang="en-US">
                <a:ea typeface="游ゴシック"/>
              </a:rPr>
              <a:t>文字クラス数：</a:t>
            </a:r>
            <a:r>
              <a:rPr lang="en-US" altLang="ja-JP">
                <a:ea typeface="游ゴシック"/>
              </a:rPr>
              <a:t>79</a:t>
            </a:r>
            <a:r>
              <a:rPr lang="ja-JP" altLang="en-US">
                <a:ea typeface="游ゴシック"/>
              </a:rPr>
              <a:t>文字</a:t>
            </a:r>
            <a:endParaRPr lang="en-US" altLang="ja-JP">
              <a:ea typeface="游ゴシック"/>
            </a:endParaRPr>
          </a:p>
          <a:p>
            <a:pPr lvl="1">
              <a:buClr>
                <a:srgbClr val="8FAADC"/>
              </a:buClr>
              <a:buFont typeface="Courier New" panose="020B0604020202020204" pitchFamily="34" charset="0"/>
              <a:buChar char="o"/>
            </a:pPr>
            <a:r>
              <a:rPr lang="ja-JP" altLang="en-US">
                <a:ea typeface="游ゴシック"/>
              </a:rPr>
              <a:t>画像サイズ</a:t>
            </a:r>
            <a:endParaRPr lang="en-US" altLang="ja-JP">
              <a:ea typeface="游ゴシック"/>
            </a:endParaRPr>
          </a:p>
          <a:p>
            <a:pPr lvl="2">
              <a:buClr>
                <a:srgbClr val="8FAADC"/>
              </a:buClr>
              <a:buFont typeface="Courier New" panose="020B0604020202020204" pitchFamily="34" charset="0"/>
              <a:buChar char="o"/>
            </a:pPr>
            <a:r>
              <a:rPr lang="ja-JP" altLang="en-US">
                <a:ea typeface="游ゴシック"/>
              </a:rPr>
              <a:t>高さ：</a:t>
            </a:r>
            <a:r>
              <a:rPr lang="en-US" altLang="ja-JP">
                <a:ea typeface="游ゴシック"/>
              </a:rPr>
              <a:t>384px</a:t>
            </a:r>
          </a:p>
          <a:p>
            <a:pPr lvl="2">
              <a:buClr>
                <a:srgbClr val="8FAADC"/>
              </a:buClr>
              <a:buFont typeface="Courier New" panose="020B0604020202020204" pitchFamily="34" charset="0"/>
              <a:buChar char="o"/>
            </a:pPr>
            <a:r>
              <a:rPr lang="ja-JP" altLang="en-US">
                <a:ea typeface="游ゴシック"/>
              </a:rPr>
              <a:t>幅　：</a:t>
            </a:r>
            <a:r>
              <a:rPr lang="en-US" altLang="ja-JP">
                <a:ea typeface="游ゴシック"/>
              </a:rPr>
              <a:t>2048px</a:t>
            </a:r>
          </a:p>
          <a:p>
            <a:pPr lvl="1">
              <a:buClr>
                <a:srgbClr val="8FAADC"/>
              </a:buClr>
              <a:buFont typeface="Courier New" panose="020B0604020202020204" pitchFamily="34" charset="0"/>
              <a:buChar char="o"/>
            </a:pPr>
            <a:r>
              <a:rPr lang="en-US" altLang="ja-JP">
                <a:ea typeface="游ゴシック"/>
              </a:rPr>
              <a:t>657 </a:t>
            </a:r>
            <a:r>
              <a:rPr lang="ja-JP" altLang="en-US">
                <a:ea typeface="游ゴシック"/>
              </a:rPr>
              <a:t>名の筆者によって記述</a:t>
            </a:r>
            <a:endParaRPr lang="en-US" altLang="ja-JP">
              <a:ea typeface="游ゴシック"/>
            </a:endParaRPr>
          </a:p>
          <a:p>
            <a:pPr lvl="1">
              <a:buClr>
                <a:srgbClr val="8FAADC"/>
              </a:buClr>
              <a:buFont typeface="Courier New" panose="020B0604020202020204" pitchFamily="34" charset="0"/>
              <a:buChar char="o"/>
            </a:pPr>
            <a:r>
              <a:rPr lang="en-US" altLang="ja-JP">
                <a:ea typeface="游ゴシック"/>
              </a:rPr>
              <a:t>Aachen split</a:t>
            </a:r>
          </a:p>
          <a:p>
            <a:pPr lvl="2">
              <a:buClr>
                <a:srgbClr val="8FAADC"/>
              </a:buClr>
              <a:buFont typeface="Courier New" panose="020B0604020202020204" pitchFamily="34" charset="0"/>
              <a:buChar char="o"/>
            </a:pPr>
            <a:r>
              <a:rPr lang="ja-JP" altLang="en-US">
                <a:ea typeface="游ゴシック"/>
              </a:rPr>
              <a:t>同一筆者がテストデータと検証データ両方に入らないように分割</a:t>
            </a:r>
            <a:endParaRPr lang="en-US" altLang="ja-JP">
              <a:ea typeface="游ゴシック"/>
            </a:endParaRPr>
          </a:p>
          <a:p>
            <a:pPr lvl="2">
              <a:buClr>
                <a:srgbClr val="8FAADC"/>
              </a:buClr>
              <a:buFont typeface="Courier New" panose="020B0604020202020204" pitchFamily="34" charset="0"/>
              <a:buChar char="o"/>
            </a:pPr>
            <a:r>
              <a:rPr lang="ja-JP" altLang="en-US">
                <a:ea typeface="游ゴシック"/>
              </a:rPr>
              <a:t>筆者依存の過学習を避けた汎化性能を評価可能</a:t>
            </a:r>
            <a:endParaRPr lang="en-US" altLang="ja-JP">
              <a:ea typeface="游ゴシック"/>
            </a:endParaRPr>
          </a:p>
          <a:p>
            <a:pPr marL="914400" lvl="2" indent="0">
              <a:buClr>
                <a:srgbClr val="8FAADC"/>
              </a:buClr>
              <a:buNone/>
            </a:pPr>
            <a:endParaRPr lang="ja-JP" altLang="en-US">
              <a:ea typeface="游ゴシック"/>
            </a:endParaRPr>
          </a:p>
          <a:p>
            <a:pPr marL="457200" lvl="1" indent="0">
              <a:buClr>
                <a:srgbClr val="8FAADC"/>
              </a:buClr>
              <a:buNone/>
            </a:pPr>
            <a:endParaRPr lang="en-US" altLang="ja-JP">
              <a:ea typeface="游ゴシック"/>
            </a:endParaRPr>
          </a:p>
          <a:p>
            <a:pPr marL="457200" lvl="1" indent="0">
              <a:buClr>
                <a:srgbClr val="4472C4"/>
              </a:buClr>
              <a:buNone/>
            </a:pPr>
            <a:endParaRPr lang="en-US" altLang="ja-JP" sz="2000">
              <a:ea typeface="+mn-lt"/>
              <a:cs typeface="+mn-lt"/>
            </a:endParaRPr>
          </a:p>
        </p:txBody>
      </p:sp>
      <p:sp>
        <p:nvSpPr>
          <p:cNvPr id="4" name="スライド番号プレースホルダー 3">
            <a:extLst>
              <a:ext uri="{FF2B5EF4-FFF2-40B4-BE49-F238E27FC236}">
                <a16:creationId xmlns:a16="http://schemas.microsoft.com/office/drawing/2014/main" id="{709EC642-3802-A073-8B64-58A19D0E6B0A}"/>
              </a:ext>
            </a:extLst>
          </p:cNvPr>
          <p:cNvSpPr>
            <a:spLocks noGrp="1"/>
          </p:cNvSpPr>
          <p:nvPr>
            <p:ph type="sldNum" sz="quarter" idx="12"/>
          </p:nvPr>
        </p:nvSpPr>
        <p:spPr/>
        <p:txBody>
          <a:bodyPr/>
          <a:lstStyle/>
          <a:p>
            <a:fld id="{397E558F-9F61-480E-94CF-2C9CB5412042}" type="slidenum">
              <a:rPr lang="ja-JP" altLang="en-US" smtClean="0"/>
              <a:pPr/>
              <a:t>23</a:t>
            </a:fld>
            <a:endParaRPr lang="ja-JP" altLang="en-US"/>
          </a:p>
        </p:txBody>
      </p:sp>
      <p:sp>
        <p:nvSpPr>
          <p:cNvPr id="14" name="コンテンツ プレースホルダー 2">
            <a:extLst>
              <a:ext uri="{FF2B5EF4-FFF2-40B4-BE49-F238E27FC236}">
                <a16:creationId xmlns:a16="http://schemas.microsoft.com/office/drawing/2014/main" id="{B0684130-9C8C-4200-1F5F-81CC7871A580}"/>
              </a:ext>
            </a:extLst>
          </p:cNvPr>
          <p:cNvSpPr txBox="1">
            <a:spLocks/>
          </p:cNvSpPr>
          <p:nvPr/>
        </p:nvSpPr>
        <p:spPr>
          <a:xfrm>
            <a:off x="6096000" y="4435123"/>
            <a:ext cx="5265821" cy="2103789"/>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Clr>
                <a:schemeClr val="accent5"/>
              </a:buClr>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5">
                  <a:lumMod val="60000"/>
                  <a:lumOff val="40000"/>
                </a:schemeClr>
              </a:buClr>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5">
                  <a:lumMod val="75000"/>
                </a:schemeClr>
              </a:buClr>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5">
                  <a:lumMod val="50000"/>
                </a:schemeClr>
              </a:buClr>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5">
                  <a:lumMod val="50000"/>
                </a:schemeClr>
              </a:buClr>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lvl="1" indent="0">
              <a:buClr>
                <a:srgbClr val="8FAADC"/>
              </a:buClr>
              <a:buFont typeface="Arial" panose="020B0604020202020204" pitchFamily="34" charset="0"/>
              <a:buNone/>
            </a:pPr>
            <a:endParaRPr lang="en-US" altLang="ja-JP">
              <a:ea typeface="游ゴシック"/>
            </a:endParaRPr>
          </a:p>
          <a:p>
            <a:pPr marL="457200" lvl="1" indent="0">
              <a:buClr>
                <a:srgbClr val="4472C4"/>
              </a:buClr>
              <a:buFont typeface="Arial" panose="020B0604020202020204" pitchFamily="34" charset="0"/>
              <a:buNone/>
            </a:pPr>
            <a:endParaRPr lang="en-US" altLang="ja-JP" sz="2000">
              <a:ea typeface="+mn-lt"/>
              <a:cs typeface="+mn-lt"/>
            </a:endParaRPr>
          </a:p>
        </p:txBody>
      </p:sp>
    </p:spTree>
    <p:extLst>
      <p:ext uri="{BB962C8B-B14F-4D97-AF65-F5344CB8AC3E}">
        <p14:creationId xmlns:p14="http://schemas.microsoft.com/office/powerpoint/2010/main" val="39649570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E4FEF6-6FD4-C88B-414D-ACCDE7E339C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CAC60FE-A41A-AAA9-B7A8-213726666DB9}"/>
              </a:ext>
            </a:extLst>
          </p:cNvPr>
          <p:cNvSpPr>
            <a:spLocks noGrp="1"/>
          </p:cNvSpPr>
          <p:nvPr>
            <p:ph type="title"/>
          </p:nvPr>
        </p:nvSpPr>
        <p:spPr/>
        <p:txBody>
          <a:bodyPr/>
          <a:lstStyle/>
          <a:p>
            <a:pPr>
              <a:lnSpc>
                <a:spcPct val="100000"/>
              </a:lnSpc>
            </a:pPr>
            <a:r>
              <a:rPr kumimoji="1" lang="ja-JP" altLang="en-US" sz="3200">
                <a:ea typeface="游ゴシック Light"/>
              </a:rPr>
              <a:t>実験</a:t>
            </a:r>
            <a:br>
              <a:rPr lang="en-US" altLang="ja-JP"/>
            </a:br>
            <a:r>
              <a:rPr lang="ja-JP" altLang="en-US">
                <a:solidFill>
                  <a:schemeClr val="tx1"/>
                </a:solidFill>
                <a:ea typeface="游ゴシック Light"/>
              </a:rPr>
              <a:t>実験結果</a:t>
            </a:r>
            <a:endParaRPr kumimoji="1" lang="ja-JP" altLang="en-US">
              <a:solidFill>
                <a:schemeClr val="tx1"/>
              </a:solidFill>
              <a:ea typeface="游ゴシック Light"/>
            </a:endParaRPr>
          </a:p>
        </p:txBody>
      </p:sp>
      <p:sp>
        <p:nvSpPr>
          <p:cNvPr id="4" name="スライド番号プレースホルダー 3">
            <a:extLst>
              <a:ext uri="{FF2B5EF4-FFF2-40B4-BE49-F238E27FC236}">
                <a16:creationId xmlns:a16="http://schemas.microsoft.com/office/drawing/2014/main" id="{03D5B42C-0408-8423-A748-CD23288261D6}"/>
              </a:ext>
            </a:extLst>
          </p:cNvPr>
          <p:cNvSpPr>
            <a:spLocks noGrp="1"/>
          </p:cNvSpPr>
          <p:nvPr>
            <p:ph type="sldNum" sz="quarter" idx="12"/>
          </p:nvPr>
        </p:nvSpPr>
        <p:spPr>
          <a:xfrm>
            <a:off x="8629192" y="5432222"/>
            <a:ext cx="3247103" cy="365125"/>
          </a:xfrm>
        </p:spPr>
        <p:txBody>
          <a:bodyPr/>
          <a:lstStyle/>
          <a:p>
            <a:fld id="{397E558F-9F61-480E-94CF-2C9CB5412042}" type="slidenum">
              <a:rPr lang="ja-JP" altLang="en-US" smtClean="0"/>
              <a:pPr/>
              <a:t>24</a:t>
            </a:fld>
            <a:endParaRPr lang="ja-JP" altLang="en-US"/>
          </a:p>
        </p:txBody>
      </p:sp>
      <p:sp>
        <p:nvSpPr>
          <p:cNvPr id="23" name="コンテンツ プレースホルダー 2">
            <a:extLst>
              <a:ext uri="{FF2B5EF4-FFF2-40B4-BE49-F238E27FC236}">
                <a16:creationId xmlns:a16="http://schemas.microsoft.com/office/drawing/2014/main" id="{45746D19-BD0D-C869-1F27-0AD733FA15F2}"/>
              </a:ext>
            </a:extLst>
          </p:cNvPr>
          <p:cNvSpPr txBox="1">
            <a:spLocks/>
          </p:cNvSpPr>
          <p:nvPr/>
        </p:nvSpPr>
        <p:spPr>
          <a:xfrm>
            <a:off x="840424" y="1619597"/>
            <a:ext cx="10515600" cy="4500000"/>
          </a:xfrm>
          <a:prstGeom prst="rect">
            <a:avLst/>
          </a:prstGeom>
        </p:spPr>
        <p:txBody>
          <a:bodyPr vert="horz" lIns="91440" tIns="45720" rIns="91440" bIns="45720" rtlCol="0" anchor="t">
            <a:normAutofit/>
          </a:bodyPr>
          <a:lstStyle>
            <a:defPPr>
              <a:defRPr lang="ja-JP"/>
            </a:defPPr>
            <a:lvl1pPr marL="228600" indent="-228600" algn="l" defTabSz="914400" rtl="0" eaLnBrk="1" latinLnBrk="0" hangingPunct="1">
              <a:lnSpc>
                <a:spcPct val="90000"/>
              </a:lnSpc>
              <a:spcBef>
                <a:spcPts val="1000"/>
              </a:spcBef>
              <a:buClr>
                <a:schemeClr val="accent5"/>
              </a:buClr>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5">
                  <a:lumMod val="60000"/>
                  <a:lumOff val="40000"/>
                </a:schemeClr>
              </a:buClr>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5">
                  <a:lumMod val="75000"/>
                </a:schemeClr>
              </a:buClr>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5">
                  <a:lumMod val="50000"/>
                </a:schemeClr>
              </a:buClr>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5">
                  <a:lumMod val="50000"/>
                </a:schemeClr>
              </a:buClr>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14350" indent="-514350">
              <a:buAutoNum type="arabicPeriod"/>
            </a:pPr>
            <a:r>
              <a:rPr lang="ja-JP" altLang="en-US">
                <a:ea typeface="游ゴシック"/>
              </a:rPr>
              <a:t>ベースラインとの比較</a:t>
            </a:r>
            <a:endParaRPr lang="en-US" altLang="ja-JP">
              <a:ea typeface="游ゴシック"/>
            </a:endParaRPr>
          </a:p>
          <a:p>
            <a:pPr marL="514350" indent="-514350">
              <a:buAutoNum type="arabicPeriod"/>
            </a:pPr>
            <a:endParaRPr lang="en-US" altLang="ja-JP">
              <a:ea typeface="游ゴシック"/>
            </a:endParaRPr>
          </a:p>
          <a:p>
            <a:pPr marL="514350" indent="-514350">
              <a:buAutoNum type="arabicPeriod"/>
            </a:pPr>
            <a:endParaRPr lang="en-US" altLang="ja-JP">
              <a:ea typeface="游ゴシック"/>
            </a:endParaRPr>
          </a:p>
          <a:p>
            <a:pPr marL="0" indent="0">
              <a:buNone/>
            </a:pPr>
            <a:endParaRPr lang="en-US" altLang="ja-JP">
              <a:ea typeface="游ゴシック"/>
            </a:endParaRPr>
          </a:p>
        </p:txBody>
      </p:sp>
      <p:graphicFrame>
        <p:nvGraphicFramePr>
          <p:cNvPr id="5" name="表 4">
            <a:extLst>
              <a:ext uri="{FF2B5EF4-FFF2-40B4-BE49-F238E27FC236}">
                <a16:creationId xmlns:a16="http://schemas.microsoft.com/office/drawing/2014/main" id="{475D1608-A8C3-9C01-BC26-B16D18A75B89}"/>
              </a:ext>
            </a:extLst>
          </p:cNvPr>
          <p:cNvGraphicFramePr>
            <a:graphicFrameLocks noGrp="1"/>
          </p:cNvGraphicFramePr>
          <p:nvPr>
            <p:extLst>
              <p:ext uri="{D42A27DB-BD31-4B8C-83A1-F6EECF244321}">
                <p14:modId xmlns:p14="http://schemas.microsoft.com/office/powerpoint/2010/main" val="2494053086"/>
              </p:ext>
            </p:extLst>
          </p:nvPr>
        </p:nvGraphicFramePr>
        <p:xfrm>
          <a:off x="2567160" y="2194376"/>
          <a:ext cx="7057680" cy="764526"/>
        </p:xfrm>
        <a:graphic>
          <a:graphicData uri="http://schemas.openxmlformats.org/drawingml/2006/table">
            <a:tbl>
              <a:tblPr firstRow="1" bandRow="1">
                <a:tableStyleId>{5940675A-B579-460E-94D1-54222C63F5DA}</a:tableStyleId>
              </a:tblPr>
              <a:tblGrid>
                <a:gridCol w="2352560">
                  <a:extLst>
                    <a:ext uri="{9D8B030D-6E8A-4147-A177-3AD203B41FA5}">
                      <a16:colId xmlns:a16="http://schemas.microsoft.com/office/drawing/2014/main" val="1135400302"/>
                    </a:ext>
                  </a:extLst>
                </a:gridCol>
                <a:gridCol w="2352560">
                  <a:extLst>
                    <a:ext uri="{9D8B030D-6E8A-4147-A177-3AD203B41FA5}">
                      <a16:colId xmlns:a16="http://schemas.microsoft.com/office/drawing/2014/main" val="777068680"/>
                    </a:ext>
                  </a:extLst>
                </a:gridCol>
                <a:gridCol w="2352560">
                  <a:extLst>
                    <a:ext uri="{9D8B030D-6E8A-4147-A177-3AD203B41FA5}">
                      <a16:colId xmlns:a16="http://schemas.microsoft.com/office/drawing/2014/main" val="1360042085"/>
                    </a:ext>
                  </a:extLst>
                </a:gridCol>
              </a:tblGrid>
              <a:tr h="382263">
                <a:tc>
                  <a:txBody>
                    <a:bodyPr/>
                    <a:lstStyle/>
                    <a:p>
                      <a:endParaRPr kumimoji="1" lang="ja-JP" altLang="en-US"/>
                    </a:p>
                  </a:txBody>
                  <a:tcPr/>
                </a:tc>
                <a:tc>
                  <a:txBody>
                    <a:bodyPr/>
                    <a:lstStyle/>
                    <a:p>
                      <a:r>
                        <a:rPr kumimoji="1" lang="en-US" altLang="ja-JP"/>
                        <a:t>Baseline</a:t>
                      </a:r>
                      <a:endParaRPr kumimoji="1" lang="ja-JP" altLang="en-US"/>
                    </a:p>
                  </a:txBody>
                  <a:tcPr/>
                </a:tc>
                <a:tc>
                  <a:txBody>
                    <a:bodyPr/>
                    <a:lstStyle/>
                    <a:p>
                      <a:r>
                        <a:rPr kumimoji="1" lang="en-US" altLang="ja-JP" b="0">
                          <a:solidFill>
                            <a:srgbClr val="FF0000"/>
                          </a:solidFill>
                        </a:rPr>
                        <a:t>Our Method</a:t>
                      </a:r>
                      <a:endParaRPr kumimoji="1" lang="ja-JP" altLang="en-US" b="0">
                        <a:solidFill>
                          <a:srgbClr val="FF0000"/>
                        </a:solidFill>
                      </a:endParaRPr>
                    </a:p>
                  </a:txBody>
                  <a:tcPr/>
                </a:tc>
                <a:extLst>
                  <a:ext uri="{0D108BD9-81ED-4DB2-BD59-A6C34878D82A}">
                    <a16:rowId xmlns:a16="http://schemas.microsoft.com/office/drawing/2014/main" val="1318974174"/>
                  </a:ext>
                </a:extLst>
              </a:tr>
              <a:tr h="382263">
                <a:tc>
                  <a:txBody>
                    <a:bodyPr/>
                    <a:lstStyle/>
                    <a:p>
                      <a:r>
                        <a:rPr kumimoji="1" lang="en-US" altLang="ja-JP"/>
                        <a:t>CER(%)</a:t>
                      </a:r>
                    </a:p>
                  </a:txBody>
                  <a:tcPr/>
                </a:tc>
                <a:tc>
                  <a:txBody>
                    <a:bodyPr/>
                    <a:lstStyle/>
                    <a:p>
                      <a:pPr lvl="0">
                        <a:buNone/>
                      </a:pPr>
                      <a:r>
                        <a:rPr kumimoji="1" lang="en-US" altLang="ja-JP" sz="1800" u="none" strike="noStrike" noProof="0"/>
                        <a:t>13.64</a:t>
                      </a:r>
                      <a:endParaRPr kumimoji="1" lang="ja-JP" altLang="en-US" sz="1800" u="none" strike="noStrike" noProof="0"/>
                    </a:p>
                  </a:txBody>
                  <a:tcPr/>
                </a:tc>
                <a:tc>
                  <a:txBody>
                    <a:bodyPr/>
                    <a:lstStyle/>
                    <a:p>
                      <a:pPr lvl="0">
                        <a:buNone/>
                      </a:pPr>
                      <a:r>
                        <a:rPr lang="en-US" altLang="ja-JP" sz="1800" b="1" i="0" u="none" strike="noStrike" noProof="0">
                          <a:latin typeface="游ゴシック"/>
                          <a:ea typeface="游ゴシック"/>
                        </a:rPr>
                        <a:t>10.77</a:t>
                      </a:r>
                      <a:r>
                        <a:rPr lang="ja-JP" sz="1800" b="0" i="0" u="none" strike="noStrike" noProof="0">
                          <a:latin typeface="游ゴシック"/>
                          <a:ea typeface="游ゴシック"/>
                        </a:rPr>
                        <a:t> </a:t>
                      </a:r>
                      <a:endParaRPr kumimoji="1" lang="ja-JP" altLang="en-US" sz="1800" b="0" i="0" u="none" strike="noStrike" noProof="0">
                        <a:latin typeface="游ゴシック"/>
                        <a:ea typeface="游ゴシック"/>
                      </a:endParaRPr>
                    </a:p>
                  </a:txBody>
                  <a:tcPr/>
                </a:tc>
                <a:extLst>
                  <a:ext uri="{0D108BD9-81ED-4DB2-BD59-A6C34878D82A}">
                    <a16:rowId xmlns:a16="http://schemas.microsoft.com/office/drawing/2014/main" val="4095639400"/>
                  </a:ext>
                </a:extLst>
              </a:tr>
            </a:tbl>
          </a:graphicData>
        </a:graphic>
      </p:graphicFrame>
    </p:spTree>
    <p:extLst>
      <p:ext uri="{BB962C8B-B14F-4D97-AF65-F5344CB8AC3E}">
        <p14:creationId xmlns:p14="http://schemas.microsoft.com/office/powerpoint/2010/main" val="40054332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4A158-93FC-D40D-1C61-8DF9B5F6760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62AD897-23B0-DFD6-672A-80AB48B909E8}"/>
              </a:ext>
            </a:extLst>
          </p:cNvPr>
          <p:cNvSpPr>
            <a:spLocks noGrp="1"/>
          </p:cNvSpPr>
          <p:nvPr>
            <p:ph type="title"/>
          </p:nvPr>
        </p:nvSpPr>
        <p:spPr/>
        <p:txBody>
          <a:bodyPr/>
          <a:lstStyle/>
          <a:p>
            <a:pPr>
              <a:lnSpc>
                <a:spcPct val="100000"/>
              </a:lnSpc>
            </a:pPr>
            <a:r>
              <a:rPr kumimoji="1" lang="ja-JP" altLang="en-US" sz="3200">
                <a:ea typeface="游ゴシック Light"/>
              </a:rPr>
              <a:t>実験</a:t>
            </a:r>
            <a:br>
              <a:rPr lang="en-US" altLang="ja-JP"/>
            </a:br>
            <a:r>
              <a:rPr lang="ja-JP" altLang="en-US">
                <a:solidFill>
                  <a:schemeClr val="tx1"/>
                </a:solidFill>
                <a:ea typeface="游ゴシック Light"/>
              </a:rPr>
              <a:t>実験結果</a:t>
            </a:r>
            <a:endParaRPr kumimoji="1" lang="ja-JP" altLang="en-US">
              <a:solidFill>
                <a:schemeClr val="tx1"/>
              </a:solidFill>
              <a:ea typeface="游ゴシック Light"/>
            </a:endParaRPr>
          </a:p>
        </p:txBody>
      </p:sp>
      <p:sp>
        <p:nvSpPr>
          <p:cNvPr id="4" name="スライド番号プレースホルダー 3">
            <a:extLst>
              <a:ext uri="{FF2B5EF4-FFF2-40B4-BE49-F238E27FC236}">
                <a16:creationId xmlns:a16="http://schemas.microsoft.com/office/drawing/2014/main" id="{296C5227-099F-C40A-DA15-06667064288A}"/>
              </a:ext>
            </a:extLst>
          </p:cNvPr>
          <p:cNvSpPr>
            <a:spLocks noGrp="1"/>
          </p:cNvSpPr>
          <p:nvPr>
            <p:ph type="sldNum" sz="quarter" idx="12"/>
          </p:nvPr>
        </p:nvSpPr>
        <p:spPr>
          <a:xfrm>
            <a:off x="8629192" y="5432222"/>
            <a:ext cx="3247103" cy="365125"/>
          </a:xfrm>
        </p:spPr>
        <p:txBody>
          <a:bodyPr/>
          <a:lstStyle/>
          <a:p>
            <a:fld id="{397E558F-9F61-480E-94CF-2C9CB5412042}" type="slidenum">
              <a:rPr lang="ja-JP" altLang="en-US" smtClean="0"/>
              <a:pPr/>
              <a:t>25</a:t>
            </a:fld>
            <a:endParaRPr lang="ja-JP" altLang="en-US"/>
          </a:p>
        </p:txBody>
      </p:sp>
      <p:sp>
        <p:nvSpPr>
          <p:cNvPr id="23" name="コンテンツ プレースホルダー 2">
            <a:extLst>
              <a:ext uri="{FF2B5EF4-FFF2-40B4-BE49-F238E27FC236}">
                <a16:creationId xmlns:a16="http://schemas.microsoft.com/office/drawing/2014/main" id="{C3FBCE67-3CFA-7D61-DAA5-3F81C4DAE723}"/>
              </a:ext>
            </a:extLst>
          </p:cNvPr>
          <p:cNvSpPr txBox="1">
            <a:spLocks/>
          </p:cNvSpPr>
          <p:nvPr/>
        </p:nvSpPr>
        <p:spPr>
          <a:xfrm>
            <a:off x="840424" y="1619597"/>
            <a:ext cx="10515600" cy="4500000"/>
          </a:xfrm>
          <a:prstGeom prst="rect">
            <a:avLst/>
          </a:prstGeom>
        </p:spPr>
        <p:txBody>
          <a:bodyPr vert="horz" lIns="91440" tIns="45720" rIns="91440" bIns="45720" rtlCol="0" anchor="t">
            <a:normAutofit/>
          </a:bodyPr>
          <a:lstStyle>
            <a:defPPr>
              <a:defRPr lang="ja-JP"/>
            </a:defPPr>
            <a:lvl1pPr marL="228600" indent="-228600" algn="l" defTabSz="914400" rtl="0" eaLnBrk="1" latinLnBrk="0" hangingPunct="1">
              <a:lnSpc>
                <a:spcPct val="90000"/>
              </a:lnSpc>
              <a:spcBef>
                <a:spcPts val="1000"/>
              </a:spcBef>
              <a:buClr>
                <a:schemeClr val="accent5"/>
              </a:buClr>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5">
                  <a:lumMod val="60000"/>
                  <a:lumOff val="40000"/>
                </a:schemeClr>
              </a:buClr>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5">
                  <a:lumMod val="75000"/>
                </a:schemeClr>
              </a:buClr>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5">
                  <a:lumMod val="50000"/>
                </a:schemeClr>
              </a:buClr>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5">
                  <a:lumMod val="50000"/>
                </a:schemeClr>
              </a:buClr>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14350" indent="-514350">
              <a:buAutoNum type="arabicPeriod"/>
            </a:pPr>
            <a:r>
              <a:rPr lang="ja-JP" altLang="en-US">
                <a:ea typeface="游ゴシック"/>
              </a:rPr>
              <a:t>ベースラインとの比較</a:t>
            </a:r>
            <a:endParaRPr lang="en-US" altLang="ja-JP">
              <a:ea typeface="游ゴシック"/>
            </a:endParaRPr>
          </a:p>
          <a:p>
            <a:pPr marL="514350" indent="-514350">
              <a:buAutoNum type="arabicPeriod"/>
            </a:pPr>
            <a:endParaRPr lang="en-US" altLang="ja-JP">
              <a:ea typeface="游ゴシック"/>
            </a:endParaRPr>
          </a:p>
          <a:p>
            <a:pPr marL="514350" indent="-514350">
              <a:buAutoNum type="arabicPeriod"/>
            </a:pPr>
            <a:endParaRPr lang="en-US" altLang="ja-JP">
              <a:ea typeface="游ゴシック"/>
            </a:endParaRPr>
          </a:p>
          <a:p>
            <a:pPr marL="514350" indent="-514350">
              <a:buFont typeface="Arial" panose="020B0604020202020204" pitchFamily="34" charset="0"/>
              <a:buAutoNum type="arabicPeriod"/>
            </a:pPr>
            <a:r>
              <a:rPr lang="ja-JP" altLang="en-US">
                <a:ea typeface="游ゴシック"/>
              </a:rPr>
              <a:t>配置による比較</a:t>
            </a:r>
            <a:endParaRPr lang="en-US" altLang="ja-JP">
              <a:ea typeface="游ゴシック"/>
            </a:endParaRPr>
          </a:p>
          <a:p>
            <a:pPr marL="514350" indent="-514350">
              <a:buAutoNum type="arabicPeriod"/>
            </a:pPr>
            <a:endParaRPr lang="en-US" altLang="ja-JP">
              <a:ea typeface="游ゴシック"/>
            </a:endParaRPr>
          </a:p>
          <a:p>
            <a:pPr marL="514350" indent="-514350">
              <a:buAutoNum type="arabicPeriod"/>
            </a:pPr>
            <a:endParaRPr lang="en-US" altLang="ja-JP">
              <a:ea typeface="游ゴシック"/>
            </a:endParaRPr>
          </a:p>
          <a:p>
            <a:pPr marL="0" indent="0">
              <a:buNone/>
            </a:pPr>
            <a:endParaRPr lang="en-US" altLang="ja-JP">
              <a:ea typeface="游ゴシック"/>
            </a:endParaRPr>
          </a:p>
        </p:txBody>
      </p:sp>
      <p:graphicFrame>
        <p:nvGraphicFramePr>
          <p:cNvPr id="5" name="表 4">
            <a:extLst>
              <a:ext uri="{FF2B5EF4-FFF2-40B4-BE49-F238E27FC236}">
                <a16:creationId xmlns:a16="http://schemas.microsoft.com/office/drawing/2014/main" id="{EE682DCA-0448-60B2-FB3E-1A106662E112}"/>
              </a:ext>
            </a:extLst>
          </p:cNvPr>
          <p:cNvGraphicFramePr>
            <a:graphicFrameLocks noGrp="1"/>
          </p:cNvGraphicFramePr>
          <p:nvPr>
            <p:extLst>
              <p:ext uri="{D42A27DB-BD31-4B8C-83A1-F6EECF244321}">
                <p14:modId xmlns:p14="http://schemas.microsoft.com/office/powerpoint/2010/main" val="3973330569"/>
              </p:ext>
            </p:extLst>
          </p:nvPr>
        </p:nvGraphicFramePr>
        <p:xfrm>
          <a:off x="2567160" y="2194376"/>
          <a:ext cx="7057680" cy="764526"/>
        </p:xfrm>
        <a:graphic>
          <a:graphicData uri="http://schemas.openxmlformats.org/drawingml/2006/table">
            <a:tbl>
              <a:tblPr firstRow="1" bandRow="1">
                <a:tableStyleId>{5940675A-B579-460E-94D1-54222C63F5DA}</a:tableStyleId>
              </a:tblPr>
              <a:tblGrid>
                <a:gridCol w="2352560">
                  <a:extLst>
                    <a:ext uri="{9D8B030D-6E8A-4147-A177-3AD203B41FA5}">
                      <a16:colId xmlns:a16="http://schemas.microsoft.com/office/drawing/2014/main" val="1135400302"/>
                    </a:ext>
                  </a:extLst>
                </a:gridCol>
                <a:gridCol w="2352560">
                  <a:extLst>
                    <a:ext uri="{9D8B030D-6E8A-4147-A177-3AD203B41FA5}">
                      <a16:colId xmlns:a16="http://schemas.microsoft.com/office/drawing/2014/main" val="777068680"/>
                    </a:ext>
                  </a:extLst>
                </a:gridCol>
                <a:gridCol w="2352560">
                  <a:extLst>
                    <a:ext uri="{9D8B030D-6E8A-4147-A177-3AD203B41FA5}">
                      <a16:colId xmlns:a16="http://schemas.microsoft.com/office/drawing/2014/main" val="1360042085"/>
                    </a:ext>
                  </a:extLst>
                </a:gridCol>
              </a:tblGrid>
              <a:tr h="382263">
                <a:tc>
                  <a:txBody>
                    <a:bodyPr/>
                    <a:lstStyle/>
                    <a:p>
                      <a:endParaRPr kumimoji="1" lang="ja-JP" altLang="en-US"/>
                    </a:p>
                  </a:txBody>
                  <a:tcPr/>
                </a:tc>
                <a:tc>
                  <a:txBody>
                    <a:bodyPr/>
                    <a:lstStyle/>
                    <a:p>
                      <a:r>
                        <a:rPr kumimoji="1" lang="en-US" altLang="ja-JP"/>
                        <a:t>Baseline</a:t>
                      </a:r>
                      <a:endParaRPr kumimoji="1" lang="ja-JP" altLang="en-US"/>
                    </a:p>
                  </a:txBody>
                  <a:tcPr/>
                </a:tc>
                <a:tc>
                  <a:txBody>
                    <a:bodyPr/>
                    <a:lstStyle/>
                    <a:p>
                      <a:r>
                        <a:rPr kumimoji="1" lang="en-US" altLang="ja-JP" b="0">
                          <a:solidFill>
                            <a:srgbClr val="FF0000"/>
                          </a:solidFill>
                        </a:rPr>
                        <a:t>Our Method</a:t>
                      </a:r>
                      <a:endParaRPr kumimoji="1" lang="ja-JP" altLang="en-US" b="0">
                        <a:solidFill>
                          <a:srgbClr val="FF0000"/>
                        </a:solidFill>
                      </a:endParaRPr>
                    </a:p>
                  </a:txBody>
                  <a:tcPr/>
                </a:tc>
                <a:extLst>
                  <a:ext uri="{0D108BD9-81ED-4DB2-BD59-A6C34878D82A}">
                    <a16:rowId xmlns:a16="http://schemas.microsoft.com/office/drawing/2014/main" val="1318974174"/>
                  </a:ext>
                </a:extLst>
              </a:tr>
              <a:tr h="382263">
                <a:tc>
                  <a:txBody>
                    <a:bodyPr/>
                    <a:lstStyle/>
                    <a:p>
                      <a:r>
                        <a:rPr kumimoji="1" lang="en-US" altLang="ja-JP"/>
                        <a:t>CER(%)</a:t>
                      </a:r>
                    </a:p>
                  </a:txBody>
                  <a:tcPr/>
                </a:tc>
                <a:tc>
                  <a:txBody>
                    <a:bodyPr/>
                    <a:lstStyle/>
                    <a:p>
                      <a:pPr lvl="0">
                        <a:buNone/>
                      </a:pPr>
                      <a:r>
                        <a:rPr kumimoji="1" lang="en-US" altLang="ja-JP" sz="1800" u="none" strike="noStrike" noProof="0"/>
                        <a:t>13.64</a:t>
                      </a:r>
                      <a:endParaRPr kumimoji="1" lang="ja-JP" altLang="en-US" sz="1800" u="none" strike="noStrike" noProof="0"/>
                    </a:p>
                  </a:txBody>
                  <a:tcPr/>
                </a:tc>
                <a:tc>
                  <a:txBody>
                    <a:bodyPr/>
                    <a:lstStyle/>
                    <a:p>
                      <a:pPr lvl="0">
                        <a:buNone/>
                      </a:pPr>
                      <a:r>
                        <a:rPr lang="en-US" altLang="ja-JP" sz="1800" b="1" i="0" u="none" strike="noStrike" noProof="0">
                          <a:latin typeface="游ゴシック"/>
                          <a:ea typeface="游ゴシック"/>
                        </a:rPr>
                        <a:t>10.77</a:t>
                      </a:r>
                      <a:r>
                        <a:rPr lang="ja-JP" sz="1800" b="0" i="0" u="none" strike="noStrike" noProof="0">
                          <a:latin typeface="游ゴシック"/>
                          <a:ea typeface="游ゴシック"/>
                        </a:rPr>
                        <a:t> </a:t>
                      </a:r>
                      <a:endParaRPr kumimoji="1" lang="ja-JP" altLang="en-US" sz="1800" b="0" i="0" u="none" strike="noStrike" noProof="0">
                        <a:latin typeface="游ゴシック"/>
                        <a:ea typeface="游ゴシック"/>
                      </a:endParaRPr>
                    </a:p>
                  </a:txBody>
                  <a:tcPr/>
                </a:tc>
                <a:extLst>
                  <a:ext uri="{0D108BD9-81ED-4DB2-BD59-A6C34878D82A}">
                    <a16:rowId xmlns:a16="http://schemas.microsoft.com/office/drawing/2014/main" val="4095639400"/>
                  </a:ext>
                </a:extLst>
              </a:tr>
            </a:tbl>
          </a:graphicData>
        </a:graphic>
      </p:graphicFrame>
      <p:graphicFrame>
        <p:nvGraphicFramePr>
          <p:cNvPr id="8" name="表 7">
            <a:extLst>
              <a:ext uri="{FF2B5EF4-FFF2-40B4-BE49-F238E27FC236}">
                <a16:creationId xmlns:a16="http://schemas.microsoft.com/office/drawing/2014/main" id="{B5602830-862D-5E63-58E1-439F23CF5C42}"/>
              </a:ext>
            </a:extLst>
          </p:cNvPr>
          <p:cNvGraphicFramePr>
            <a:graphicFrameLocks noGrp="1"/>
          </p:cNvGraphicFramePr>
          <p:nvPr>
            <p:extLst>
              <p:ext uri="{D42A27DB-BD31-4B8C-83A1-F6EECF244321}">
                <p14:modId xmlns:p14="http://schemas.microsoft.com/office/powerpoint/2010/main" val="1995969248"/>
              </p:ext>
            </p:extLst>
          </p:nvPr>
        </p:nvGraphicFramePr>
        <p:xfrm>
          <a:off x="2567160" y="3663260"/>
          <a:ext cx="8293348" cy="740853"/>
        </p:xfrm>
        <a:graphic>
          <a:graphicData uri="http://schemas.openxmlformats.org/drawingml/2006/table">
            <a:tbl>
              <a:tblPr firstRow="1" bandRow="1">
                <a:tableStyleId>{5940675A-B579-460E-94D1-54222C63F5DA}</a:tableStyleId>
              </a:tblPr>
              <a:tblGrid>
                <a:gridCol w="1055147">
                  <a:extLst>
                    <a:ext uri="{9D8B030D-6E8A-4147-A177-3AD203B41FA5}">
                      <a16:colId xmlns:a16="http://schemas.microsoft.com/office/drawing/2014/main" val="1135400302"/>
                    </a:ext>
                  </a:extLst>
                </a:gridCol>
                <a:gridCol w="1314381">
                  <a:extLst>
                    <a:ext uri="{9D8B030D-6E8A-4147-A177-3AD203B41FA5}">
                      <a16:colId xmlns:a16="http://schemas.microsoft.com/office/drawing/2014/main" val="2115648721"/>
                    </a:ext>
                  </a:extLst>
                </a:gridCol>
                <a:gridCol w="1184764">
                  <a:extLst>
                    <a:ext uri="{9D8B030D-6E8A-4147-A177-3AD203B41FA5}">
                      <a16:colId xmlns:a16="http://schemas.microsoft.com/office/drawing/2014/main" val="254932251"/>
                    </a:ext>
                  </a:extLst>
                </a:gridCol>
                <a:gridCol w="1184764">
                  <a:extLst>
                    <a:ext uri="{9D8B030D-6E8A-4147-A177-3AD203B41FA5}">
                      <a16:colId xmlns:a16="http://schemas.microsoft.com/office/drawing/2014/main" val="35661939"/>
                    </a:ext>
                  </a:extLst>
                </a:gridCol>
                <a:gridCol w="1184764">
                  <a:extLst>
                    <a:ext uri="{9D8B030D-6E8A-4147-A177-3AD203B41FA5}">
                      <a16:colId xmlns:a16="http://schemas.microsoft.com/office/drawing/2014/main" val="3330968612"/>
                    </a:ext>
                  </a:extLst>
                </a:gridCol>
                <a:gridCol w="1184764">
                  <a:extLst>
                    <a:ext uri="{9D8B030D-6E8A-4147-A177-3AD203B41FA5}">
                      <a16:colId xmlns:a16="http://schemas.microsoft.com/office/drawing/2014/main" val="777068680"/>
                    </a:ext>
                  </a:extLst>
                </a:gridCol>
                <a:gridCol w="1184764">
                  <a:extLst>
                    <a:ext uri="{9D8B030D-6E8A-4147-A177-3AD203B41FA5}">
                      <a16:colId xmlns:a16="http://schemas.microsoft.com/office/drawing/2014/main" val="1360042085"/>
                    </a:ext>
                  </a:extLst>
                </a:gridCol>
              </a:tblGrid>
              <a:tr h="0">
                <a:tc>
                  <a:txBody>
                    <a:bodyPr/>
                    <a:lstStyle/>
                    <a:p>
                      <a:r>
                        <a:rPr kumimoji="1" lang="en-US" altLang="ja-JP"/>
                        <a:t>Layer</a:t>
                      </a:r>
                      <a:endParaRPr kumimoji="1" lang="ja-JP" altLang="en-US"/>
                    </a:p>
                  </a:txBody>
                  <a:tcPr/>
                </a:tc>
                <a:tc>
                  <a:txBody>
                    <a:bodyPr/>
                    <a:lstStyle/>
                    <a:p>
                      <a:r>
                        <a:rPr kumimoji="1" lang="en-US" altLang="ja-JP"/>
                        <a:t>10,11,12</a:t>
                      </a:r>
                      <a:endParaRPr kumimoji="1" lang="ja-JP" altLang="en-US"/>
                    </a:p>
                  </a:txBody>
                  <a:tcPr/>
                </a:tc>
                <a:tc>
                  <a:txBody>
                    <a:bodyPr/>
                    <a:lstStyle/>
                    <a:p>
                      <a:r>
                        <a:rPr kumimoji="1" lang="en-US" altLang="ja-JP"/>
                        <a:t>4,8,12</a:t>
                      </a:r>
                      <a:endParaRPr kumimoji="1" lang="ja-JP" altLang="en-US"/>
                    </a:p>
                  </a:txBody>
                  <a:tcPr/>
                </a:tc>
                <a:tc>
                  <a:txBody>
                    <a:bodyPr/>
                    <a:lstStyle/>
                    <a:p>
                      <a:r>
                        <a:rPr kumimoji="1" lang="en-US" altLang="ja-JP"/>
                        <a:t>3,12</a:t>
                      </a:r>
                      <a:endParaRPr kumimoji="1" lang="ja-JP" altLang="en-US"/>
                    </a:p>
                  </a:txBody>
                  <a:tcPr/>
                </a:tc>
                <a:tc>
                  <a:txBody>
                    <a:bodyPr/>
                    <a:lstStyle/>
                    <a:p>
                      <a:r>
                        <a:rPr kumimoji="1" lang="en-US" altLang="ja-JP"/>
                        <a:t>6,12</a:t>
                      </a:r>
                      <a:endParaRPr kumimoji="1" lang="ja-JP" altLang="en-US"/>
                    </a:p>
                  </a:txBody>
                  <a:tcPr/>
                </a:tc>
                <a:tc>
                  <a:txBody>
                    <a:bodyPr/>
                    <a:lstStyle/>
                    <a:p>
                      <a:r>
                        <a:rPr kumimoji="1" lang="en-US" altLang="ja-JP">
                          <a:solidFill>
                            <a:srgbClr val="FF0000"/>
                          </a:solidFill>
                        </a:rPr>
                        <a:t>11,12</a:t>
                      </a:r>
                      <a:endParaRPr kumimoji="1" lang="ja-JP" altLang="en-US">
                        <a:solidFill>
                          <a:srgbClr val="FF0000"/>
                        </a:solidFill>
                      </a:endParaRPr>
                    </a:p>
                  </a:txBody>
                  <a:tcPr/>
                </a:tc>
                <a:tc>
                  <a:txBody>
                    <a:bodyPr/>
                    <a:lstStyle/>
                    <a:p>
                      <a:r>
                        <a:rPr kumimoji="1" lang="en-US" altLang="ja-JP"/>
                        <a:t>12</a:t>
                      </a:r>
                      <a:endParaRPr kumimoji="1" lang="ja-JP" altLang="en-US"/>
                    </a:p>
                  </a:txBody>
                  <a:tcPr/>
                </a:tc>
                <a:extLst>
                  <a:ext uri="{0D108BD9-81ED-4DB2-BD59-A6C34878D82A}">
                    <a16:rowId xmlns:a16="http://schemas.microsoft.com/office/drawing/2014/main" val="1318974174"/>
                  </a:ext>
                </a:extLst>
              </a:tr>
              <a:tr h="375093">
                <a:tc>
                  <a:txBody>
                    <a:bodyPr/>
                    <a:lstStyle/>
                    <a:p>
                      <a:r>
                        <a:rPr kumimoji="1" lang="en-US" altLang="ja-JP"/>
                        <a:t>CER(%)</a:t>
                      </a:r>
                    </a:p>
                  </a:txBody>
                  <a:tcPr/>
                </a:tc>
                <a:tc>
                  <a:txBody>
                    <a:bodyPr/>
                    <a:lstStyle/>
                    <a:p>
                      <a:r>
                        <a:rPr kumimoji="1" lang="en-US" altLang="ja-JP"/>
                        <a:t>12.54</a:t>
                      </a:r>
                    </a:p>
                  </a:txBody>
                  <a:tcPr/>
                </a:tc>
                <a:tc>
                  <a:txBody>
                    <a:bodyPr/>
                    <a:lstStyle/>
                    <a:p>
                      <a:r>
                        <a:rPr kumimoji="1" lang="en-US" altLang="ja-JP"/>
                        <a:t>11.96</a:t>
                      </a:r>
                    </a:p>
                  </a:txBody>
                  <a:tcPr/>
                </a:tc>
                <a:tc>
                  <a:txBody>
                    <a:bodyPr/>
                    <a:lstStyle/>
                    <a:p>
                      <a:r>
                        <a:rPr kumimoji="1" lang="en-US" altLang="ja-JP"/>
                        <a:t>12.55</a:t>
                      </a:r>
                    </a:p>
                  </a:txBody>
                  <a:tcPr/>
                </a:tc>
                <a:tc>
                  <a:txBody>
                    <a:bodyPr/>
                    <a:lstStyle/>
                    <a:p>
                      <a:r>
                        <a:rPr kumimoji="1" lang="en-US" altLang="ja-JP"/>
                        <a:t>13.16</a:t>
                      </a:r>
                    </a:p>
                  </a:txBody>
                  <a:tcPr/>
                </a:tc>
                <a:tc>
                  <a:txBody>
                    <a:bodyPr/>
                    <a:lstStyle/>
                    <a:p>
                      <a:pPr lvl="0">
                        <a:buNone/>
                      </a:pPr>
                      <a:r>
                        <a:rPr kumimoji="1" lang="en-US" altLang="ja-JP" sz="1800" b="1" u="none" strike="noStrike" noProof="0"/>
                        <a:t>10.77</a:t>
                      </a:r>
                      <a:endParaRPr kumimoji="1" lang="ja-JP" altLang="en-US" sz="1800" b="1" u="none" strike="noStrike" noProof="0"/>
                    </a:p>
                  </a:txBody>
                  <a:tcPr/>
                </a:tc>
                <a:tc>
                  <a:txBody>
                    <a:bodyPr/>
                    <a:lstStyle/>
                    <a:p>
                      <a:pPr lvl="0">
                        <a:buNone/>
                      </a:pPr>
                      <a:r>
                        <a:rPr kumimoji="1" lang="en-US" altLang="ja-JP" sz="1800" b="0" i="0" u="none" strike="noStrike" noProof="0">
                          <a:latin typeface="游ゴシック"/>
                          <a:ea typeface="游ゴシック"/>
                        </a:rPr>
                        <a:t>12.44</a:t>
                      </a:r>
                      <a:endParaRPr kumimoji="1" lang="ja-JP" altLang="en-US" sz="1800" b="0" i="0" u="none" strike="noStrike" noProof="0">
                        <a:latin typeface="游ゴシック"/>
                        <a:ea typeface="游ゴシック"/>
                      </a:endParaRPr>
                    </a:p>
                  </a:txBody>
                  <a:tcPr/>
                </a:tc>
                <a:extLst>
                  <a:ext uri="{0D108BD9-81ED-4DB2-BD59-A6C34878D82A}">
                    <a16:rowId xmlns:a16="http://schemas.microsoft.com/office/drawing/2014/main" val="4095639400"/>
                  </a:ext>
                </a:extLst>
              </a:tr>
            </a:tbl>
          </a:graphicData>
        </a:graphic>
      </p:graphicFrame>
    </p:spTree>
    <p:extLst>
      <p:ext uri="{BB962C8B-B14F-4D97-AF65-F5344CB8AC3E}">
        <p14:creationId xmlns:p14="http://schemas.microsoft.com/office/powerpoint/2010/main" val="10149976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C80B5-B2E7-3414-E8AA-2F9DC92639D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B0A1110-97E3-B336-AF9E-E05A4B901D5D}"/>
              </a:ext>
            </a:extLst>
          </p:cNvPr>
          <p:cNvSpPr>
            <a:spLocks noGrp="1"/>
          </p:cNvSpPr>
          <p:nvPr>
            <p:ph type="title"/>
          </p:nvPr>
        </p:nvSpPr>
        <p:spPr/>
        <p:txBody>
          <a:bodyPr/>
          <a:lstStyle/>
          <a:p>
            <a:pPr>
              <a:lnSpc>
                <a:spcPct val="100000"/>
              </a:lnSpc>
            </a:pPr>
            <a:r>
              <a:rPr kumimoji="1" lang="ja-JP" altLang="en-US" sz="3200">
                <a:ea typeface="游ゴシック Light"/>
              </a:rPr>
              <a:t>実験</a:t>
            </a:r>
            <a:br>
              <a:rPr lang="en-US" altLang="ja-JP"/>
            </a:br>
            <a:r>
              <a:rPr lang="ja-JP" altLang="en-US">
                <a:solidFill>
                  <a:schemeClr val="tx1"/>
                </a:solidFill>
                <a:ea typeface="游ゴシック Light"/>
              </a:rPr>
              <a:t>実験結果</a:t>
            </a:r>
            <a:endParaRPr kumimoji="1" lang="ja-JP" altLang="en-US">
              <a:solidFill>
                <a:schemeClr val="tx1"/>
              </a:solidFill>
              <a:ea typeface="游ゴシック Light"/>
            </a:endParaRPr>
          </a:p>
        </p:txBody>
      </p:sp>
      <p:sp>
        <p:nvSpPr>
          <p:cNvPr id="4" name="スライド番号プレースホルダー 3">
            <a:extLst>
              <a:ext uri="{FF2B5EF4-FFF2-40B4-BE49-F238E27FC236}">
                <a16:creationId xmlns:a16="http://schemas.microsoft.com/office/drawing/2014/main" id="{F3627312-CCE9-F073-C39C-D3689F4EFF37}"/>
              </a:ext>
            </a:extLst>
          </p:cNvPr>
          <p:cNvSpPr>
            <a:spLocks noGrp="1"/>
          </p:cNvSpPr>
          <p:nvPr>
            <p:ph type="sldNum" sz="quarter" idx="12"/>
          </p:nvPr>
        </p:nvSpPr>
        <p:spPr>
          <a:xfrm>
            <a:off x="8629192" y="5432222"/>
            <a:ext cx="3247103" cy="365125"/>
          </a:xfrm>
        </p:spPr>
        <p:txBody>
          <a:bodyPr/>
          <a:lstStyle/>
          <a:p>
            <a:fld id="{397E558F-9F61-480E-94CF-2C9CB5412042}" type="slidenum">
              <a:rPr lang="ja-JP" altLang="en-US" smtClean="0"/>
              <a:pPr/>
              <a:t>26</a:t>
            </a:fld>
            <a:endParaRPr lang="ja-JP" altLang="en-US"/>
          </a:p>
        </p:txBody>
      </p:sp>
      <p:sp>
        <p:nvSpPr>
          <p:cNvPr id="23" name="コンテンツ プレースホルダー 2">
            <a:extLst>
              <a:ext uri="{FF2B5EF4-FFF2-40B4-BE49-F238E27FC236}">
                <a16:creationId xmlns:a16="http://schemas.microsoft.com/office/drawing/2014/main" id="{02525A8A-6BB2-C4DA-9DF2-6D86669DE312}"/>
              </a:ext>
            </a:extLst>
          </p:cNvPr>
          <p:cNvSpPr txBox="1">
            <a:spLocks/>
          </p:cNvSpPr>
          <p:nvPr/>
        </p:nvSpPr>
        <p:spPr>
          <a:xfrm>
            <a:off x="840424" y="1619596"/>
            <a:ext cx="10515600" cy="5238403"/>
          </a:xfrm>
          <a:prstGeom prst="rect">
            <a:avLst/>
          </a:prstGeom>
        </p:spPr>
        <p:txBody>
          <a:bodyPr vert="horz" lIns="91440" tIns="45720" rIns="91440" bIns="45720" rtlCol="0" anchor="t">
            <a:normAutofit/>
          </a:bodyPr>
          <a:lstStyle>
            <a:defPPr>
              <a:defRPr lang="ja-JP"/>
            </a:defPPr>
            <a:lvl1pPr marL="228600" indent="-228600" algn="l" defTabSz="914400" rtl="0" eaLnBrk="1" latinLnBrk="0" hangingPunct="1">
              <a:lnSpc>
                <a:spcPct val="90000"/>
              </a:lnSpc>
              <a:spcBef>
                <a:spcPts val="1000"/>
              </a:spcBef>
              <a:buClr>
                <a:schemeClr val="accent5"/>
              </a:buClr>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5">
                  <a:lumMod val="60000"/>
                  <a:lumOff val="40000"/>
                </a:schemeClr>
              </a:buClr>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5">
                  <a:lumMod val="75000"/>
                </a:schemeClr>
              </a:buClr>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5">
                  <a:lumMod val="50000"/>
                </a:schemeClr>
              </a:buClr>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5">
                  <a:lumMod val="50000"/>
                </a:schemeClr>
              </a:buClr>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14350" indent="-514350">
              <a:buAutoNum type="arabicPeriod"/>
            </a:pPr>
            <a:r>
              <a:rPr lang="ja-JP" altLang="en-US">
                <a:ea typeface="游ゴシック"/>
              </a:rPr>
              <a:t>ベースラインとの比較</a:t>
            </a:r>
            <a:endParaRPr lang="en-US" altLang="ja-JP">
              <a:ea typeface="游ゴシック"/>
            </a:endParaRPr>
          </a:p>
          <a:p>
            <a:pPr marL="514350" indent="-514350">
              <a:buAutoNum type="arabicPeriod"/>
            </a:pPr>
            <a:endParaRPr lang="en-US" altLang="ja-JP">
              <a:ea typeface="游ゴシック"/>
            </a:endParaRPr>
          </a:p>
          <a:p>
            <a:pPr marL="514350" indent="-514350">
              <a:buAutoNum type="arabicPeriod"/>
            </a:pPr>
            <a:endParaRPr lang="en-US" altLang="ja-JP">
              <a:ea typeface="游ゴシック"/>
            </a:endParaRPr>
          </a:p>
          <a:p>
            <a:pPr marL="514350" indent="-514350">
              <a:buFont typeface="Arial" panose="020B0604020202020204" pitchFamily="34" charset="0"/>
              <a:buAutoNum type="arabicPeriod"/>
            </a:pPr>
            <a:r>
              <a:rPr lang="ja-JP" altLang="en-US">
                <a:ea typeface="游ゴシック"/>
              </a:rPr>
              <a:t>配置による比較</a:t>
            </a:r>
            <a:endParaRPr lang="en-US" altLang="ja-JP">
              <a:ea typeface="游ゴシック"/>
            </a:endParaRPr>
          </a:p>
          <a:p>
            <a:pPr marL="514350" indent="-514350">
              <a:buAutoNum type="arabicPeriod"/>
            </a:pPr>
            <a:endParaRPr lang="en-US" altLang="ja-JP">
              <a:ea typeface="游ゴシック"/>
            </a:endParaRPr>
          </a:p>
          <a:p>
            <a:pPr marL="514350" indent="-514350">
              <a:buAutoNum type="arabicPeriod"/>
            </a:pPr>
            <a:endParaRPr lang="en-US" altLang="ja-JP">
              <a:ea typeface="游ゴシック"/>
            </a:endParaRPr>
          </a:p>
          <a:p>
            <a:pPr marL="514350" indent="-514350">
              <a:buFont typeface="Arial" panose="020B0604020202020204" pitchFamily="34" charset="0"/>
              <a:buAutoNum type="arabicPeriod"/>
            </a:pPr>
            <a:r>
              <a:rPr lang="en-US" altLang="ja-JP">
                <a:ea typeface="游ゴシック"/>
              </a:rPr>
              <a:t>LLM</a:t>
            </a:r>
            <a:r>
              <a:rPr lang="ja-JP" altLang="en-US">
                <a:ea typeface="游ゴシック"/>
              </a:rPr>
              <a:t>性能差比較</a:t>
            </a:r>
            <a:endParaRPr lang="en-US" altLang="ja-JP">
              <a:ea typeface="游ゴシック"/>
            </a:endParaRPr>
          </a:p>
          <a:p>
            <a:pPr marL="514350" indent="-514350">
              <a:buFont typeface="Arial" panose="020B0604020202020204" pitchFamily="34" charset="0"/>
              <a:buAutoNum type="arabicPeriod"/>
            </a:pPr>
            <a:endParaRPr lang="en-US" altLang="ja-JP">
              <a:ea typeface="游ゴシック"/>
            </a:endParaRPr>
          </a:p>
          <a:p>
            <a:pPr marL="514350" indent="-514350">
              <a:buFont typeface="Arial" panose="020B0604020202020204" pitchFamily="34" charset="0"/>
              <a:buAutoNum type="arabicPeriod"/>
            </a:pPr>
            <a:endParaRPr lang="en-US" altLang="ja-JP">
              <a:ea typeface="游ゴシック"/>
            </a:endParaRPr>
          </a:p>
          <a:p>
            <a:pPr marL="0" indent="0">
              <a:buNone/>
            </a:pPr>
            <a:endParaRPr lang="en-US" altLang="ja-JP">
              <a:ea typeface="游ゴシック"/>
            </a:endParaRPr>
          </a:p>
        </p:txBody>
      </p:sp>
      <p:graphicFrame>
        <p:nvGraphicFramePr>
          <p:cNvPr id="5" name="表 4">
            <a:extLst>
              <a:ext uri="{FF2B5EF4-FFF2-40B4-BE49-F238E27FC236}">
                <a16:creationId xmlns:a16="http://schemas.microsoft.com/office/drawing/2014/main" id="{2B6F8BE1-1FCA-AE5C-9645-4A3199A07AB7}"/>
              </a:ext>
            </a:extLst>
          </p:cNvPr>
          <p:cNvGraphicFramePr>
            <a:graphicFrameLocks noGrp="1"/>
          </p:cNvGraphicFramePr>
          <p:nvPr>
            <p:extLst>
              <p:ext uri="{D42A27DB-BD31-4B8C-83A1-F6EECF244321}">
                <p14:modId xmlns:p14="http://schemas.microsoft.com/office/powerpoint/2010/main" val="2265660144"/>
              </p:ext>
            </p:extLst>
          </p:nvPr>
        </p:nvGraphicFramePr>
        <p:xfrm>
          <a:off x="2567160" y="2194376"/>
          <a:ext cx="7057680" cy="764526"/>
        </p:xfrm>
        <a:graphic>
          <a:graphicData uri="http://schemas.openxmlformats.org/drawingml/2006/table">
            <a:tbl>
              <a:tblPr firstRow="1" bandRow="1">
                <a:tableStyleId>{5940675A-B579-460E-94D1-54222C63F5DA}</a:tableStyleId>
              </a:tblPr>
              <a:tblGrid>
                <a:gridCol w="2352560">
                  <a:extLst>
                    <a:ext uri="{9D8B030D-6E8A-4147-A177-3AD203B41FA5}">
                      <a16:colId xmlns:a16="http://schemas.microsoft.com/office/drawing/2014/main" val="1135400302"/>
                    </a:ext>
                  </a:extLst>
                </a:gridCol>
                <a:gridCol w="2352560">
                  <a:extLst>
                    <a:ext uri="{9D8B030D-6E8A-4147-A177-3AD203B41FA5}">
                      <a16:colId xmlns:a16="http://schemas.microsoft.com/office/drawing/2014/main" val="777068680"/>
                    </a:ext>
                  </a:extLst>
                </a:gridCol>
                <a:gridCol w="2352560">
                  <a:extLst>
                    <a:ext uri="{9D8B030D-6E8A-4147-A177-3AD203B41FA5}">
                      <a16:colId xmlns:a16="http://schemas.microsoft.com/office/drawing/2014/main" val="1360042085"/>
                    </a:ext>
                  </a:extLst>
                </a:gridCol>
              </a:tblGrid>
              <a:tr h="382263">
                <a:tc>
                  <a:txBody>
                    <a:bodyPr/>
                    <a:lstStyle/>
                    <a:p>
                      <a:endParaRPr kumimoji="1" lang="ja-JP" altLang="en-US"/>
                    </a:p>
                  </a:txBody>
                  <a:tcPr/>
                </a:tc>
                <a:tc>
                  <a:txBody>
                    <a:bodyPr/>
                    <a:lstStyle/>
                    <a:p>
                      <a:r>
                        <a:rPr kumimoji="1" lang="en-US" altLang="ja-JP"/>
                        <a:t>Baseline</a:t>
                      </a:r>
                      <a:endParaRPr kumimoji="1" lang="ja-JP" altLang="en-US"/>
                    </a:p>
                  </a:txBody>
                  <a:tcPr>
                    <a:lnR w="12700" cap="flat" cmpd="sng" algn="ctr">
                      <a:solidFill>
                        <a:schemeClr val="tx1"/>
                      </a:solidFill>
                      <a:prstDash val="solid"/>
                      <a:round/>
                      <a:headEnd type="none" w="med" len="med"/>
                      <a:tailEnd type="none" w="med" len="med"/>
                    </a:lnR>
                  </a:tcPr>
                </a:tc>
                <a:tc>
                  <a:txBody>
                    <a:bodyPr/>
                    <a:lstStyle/>
                    <a:p>
                      <a:r>
                        <a:rPr kumimoji="1" lang="en-US" altLang="ja-JP" b="0">
                          <a:solidFill>
                            <a:srgbClr val="FF0000"/>
                          </a:solidFill>
                        </a:rPr>
                        <a:t>Our Method</a:t>
                      </a:r>
                      <a:endParaRPr kumimoji="1" lang="ja-JP" altLang="en-US" b="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8974174"/>
                  </a:ext>
                </a:extLst>
              </a:tr>
              <a:tr h="382263">
                <a:tc>
                  <a:txBody>
                    <a:bodyPr/>
                    <a:lstStyle/>
                    <a:p>
                      <a:r>
                        <a:rPr kumimoji="1" lang="en-US" altLang="ja-JP"/>
                        <a:t>CER(%)</a:t>
                      </a:r>
                    </a:p>
                  </a:txBody>
                  <a:tcPr/>
                </a:tc>
                <a:tc>
                  <a:txBody>
                    <a:bodyPr/>
                    <a:lstStyle/>
                    <a:p>
                      <a:pPr lvl="0">
                        <a:buNone/>
                      </a:pPr>
                      <a:r>
                        <a:rPr kumimoji="1" lang="en-US" altLang="ja-JP" sz="1800" u="none" strike="noStrike" noProof="0"/>
                        <a:t>13.64</a:t>
                      </a:r>
                      <a:endParaRPr kumimoji="1" lang="ja-JP" altLang="en-US" sz="1800" u="none" strike="noStrike" noProof="0"/>
                    </a:p>
                  </a:txBody>
                  <a:tcPr>
                    <a:lnR w="12700" cap="flat" cmpd="sng" algn="ctr">
                      <a:solidFill>
                        <a:schemeClr val="tx1"/>
                      </a:solidFill>
                      <a:prstDash val="solid"/>
                      <a:round/>
                      <a:headEnd type="none" w="med" len="med"/>
                      <a:tailEnd type="none" w="med" len="med"/>
                    </a:lnR>
                  </a:tcPr>
                </a:tc>
                <a:tc>
                  <a:txBody>
                    <a:bodyPr/>
                    <a:lstStyle/>
                    <a:p>
                      <a:pPr lvl="0">
                        <a:buNone/>
                      </a:pPr>
                      <a:r>
                        <a:rPr lang="en-US" altLang="ja-JP" sz="1800" b="1" i="0" u="none" strike="noStrike" noProof="0">
                          <a:latin typeface="游ゴシック"/>
                          <a:ea typeface="游ゴシック"/>
                        </a:rPr>
                        <a:t>10.77</a:t>
                      </a:r>
                      <a:r>
                        <a:rPr lang="ja-JP" sz="1800" b="0" i="0" u="none" strike="noStrike" noProof="0">
                          <a:latin typeface="游ゴシック"/>
                          <a:ea typeface="游ゴシック"/>
                        </a:rPr>
                        <a:t> </a:t>
                      </a:r>
                      <a:endParaRPr kumimoji="1" lang="ja-JP" altLang="en-US" sz="1800" b="0" i="0" u="none" strike="noStrike" noProof="0">
                        <a:latin typeface="游ゴシック"/>
                        <a:ea typeface="游ゴシック"/>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95639400"/>
                  </a:ext>
                </a:extLst>
              </a:tr>
            </a:tbl>
          </a:graphicData>
        </a:graphic>
      </p:graphicFrame>
      <p:graphicFrame>
        <p:nvGraphicFramePr>
          <p:cNvPr id="8" name="表 7">
            <a:extLst>
              <a:ext uri="{FF2B5EF4-FFF2-40B4-BE49-F238E27FC236}">
                <a16:creationId xmlns:a16="http://schemas.microsoft.com/office/drawing/2014/main" id="{8A428784-8FDB-8DE2-BC26-C58BDD89899A}"/>
              </a:ext>
            </a:extLst>
          </p:cNvPr>
          <p:cNvGraphicFramePr>
            <a:graphicFrameLocks noGrp="1"/>
          </p:cNvGraphicFramePr>
          <p:nvPr>
            <p:extLst>
              <p:ext uri="{D42A27DB-BD31-4B8C-83A1-F6EECF244321}">
                <p14:modId xmlns:p14="http://schemas.microsoft.com/office/powerpoint/2010/main" val="2666415629"/>
              </p:ext>
            </p:extLst>
          </p:nvPr>
        </p:nvGraphicFramePr>
        <p:xfrm>
          <a:off x="2567160" y="3663260"/>
          <a:ext cx="8293348" cy="740853"/>
        </p:xfrm>
        <a:graphic>
          <a:graphicData uri="http://schemas.openxmlformats.org/drawingml/2006/table">
            <a:tbl>
              <a:tblPr firstRow="1" bandRow="1">
                <a:tableStyleId>{5940675A-B579-460E-94D1-54222C63F5DA}</a:tableStyleId>
              </a:tblPr>
              <a:tblGrid>
                <a:gridCol w="1055147">
                  <a:extLst>
                    <a:ext uri="{9D8B030D-6E8A-4147-A177-3AD203B41FA5}">
                      <a16:colId xmlns:a16="http://schemas.microsoft.com/office/drawing/2014/main" val="1135400302"/>
                    </a:ext>
                  </a:extLst>
                </a:gridCol>
                <a:gridCol w="1314381">
                  <a:extLst>
                    <a:ext uri="{9D8B030D-6E8A-4147-A177-3AD203B41FA5}">
                      <a16:colId xmlns:a16="http://schemas.microsoft.com/office/drawing/2014/main" val="2115648721"/>
                    </a:ext>
                  </a:extLst>
                </a:gridCol>
                <a:gridCol w="1184764">
                  <a:extLst>
                    <a:ext uri="{9D8B030D-6E8A-4147-A177-3AD203B41FA5}">
                      <a16:colId xmlns:a16="http://schemas.microsoft.com/office/drawing/2014/main" val="254932251"/>
                    </a:ext>
                  </a:extLst>
                </a:gridCol>
                <a:gridCol w="1184764">
                  <a:extLst>
                    <a:ext uri="{9D8B030D-6E8A-4147-A177-3AD203B41FA5}">
                      <a16:colId xmlns:a16="http://schemas.microsoft.com/office/drawing/2014/main" val="35661939"/>
                    </a:ext>
                  </a:extLst>
                </a:gridCol>
                <a:gridCol w="1184764">
                  <a:extLst>
                    <a:ext uri="{9D8B030D-6E8A-4147-A177-3AD203B41FA5}">
                      <a16:colId xmlns:a16="http://schemas.microsoft.com/office/drawing/2014/main" val="3330968612"/>
                    </a:ext>
                  </a:extLst>
                </a:gridCol>
                <a:gridCol w="1184764">
                  <a:extLst>
                    <a:ext uri="{9D8B030D-6E8A-4147-A177-3AD203B41FA5}">
                      <a16:colId xmlns:a16="http://schemas.microsoft.com/office/drawing/2014/main" val="777068680"/>
                    </a:ext>
                  </a:extLst>
                </a:gridCol>
                <a:gridCol w="1184764">
                  <a:extLst>
                    <a:ext uri="{9D8B030D-6E8A-4147-A177-3AD203B41FA5}">
                      <a16:colId xmlns:a16="http://schemas.microsoft.com/office/drawing/2014/main" val="1360042085"/>
                    </a:ext>
                  </a:extLst>
                </a:gridCol>
              </a:tblGrid>
              <a:tr h="0">
                <a:tc>
                  <a:txBody>
                    <a:bodyPr/>
                    <a:lstStyle/>
                    <a:p>
                      <a:r>
                        <a:rPr kumimoji="1" lang="en-US" altLang="ja-JP"/>
                        <a:t>Layer</a:t>
                      </a:r>
                      <a:endParaRPr kumimoji="1" lang="ja-JP" altLang="en-US"/>
                    </a:p>
                  </a:txBody>
                  <a:tcPr/>
                </a:tc>
                <a:tc>
                  <a:txBody>
                    <a:bodyPr/>
                    <a:lstStyle/>
                    <a:p>
                      <a:r>
                        <a:rPr kumimoji="1" lang="en-US" altLang="ja-JP"/>
                        <a:t>10,11,12</a:t>
                      </a:r>
                      <a:endParaRPr kumimoji="1" lang="ja-JP" altLang="en-US"/>
                    </a:p>
                  </a:txBody>
                  <a:tcPr/>
                </a:tc>
                <a:tc>
                  <a:txBody>
                    <a:bodyPr/>
                    <a:lstStyle/>
                    <a:p>
                      <a:r>
                        <a:rPr kumimoji="1" lang="en-US" altLang="ja-JP"/>
                        <a:t>4,8,12</a:t>
                      </a:r>
                      <a:endParaRPr kumimoji="1" lang="ja-JP" altLang="en-US"/>
                    </a:p>
                  </a:txBody>
                  <a:tcPr/>
                </a:tc>
                <a:tc>
                  <a:txBody>
                    <a:bodyPr/>
                    <a:lstStyle/>
                    <a:p>
                      <a:r>
                        <a:rPr kumimoji="1" lang="en-US" altLang="ja-JP"/>
                        <a:t>3,12</a:t>
                      </a:r>
                      <a:endParaRPr kumimoji="1" lang="ja-JP" altLang="en-US"/>
                    </a:p>
                  </a:txBody>
                  <a:tcPr/>
                </a:tc>
                <a:tc>
                  <a:txBody>
                    <a:bodyPr/>
                    <a:lstStyle/>
                    <a:p>
                      <a:r>
                        <a:rPr kumimoji="1" lang="en-US" altLang="ja-JP"/>
                        <a:t>6,12</a:t>
                      </a:r>
                      <a:endParaRPr kumimoji="1" lang="ja-JP" altLang="en-US"/>
                    </a:p>
                  </a:txBody>
                  <a:tcPr/>
                </a:tc>
                <a:tc>
                  <a:txBody>
                    <a:bodyPr/>
                    <a:lstStyle/>
                    <a:p>
                      <a:r>
                        <a:rPr kumimoji="1" lang="en-US" altLang="ja-JP" b="0">
                          <a:solidFill>
                            <a:srgbClr val="FF0000"/>
                          </a:solidFill>
                        </a:rPr>
                        <a:t>11,12</a:t>
                      </a:r>
                      <a:endParaRPr kumimoji="1" lang="ja-JP" altLang="en-US" b="0">
                        <a:solidFill>
                          <a:srgbClr val="FF0000"/>
                        </a:solidFill>
                      </a:endParaRPr>
                    </a:p>
                  </a:txBody>
                  <a:tcPr/>
                </a:tc>
                <a:tc>
                  <a:txBody>
                    <a:bodyPr/>
                    <a:lstStyle/>
                    <a:p>
                      <a:r>
                        <a:rPr kumimoji="1" lang="en-US" altLang="ja-JP"/>
                        <a:t>12</a:t>
                      </a:r>
                      <a:endParaRPr kumimoji="1" lang="ja-JP" altLang="en-US"/>
                    </a:p>
                  </a:txBody>
                  <a:tcPr/>
                </a:tc>
                <a:extLst>
                  <a:ext uri="{0D108BD9-81ED-4DB2-BD59-A6C34878D82A}">
                    <a16:rowId xmlns:a16="http://schemas.microsoft.com/office/drawing/2014/main" val="1318974174"/>
                  </a:ext>
                </a:extLst>
              </a:tr>
              <a:tr h="375093">
                <a:tc>
                  <a:txBody>
                    <a:bodyPr/>
                    <a:lstStyle/>
                    <a:p>
                      <a:r>
                        <a:rPr kumimoji="1" lang="en-US" altLang="ja-JP"/>
                        <a:t>CER(%)</a:t>
                      </a:r>
                    </a:p>
                  </a:txBody>
                  <a:tcPr/>
                </a:tc>
                <a:tc>
                  <a:txBody>
                    <a:bodyPr/>
                    <a:lstStyle/>
                    <a:p>
                      <a:r>
                        <a:rPr kumimoji="1" lang="en-US" altLang="ja-JP"/>
                        <a:t>12.54</a:t>
                      </a:r>
                    </a:p>
                  </a:txBody>
                  <a:tcPr/>
                </a:tc>
                <a:tc>
                  <a:txBody>
                    <a:bodyPr/>
                    <a:lstStyle/>
                    <a:p>
                      <a:r>
                        <a:rPr kumimoji="1" lang="en-US" altLang="ja-JP"/>
                        <a:t>11.96</a:t>
                      </a:r>
                    </a:p>
                  </a:txBody>
                  <a:tcPr/>
                </a:tc>
                <a:tc>
                  <a:txBody>
                    <a:bodyPr/>
                    <a:lstStyle/>
                    <a:p>
                      <a:r>
                        <a:rPr kumimoji="1" lang="en-US" altLang="ja-JP"/>
                        <a:t>12.55</a:t>
                      </a:r>
                    </a:p>
                  </a:txBody>
                  <a:tcPr/>
                </a:tc>
                <a:tc>
                  <a:txBody>
                    <a:bodyPr/>
                    <a:lstStyle/>
                    <a:p>
                      <a:r>
                        <a:rPr kumimoji="1" lang="en-US" altLang="ja-JP"/>
                        <a:t>13.16</a:t>
                      </a:r>
                    </a:p>
                  </a:txBody>
                  <a:tcPr/>
                </a:tc>
                <a:tc>
                  <a:txBody>
                    <a:bodyPr/>
                    <a:lstStyle/>
                    <a:p>
                      <a:pPr lvl="0">
                        <a:buNone/>
                      </a:pPr>
                      <a:r>
                        <a:rPr kumimoji="1" lang="en-US" altLang="ja-JP" sz="1800" b="1" u="none" strike="noStrike" noProof="0"/>
                        <a:t>10.77</a:t>
                      </a:r>
                      <a:endParaRPr kumimoji="1" lang="ja-JP" altLang="en-US" sz="1800" b="1" u="none" strike="noStrike" noProof="0"/>
                    </a:p>
                  </a:txBody>
                  <a:tcPr/>
                </a:tc>
                <a:tc>
                  <a:txBody>
                    <a:bodyPr/>
                    <a:lstStyle/>
                    <a:p>
                      <a:pPr lvl="0">
                        <a:buNone/>
                      </a:pPr>
                      <a:r>
                        <a:rPr kumimoji="1" lang="en-US" altLang="ja-JP" sz="1800" b="0" i="0" u="none" strike="noStrike" noProof="0">
                          <a:latin typeface="游ゴシック"/>
                          <a:ea typeface="游ゴシック"/>
                        </a:rPr>
                        <a:t>12.44</a:t>
                      </a:r>
                      <a:endParaRPr kumimoji="1" lang="ja-JP" altLang="en-US" sz="1800" b="0" i="0" u="none" strike="noStrike" noProof="0">
                        <a:latin typeface="游ゴシック"/>
                        <a:ea typeface="游ゴシック"/>
                      </a:endParaRPr>
                    </a:p>
                  </a:txBody>
                  <a:tcPr/>
                </a:tc>
                <a:extLst>
                  <a:ext uri="{0D108BD9-81ED-4DB2-BD59-A6C34878D82A}">
                    <a16:rowId xmlns:a16="http://schemas.microsoft.com/office/drawing/2014/main" val="4095639400"/>
                  </a:ext>
                </a:extLst>
              </a:tr>
            </a:tbl>
          </a:graphicData>
        </a:graphic>
      </p:graphicFrame>
      <p:graphicFrame>
        <p:nvGraphicFramePr>
          <p:cNvPr id="9" name="表 8">
            <a:extLst>
              <a:ext uri="{FF2B5EF4-FFF2-40B4-BE49-F238E27FC236}">
                <a16:creationId xmlns:a16="http://schemas.microsoft.com/office/drawing/2014/main" id="{209AD847-0DAD-7881-45A0-E98715296D90}"/>
              </a:ext>
            </a:extLst>
          </p:cNvPr>
          <p:cNvGraphicFramePr>
            <a:graphicFrameLocks noGrp="1"/>
          </p:cNvGraphicFramePr>
          <p:nvPr>
            <p:extLst>
              <p:ext uri="{D42A27DB-BD31-4B8C-83A1-F6EECF244321}">
                <p14:modId xmlns:p14="http://schemas.microsoft.com/office/powerpoint/2010/main" val="2447123470"/>
              </p:ext>
            </p:extLst>
          </p:nvPr>
        </p:nvGraphicFramePr>
        <p:xfrm>
          <a:off x="2567160" y="5247184"/>
          <a:ext cx="7057680" cy="764526"/>
        </p:xfrm>
        <a:graphic>
          <a:graphicData uri="http://schemas.openxmlformats.org/drawingml/2006/table">
            <a:tbl>
              <a:tblPr firstRow="1" bandRow="1">
                <a:tableStyleId>{5940675A-B579-460E-94D1-54222C63F5DA}</a:tableStyleId>
              </a:tblPr>
              <a:tblGrid>
                <a:gridCol w="3593495">
                  <a:extLst>
                    <a:ext uri="{9D8B030D-6E8A-4147-A177-3AD203B41FA5}">
                      <a16:colId xmlns:a16="http://schemas.microsoft.com/office/drawing/2014/main" val="1135400302"/>
                    </a:ext>
                  </a:extLst>
                </a:gridCol>
                <a:gridCol w="1754909">
                  <a:extLst>
                    <a:ext uri="{9D8B030D-6E8A-4147-A177-3AD203B41FA5}">
                      <a16:colId xmlns:a16="http://schemas.microsoft.com/office/drawing/2014/main" val="777068680"/>
                    </a:ext>
                  </a:extLst>
                </a:gridCol>
                <a:gridCol w="1709276">
                  <a:extLst>
                    <a:ext uri="{9D8B030D-6E8A-4147-A177-3AD203B41FA5}">
                      <a16:colId xmlns:a16="http://schemas.microsoft.com/office/drawing/2014/main" val="1360042085"/>
                    </a:ext>
                  </a:extLst>
                </a:gridCol>
              </a:tblGrid>
              <a:tr h="382263">
                <a:tc>
                  <a:txBody>
                    <a:bodyPr/>
                    <a:lstStyle/>
                    <a:p>
                      <a:r>
                        <a:rPr lang="en-US" altLang="ja-JP"/>
                        <a:t>Number of LLM Parameters </a:t>
                      </a:r>
                      <a:endParaRPr kumimoji="1" lang="ja-JP" altLang="en-US"/>
                    </a:p>
                  </a:txBody>
                  <a:tcPr/>
                </a:tc>
                <a:tc>
                  <a:txBody>
                    <a:bodyPr/>
                    <a:lstStyle/>
                    <a:p>
                      <a:r>
                        <a:rPr kumimoji="1" lang="en-US" altLang="ja-JP"/>
                        <a:t>1B</a:t>
                      </a:r>
                      <a:endParaRPr kumimoji="1" lang="ja-JP" altLang="en-US"/>
                    </a:p>
                  </a:txBody>
                  <a:tcPr/>
                </a:tc>
                <a:tc>
                  <a:txBody>
                    <a:bodyPr/>
                    <a:lstStyle/>
                    <a:p>
                      <a:r>
                        <a:rPr kumimoji="1" lang="en-US" altLang="ja-JP"/>
                        <a:t>3B</a:t>
                      </a:r>
                      <a:endParaRPr kumimoji="1" lang="ja-JP" altLang="en-US"/>
                    </a:p>
                  </a:txBody>
                  <a:tcPr/>
                </a:tc>
                <a:extLst>
                  <a:ext uri="{0D108BD9-81ED-4DB2-BD59-A6C34878D82A}">
                    <a16:rowId xmlns:a16="http://schemas.microsoft.com/office/drawing/2014/main" val="1318974174"/>
                  </a:ext>
                </a:extLst>
              </a:tr>
              <a:tr h="382263">
                <a:tc>
                  <a:txBody>
                    <a:bodyPr/>
                    <a:lstStyle/>
                    <a:p>
                      <a:r>
                        <a:rPr kumimoji="1" lang="en-US" altLang="ja-JP"/>
                        <a:t>CER(%)</a:t>
                      </a:r>
                    </a:p>
                  </a:txBody>
                  <a:tcPr/>
                </a:tc>
                <a:tc>
                  <a:txBody>
                    <a:bodyPr/>
                    <a:lstStyle/>
                    <a:p>
                      <a:pPr lvl="0">
                        <a:buNone/>
                      </a:pPr>
                      <a:r>
                        <a:rPr kumimoji="1" lang="en-US" altLang="ja-JP" sz="1800" b="1" u="none" strike="noStrike" noProof="0"/>
                        <a:t>12.44</a:t>
                      </a:r>
                      <a:endParaRPr kumimoji="1" lang="ja-JP" altLang="en-US" sz="1800" b="1" u="none" strike="noStrike" noProof="0"/>
                    </a:p>
                  </a:txBody>
                  <a:tcPr/>
                </a:tc>
                <a:tc>
                  <a:txBody>
                    <a:bodyPr/>
                    <a:lstStyle/>
                    <a:p>
                      <a:pPr lvl="0">
                        <a:buNone/>
                      </a:pPr>
                      <a:r>
                        <a:rPr lang="en-US" altLang="ja-JP" sz="1800" b="0" i="0" u="none" strike="noStrike" noProof="0">
                          <a:latin typeface="游ゴシック"/>
                          <a:ea typeface="游ゴシック"/>
                        </a:rPr>
                        <a:t>12.66</a:t>
                      </a:r>
                      <a:r>
                        <a:rPr lang="ja-JP" sz="1800" b="0" i="0" u="none" strike="noStrike" noProof="0">
                          <a:latin typeface="游ゴシック"/>
                          <a:ea typeface="游ゴシック"/>
                        </a:rPr>
                        <a:t>  </a:t>
                      </a:r>
                      <a:endParaRPr kumimoji="1" lang="ja-JP" altLang="en-US" sz="1800" b="0" i="0" u="none" strike="noStrike" noProof="0">
                        <a:latin typeface="游ゴシック"/>
                        <a:ea typeface="游ゴシック"/>
                      </a:endParaRPr>
                    </a:p>
                  </a:txBody>
                  <a:tcPr/>
                </a:tc>
                <a:extLst>
                  <a:ext uri="{0D108BD9-81ED-4DB2-BD59-A6C34878D82A}">
                    <a16:rowId xmlns:a16="http://schemas.microsoft.com/office/drawing/2014/main" val="4095639400"/>
                  </a:ext>
                </a:extLst>
              </a:tr>
            </a:tbl>
          </a:graphicData>
        </a:graphic>
      </p:graphicFrame>
    </p:spTree>
    <p:extLst>
      <p:ext uri="{BB962C8B-B14F-4D97-AF65-F5344CB8AC3E}">
        <p14:creationId xmlns:p14="http://schemas.microsoft.com/office/powerpoint/2010/main" val="19001744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5564F-E631-73B2-6E8B-0D0BCFDDA09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3A82AAC-C786-CBAB-E911-3B992EBAF721}"/>
              </a:ext>
            </a:extLst>
          </p:cNvPr>
          <p:cNvSpPr>
            <a:spLocks noGrp="1"/>
          </p:cNvSpPr>
          <p:nvPr>
            <p:ph type="title"/>
          </p:nvPr>
        </p:nvSpPr>
        <p:spPr/>
        <p:txBody>
          <a:bodyPr/>
          <a:lstStyle/>
          <a:p>
            <a:pPr>
              <a:lnSpc>
                <a:spcPct val="100000"/>
              </a:lnSpc>
            </a:pPr>
            <a:r>
              <a:rPr kumimoji="1" lang="ja-JP" altLang="en-US" sz="3200">
                <a:ea typeface="游ゴシック Light"/>
              </a:rPr>
              <a:t>実験</a:t>
            </a:r>
            <a:br>
              <a:rPr lang="en-US" altLang="ja-JP"/>
            </a:br>
            <a:r>
              <a:rPr lang="ja-JP" altLang="en-US">
                <a:solidFill>
                  <a:schemeClr val="tx1"/>
                </a:solidFill>
                <a:ea typeface="游ゴシック Light"/>
              </a:rPr>
              <a:t>実験結果</a:t>
            </a:r>
            <a:endParaRPr kumimoji="1" lang="ja-JP" altLang="en-US">
              <a:solidFill>
                <a:schemeClr val="tx1"/>
              </a:solidFill>
              <a:ea typeface="游ゴシック Light"/>
            </a:endParaRPr>
          </a:p>
        </p:txBody>
      </p:sp>
      <p:sp>
        <p:nvSpPr>
          <p:cNvPr id="4" name="スライド番号プレースホルダー 3">
            <a:extLst>
              <a:ext uri="{FF2B5EF4-FFF2-40B4-BE49-F238E27FC236}">
                <a16:creationId xmlns:a16="http://schemas.microsoft.com/office/drawing/2014/main" id="{BD77E097-20F5-6327-B707-66720F930FCF}"/>
              </a:ext>
            </a:extLst>
          </p:cNvPr>
          <p:cNvSpPr>
            <a:spLocks noGrp="1"/>
          </p:cNvSpPr>
          <p:nvPr>
            <p:ph type="sldNum" sz="quarter" idx="12"/>
          </p:nvPr>
        </p:nvSpPr>
        <p:spPr>
          <a:xfrm>
            <a:off x="8629192" y="5432222"/>
            <a:ext cx="3247103" cy="365125"/>
          </a:xfrm>
        </p:spPr>
        <p:txBody>
          <a:bodyPr/>
          <a:lstStyle/>
          <a:p>
            <a:fld id="{397E558F-9F61-480E-94CF-2C9CB5412042}" type="slidenum">
              <a:rPr lang="ja-JP" altLang="en-US" smtClean="0"/>
              <a:pPr/>
              <a:t>27</a:t>
            </a:fld>
            <a:endParaRPr lang="ja-JP" altLang="en-US"/>
          </a:p>
        </p:txBody>
      </p:sp>
      <p:sp>
        <p:nvSpPr>
          <p:cNvPr id="23" name="コンテンツ プレースホルダー 2">
            <a:extLst>
              <a:ext uri="{FF2B5EF4-FFF2-40B4-BE49-F238E27FC236}">
                <a16:creationId xmlns:a16="http://schemas.microsoft.com/office/drawing/2014/main" id="{2E37071D-7751-C3AD-6E06-9549D1576F2B}"/>
              </a:ext>
            </a:extLst>
          </p:cNvPr>
          <p:cNvSpPr txBox="1">
            <a:spLocks/>
          </p:cNvSpPr>
          <p:nvPr/>
        </p:nvSpPr>
        <p:spPr>
          <a:xfrm>
            <a:off x="840424" y="1619596"/>
            <a:ext cx="10515600" cy="5238403"/>
          </a:xfrm>
          <a:prstGeom prst="rect">
            <a:avLst/>
          </a:prstGeom>
        </p:spPr>
        <p:txBody>
          <a:bodyPr vert="horz" lIns="91440" tIns="45720" rIns="91440" bIns="45720" rtlCol="0" anchor="t">
            <a:normAutofit/>
          </a:bodyPr>
          <a:lstStyle>
            <a:defPPr>
              <a:defRPr lang="ja-JP"/>
            </a:defPPr>
            <a:lvl1pPr marL="228600" indent="-228600" algn="l" defTabSz="914400" rtl="0" eaLnBrk="1" latinLnBrk="0" hangingPunct="1">
              <a:lnSpc>
                <a:spcPct val="90000"/>
              </a:lnSpc>
              <a:spcBef>
                <a:spcPts val="1000"/>
              </a:spcBef>
              <a:buClr>
                <a:schemeClr val="accent5"/>
              </a:buClr>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5">
                  <a:lumMod val="60000"/>
                  <a:lumOff val="40000"/>
                </a:schemeClr>
              </a:buClr>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5">
                  <a:lumMod val="75000"/>
                </a:schemeClr>
              </a:buClr>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5">
                  <a:lumMod val="50000"/>
                </a:schemeClr>
              </a:buClr>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5">
                  <a:lumMod val="50000"/>
                </a:schemeClr>
              </a:buClr>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14350" indent="-514350">
              <a:buAutoNum type="arabicPeriod"/>
            </a:pPr>
            <a:r>
              <a:rPr lang="ja-JP" altLang="en-US">
                <a:ea typeface="游ゴシック"/>
              </a:rPr>
              <a:t>ベースラインとの比較</a:t>
            </a:r>
            <a:endParaRPr lang="en-US" altLang="ja-JP">
              <a:ea typeface="游ゴシック"/>
            </a:endParaRPr>
          </a:p>
          <a:p>
            <a:pPr marL="514350" indent="-514350">
              <a:buAutoNum type="arabicPeriod"/>
            </a:pPr>
            <a:endParaRPr lang="en-US" altLang="ja-JP">
              <a:ea typeface="游ゴシック"/>
            </a:endParaRPr>
          </a:p>
          <a:p>
            <a:pPr marL="514350" indent="-514350">
              <a:buAutoNum type="arabicPeriod"/>
            </a:pPr>
            <a:endParaRPr lang="en-US" altLang="ja-JP">
              <a:ea typeface="游ゴシック"/>
            </a:endParaRPr>
          </a:p>
          <a:p>
            <a:pPr marL="514350" indent="-514350">
              <a:buFont typeface="Arial" panose="020B0604020202020204" pitchFamily="34" charset="0"/>
              <a:buAutoNum type="arabicPeriod"/>
            </a:pPr>
            <a:r>
              <a:rPr lang="ja-JP" altLang="en-US">
                <a:ea typeface="游ゴシック"/>
              </a:rPr>
              <a:t>配置による比較</a:t>
            </a:r>
            <a:endParaRPr lang="en-US" altLang="ja-JP">
              <a:ea typeface="游ゴシック"/>
            </a:endParaRPr>
          </a:p>
          <a:p>
            <a:pPr marL="514350" indent="-514350">
              <a:buAutoNum type="arabicPeriod"/>
            </a:pPr>
            <a:endParaRPr lang="en-US" altLang="ja-JP">
              <a:ea typeface="游ゴシック"/>
            </a:endParaRPr>
          </a:p>
          <a:p>
            <a:pPr marL="514350" indent="-514350">
              <a:buAutoNum type="arabicPeriod"/>
            </a:pPr>
            <a:endParaRPr lang="en-US" altLang="ja-JP">
              <a:ea typeface="游ゴシック"/>
            </a:endParaRPr>
          </a:p>
          <a:p>
            <a:pPr marL="514350" indent="-514350">
              <a:buFont typeface="Arial" panose="020B0604020202020204" pitchFamily="34" charset="0"/>
              <a:buAutoNum type="arabicPeriod"/>
            </a:pPr>
            <a:r>
              <a:rPr lang="en-US" altLang="ja-JP">
                <a:ea typeface="游ゴシック"/>
              </a:rPr>
              <a:t>LLM</a:t>
            </a:r>
            <a:r>
              <a:rPr lang="ja-JP" altLang="en-US">
                <a:ea typeface="游ゴシック"/>
              </a:rPr>
              <a:t>性能差比較</a:t>
            </a:r>
            <a:endParaRPr lang="en-US" altLang="ja-JP">
              <a:ea typeface="游ゴシック"/>
            </a:endParaRPr>
          </a:p>
          <a:p>
            <a:pPr marL="514350" indent="-514350">
              <a:buFont typeface="Arial" panose="020B0604020202020204" pitchFamily="34" charset="0"/>
              <a:buAutoNum type="arabicPeriod"/>
            </a:pPr>
            <a:endParaRPr lang="en-US" altLang="ja-JP">
              <a:ea typeface="游ゴシック"/>
            </a:endParaRPr>
          </a:p>
          <a:p>
            <a:pPr marL="514350" indent="-514350">
              <a:buFont typeface="Arial" panose="020B0604020202020204" pitchFamily="34" charset="0"/>
              <a:buAutoNum type="arabicPeriod"/>
            </a:pPr>
            <a:endParaRPr lang="en-US" altLang="ja-JP">
              <a:ea typeface="游ゴシック"/>
            </a:endParaRPr>
          </a:p>
          <a:p>
            <a:pPr marL="0" indent="0">
              <a:buNone/>
            </a:pPr>
            <a:r>
              <a:rPr lang="ja-JP" altLang="en-US">
                <a:ea typeface="游ゴシック"/>
              </a:rPr>
              <a:t>→</a:t>
            </a:r>
            <a:r>
              <a:rPr lang="en-US" altLang="ja-JP">
                <a:ea typeface="游ゴシック"/>
              </a:rPr>
              <a:t>LLM</a:t>
            </a:r>
            <a:r>
              <a:rPr lang="ja-JP" altLang="en-US">
                <a:ea typeface="游ゴシック"/>
              </a:rPr>
              <a:t>サイズが大きすぎるとエンコーダが</a:t>
            </a:r>
            <a:r>
              <a:rPr lang="ja-JP" altLang="en-US" b="1">
                <a:solidFill>
                  <a:schemeClr val="accent5"/>
                </a:solidFill>
                <a:ea typeface="游ゴシック"/>
              </a:rPr>
              <a:t>学習しきれない</a:t>
            </a:r>
            <a:endParaRPr lang="en-US" altLang="ja-JP" b="1">
              <a:solidFill>
                <a:schemeClr val="accent5"/>
              </a:solidFill>
              <a:ea typeface="游ゴシック"/>
            </a:endParaRPr>
          </a:p>
          <a:p>
            <a:pPr marL="514350" indent="-514350">
              <a:buAutoNum type="arabicPeriod"/>
            </a:pPr>
            <a:endParaRPr lang="en-US" altLang="ja-JP">
              <a:ea typeface="游ゴシック"/>
            </a:endParaRPr>
          </a:p>
        </p:txBody>
      </p:sp>
      <p:graphicFrame>
        <p:nvGraphicFramePr>
          <p:cNvPr id="5" name="表 4">
            <a:extLst>
              <a:ext uri="{FF2B5EF4-FFF2-40B4-BE49-F238E27FC236}">
                <a16:creationId xmlns:a16="http://schemas.microsoft.com/office/drawing/2014/main" id="{44182C73-C770-00AF-2541-A252377B4DE2}"/>
              </a:ext>
            </a:extLst>
          </p:cNvPr>
          <p:cNvGraphicFramePr>
            <a:graphicFrameLocks noGrp="1"/>
          </p:cNvGraphicFramePr>
          <p:nvPr/>
        </p:nvGraphicFramePr>
        <p:xfrm>
          <a:off x="2567160" y="2194376"/>
          <a:ext cx="7057680" cy="764526"/>
        </p:xfrm>
        <a:graphic>
          <a:graphicData uri="http://schemas.openxmlformats.org/drawingml/2006/table">
            <a:tbl>
              <a:tblPr firstRow="1" bandRow="1">
                <a:tableStyleId>{5940675A-B579-460E-94D1-54222C63F5DA}</a:tableStyleId>
              </a:tblPr>
              <a:tblGrid>
                <a:gridCol w="2352560">
                  <a:extLst>
                    <a:ext uri="{9D8B030D-6E8A-4147-A177-3AD203B41FA5}">
                      <a16:colId xmlns:a16="http://schemas.microsoft.com/office/drawing/2014/main" val="1135400302"/>
                    </a:ext>
                  </a:extLst>
                </a:gridCol>
                <a:gridCol w="2352560">
                  <a:extLst>
                    <a:ext uri="{9D8B030D-6E8A-4147-A177-3AD203B41FA5}">
                      <a16:colId xmlns:a16="http://schemas.microsoft.com/office/drawing/2014/main" val="777068680"/>
                    </a:ext>
                  </a:extLst>
                </a:gridCol>
                <a:gridCol w="2352560">
                  <a:extLst>
                    <a:ext uri="{9D8B030D-6E8A-4147-A177-3AD203B41FA5}">
                      <a16:colId xmlns:a16="http://schemas.microsoft.com/office/drawing/2014/main" val="1360042085"/>
                    </a:ext>
                  </a:extLst>
                </a:gridCol>
              </a:tblGrid>
              <a:tr h="382263">
                <a:tc>
                  <a:txBody>
                    <a:bodyPr/>
                    <a:lstStyle/>
                    <a:p>
                      <a:endParaRPr kumimoji="1" lang="ja-JP" altLang="en-US"/>
                    </a:p>
                  </a:txBody>
                  <a:tcPr/>
                </a:tc>
                <a:tc>
                  <a:txBody>
                    <a:bodyPr/>
                    <a:lstStyle/>
                    <a:p>
                      <a:r>
                        <a:rPr kumimoji="1" lang="en-US" altLang="ja-JP"/>
                        <a:t>Baseline</a:t>
                      </a:r>
                      <a:endParaRPr kumimoji="1" lang="ja-JP" altLang="en-US"/>
                    </a:p>
                  </a:txBody>
                  <a:tcPr>
                    <a:lnR w="12700" cap="flat" cmpd="sng" algn="ctr">
                      <a:solidFill>
                        <a:schemeClr val="tx1"/>
                      </a:solidFill>
                      <a:prstDash val="solid"/>
                      <a:round/>
                      <a:headEnd type="none" w="med" len="med"/>
                      <a:tailEnd type="none" w="med" len="med"/>
                    </a:lnR>
                  </a:tcPr>
                </a:tc>
                <a:tc>
                  <a:txBody>
                    <a:bodyPr/>
                    <a:lstStyle/>
                    <a:p>
                      <a:r>
                        <a:rPr kumimoji="1" lang="en-US" altLang="ja-JP" b="0">
                          <a:solidFill>
                            <a:srgbClr val="FF0000"/>
                          </a:solidFill>
                        </a:rPr>
                        <a:t>Our Method</a:t>
                      </a:r>
                      <a:endParaRPr kumimoji="1" lang="ja-JP" altLang="en-US" b="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8974174"/>
                  </a:ext>
                </a:extLst>
              </a:tr>
              <a:tr h="382263">
                <a:tc>
                  <a:txBody>
                    <a:bodyPr/>
                    <a:lstStyle/>
                    <a:p>
                      <a:r>
                        <a:rPr kumimoji="1" lang="en-US" altLang="ja-JP"/>
                        <a:t>CER(%)</a:t>
                      </a:r>
                    </a:p>
                  </a:txBody>
                  <a:tcPr/>
                </a:tc>
                <a:tc>
                  <a:txBody>
                    <a:bodyPr/>
                    <a:lstStyle/>
                    <a:p>
                      <a:pPr lvl="0">
                        <a:buNone/>
                      </a:pPr>
                      <a:r>
                        <a:rPr kumimoji="1" lang="en-US" altLang="ja-JP" sz="1800" u="none" strike="noStrike" noProof="0"/>
                        <a:t>13.64</a:t>
                      </a:r>
                      <a:endParaRPr kumimoji="1" lang="ja-JP" altLang="en-US" sz="1800" u="none" strike="noStrike" noProof="0"/>
                    </a:p>
                  </a:txBody>
                  <a:tcPr>
                    <a:lnR w="12700" cap="flat" cmpd="sng" algn="ctr">
                      <a:solidFill>
                        <a:schemeClr val="tx1"/>
                      </a:solidFill>
                      <a:prstDash val="solid"/>
                      <a:round/>
                      <a:headEnd type="none" w="med" len="med"/>
                      <a:tailEnd type="none" w="med" len="med"/>
                    </a:lnR>
                  </a:tcPr>
                </a:tc>
                <a:tc>
                  <a:txBody>
                    <a:bodyPr/>
                    <a:lstStyle/>
                    <a:p>
                      <a:pPr lvl="0">
                        <a:buNone/>
                      </a:pPr>
                      <a:r>
                        <a:rPr lang="en-US" altLang="ja-JP" sz="1800" b="1" i="0" u="none" strike="noStrike" noProof="0">
                          <a:latin typeface="游ゴシック"/>
                          <a:ea typeface="游ゴシック"/>
                        </a:rPr>
                        <a:t>10.77</a:t>
                      </a:r>
                      <a:r>
                        <a:rPr lang="ja-JP" sz="1800" b="0" i="0" u="none" strike="noStrike" noProof="0">
                          <a:latin typeface="游ゴシック"/>
                          <a:ea typeface="游ゴシック"/>
                        </a:rPr>
                        <a:t> </a:t>
                      </a:r>
                      <a:endParaRPr kumimoji="1" lang="ja-JP" altLang="en-US" sz="1800" b="0" i="0" u="none" strike="noStrike" noProof="0">
                        <a:latin typeface="游ゴシック"/>
                        <a:ea typeface="游ゴシック"/>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95639400"/>
                  </a:ext>
                </a:extLst>
              </a:tr>
            </a:tbl>
          </a:graphicData>
        </a:graphic>
      </p:graphicFrame>
      <p:graphicFrame>
        <p:nvGraphicFramePr>
          <p:cNvPr id="8" name="表 7">
            <a:extLst>
              <a:ext uri="{FF2B5EF4-FFF2-40B4-BE49-F238E27FC236}">
                <a16:creationId xmlns:a16="http://schemas.microsoft.com/office/drawing/2014/main" id="{0C76A6C3-72FE-DC9D-DF72-F479BB88A715}"/>
              </a:ext>
            </a:extLst>
          </p:cNvPr>
          <p:cNvGraphicFramePr>
            <a:graphicFrameLocks noGrp="1"/>
          </p:cNvGraphicFramePr>
          <p:nvPr/>
        </p:nvGraphicFramePr>
        <p:xfrm>
          <a:off x="2567160" y="3663260"/>
          <a:ext cx="8293348" cy="740853"/>
        </p:xfrm>
        <a:graphic>
          <a:graphicData uri="http://schemas.openxmlformats.org/drawingml/2006/table">
            <a:tbl>
              <a:tblPr firstRow="1" bandRow="1">
                <a:tableStyleId>{5940675A-B579-460E-94D1-54222C63F5DA}</a:tableStyleId>
              </a:tblPr>
              <a:tblGrid>
                <a:gridCol w="1055147">
                  <a:extLst>
                    <a:ext uri="{9D8B030D-6E8A-4147-A177-3AD203B41FA5}">
                      <a16:colId xmlns:a16="http://schemas.microsoft.com/office/drawing/2014/main" val="1135400302"/>
                    </a:ext>
                  </a:extLst>
                </a:gridCol>
                <a:gridCol w="1314381">
                  <a:extLst>
                    <a:ext uri="{9D8B030D-6E8A-4147-A177-3AD203B41FA5}">
                      <a16:colId xmlns:a16="http://schemas.microsoft.com/office/drawing/2014/main" val="2115648721"/>
                    </a:ext>
                  </a:extLst>
                </a:gridCol>
                <a:gridCol w="1184764">
                  <a:extLst>
                    <a:ext uri="{9D8B030D-6E8A-4147-A177-3AD203B41FA5}">
                      <a16:colId xmlns:a16="http://schemas.microsoft.com/office/drawing/2014/main" val="254932251"/>
                    </a:ext>
                  </a:extLst>
                </a:gridCol>
                <a:gridCol w="1184764">
                  <a:extLst>
                    <a:ext uri="{9D8B030D-6E8A-4147-A177-3AD203B41FA5}">
                      <a16:colId xmlns:a16="http://schemas.microsoft.com/office/drawing/2014/main" val="35661939"/>
                    </a:ext>
                  </a:extLst>
                </a:gridCol>
                <a:gridCol w="1184764">
                  <a:extLst>
                    <a:ext uri="{9D8B030D-6E8A-4147-A177-3AD203B41FA5}">
                      <a16:colId xmlns:a16="http://schemas.microsoft.com/office/drawing/2014/main" val="3330968612"/>
                    </a:ext>
                  </a:extLst>
                </a:gridCol>
                <a:gridCol w="1184764">
                  <a:extLst>
                    <a:ext uri="{9D8B030D-6E8A-4147-A177-3AD203B41FA5}">
                      <a16:colId xmlns:a16="http://schemas.microsoft.com/office/drawing/2014/main" val="777068680"/>
                    </a:ext>
                  </a:extLst>
                </a:gridCol>
                <a:gridCol w="1184764">
                  <a:extLst>
                    <a:ext uri="{9D8B030D-6E8A-4147-A177-3AD203B41FA5}">
                      <a16:colId xmlns:a16="http://schemas.microsoft.com/office/drawing/2014/main" val="1360042085"/>
                    </a:ext>
                  </a:extLst>
                </a:gridCol>
              </a:tblGrid>
              <a:tr h="0">
                <a:tc>
                  <a:txBody>
                    <a:bodyPr/>
                    <a:lstStyle/>
                    <a:p>
                      <a:r>
                        <a:rPr kumimoji="1" lang="en-US" altLang="ja-JP"/>
                        <a:t>Layer</a:t>
                      </a:r>
                      <a:endParaRPr kumimoji="1" lang="ja-JP" altLang="en-US"/>
                    </a:p>
                  </a:txBody>
                  <a:tcPr/>
                </a:tc>
                <a:tc>
                  <a:txBody>
                    <a:bodyPr/>
                    <a:lstStyle/>
                    <a:p>
                      <a:r>
                        <a:rPr kumimoji="1" lang="en-US" altLang="ja-JP"/>
                        <a:t>10,11,12</a:t>
                      </a:r>
                      <a:endParaRPr kumimoji="1" lang="ja-JP" altLang="en-US"/>
                    </a:p>
                  </a:txBody>
                  <a:tcPr/>
                </a:tc>
                <a:tc>
                  <a:txBody>
                    <a:bodyPr/>
                    <a:lstStyle/>
                    <a:p>
                      <a:r>
                        <a:rPr kumimoji="1" lang="en-US" altLang="ja-JP"/>
                        <a:t>4,8,12</a:t>
                      </a:r>
                      <a:endParaRPr kumimoji="1" lang="ja-JP" altLang="en-US"/>
                    </a:p>
                  </a:txBody>
                  <a:tcPr/>
                </a:tc>
                <a:tc>
                  <a:txBody>
                    <a:bodyPr/>
                    <a:lstStyle/>
                    <a:p>
                      <a:r>
                        <a:rPr kumimoji="1" lang="en-US" altLang="ja-JP"/>
                        <a:t>3,12</a:t>
                      </a:r>
                      <a:endParaRPr kumimoji="1" lang="ja-JP" altLang="en-US"/>
                    </a:p>
                  </a:txBody>
                  <a:tcPr/>
                </a:tc>
                <a:tc>
                  <a:txBody>
                    <a:bodyPr/>
                    <a:lstStyle/>
                    <a:p>
                      <a:r>
                        <a:rPr kumimoji="1" lang="en-US" altLang="ja-JP"/>
                        <a:t>6,12</a:t>
                      </a:r>
                      <a:endParaRPr kumimoji="1" lang="ja-JP" altLang="en-US"/>
                    </a:p>
                  </a:txBody>
                  <a:tcPr/>
                </a:tc>
                <a:tc>
                  <a:txBody>
                    <a:bodyPr/>
                    <a:lstStyle/>
                    <a:p>
                      <a:r>
                        <a:rPr kumimoji="1" lang="en-US" altLang="ja-JP" b="0">
                          <a:solidFill>
                            <a:srgbClr val="FF0000"/>
                          </a:solidFill>
                        </a:rPr>
                        <a:t>11,12</a:t>
                      </a:r>
                      <a:endParaRPr kumimoji="1" lang="ja-JP" altLang="en-US" b="0">
                        <a:solidFill>
                          <a:srgbClr val="FF0000"/>
                        </a:solidFill>
                      </a:endParaRPr>
                    </a:p>
                  </a:txBody>
                  <a:tcPr/>
                </a:tc>
                <a:tc>
                  <a:txBody>
                    <a:bodyPr/>
                    <a:lstStyle/>
                    <a:p>
                      <a:r>
                        <a:rPr kumimoji="1" lang="en-US" altLang="ja-JP"/>
                        <a:t>12</a:t>
                      </a:r>
                      <a:endParaRPr kumimoji="1" lang="ja-JP" altLang="en-US"/>
                    </a:p>
                  </a:txBody>
                  <a:tcPr/>
                </a:tc>
                <a:extLst>
                  <a:ext uri="{0D108BD9-81ED-4DB2-BD59-A6C34878D82A}">
                    <a16:rowId xmlns:a16="http://schemas.microsoft.com/office/drawing/2014/main" val="1318974174"/>
                  </a:ext>
                </a:extLst>
              </a:tr>
              <a:tr h="375093">
                <a:tc>
                  <a:txBody>
                    <a:bodyPr/>
                    <a:lstStyle/>
                    <a:p>
                      <a:r>
                        <a:rPr kumimoji="1" lang="en-US" altLang="ja-JP"/>
                        <a:t>CER(%)</a:t>
                      </a:r>
                    </a:p>
                  </a:txBody>
                  <a:tcPr/>
                </a:tc>
                <a:tc>
                  <a:txBody>
                    <a:bodyPr/>
                    <a:lstStyle/>
                    <a:p>
                      <a:r>
                        <a:rPr kumimoji="1" lang="en-US" altLang="ja-JP"/>
                        <a:t>12.54</a:t>
                      </a:r>
                    </a:p>
                  </a:txBody>
                  <a:tcPr/>
                </a:tc>
                <a:tc>
                  <a:txBody>
                    <a:bodyPr/>
                    <a:lstStyle/>
                    <a:p>
                      <a:r>
                        <a:rPr kumimoji="1" lang="en-US" altLang="ja-JP"/>
                        <a:t>11.96</a:t>
                      </a:r>
                    </a:p>
                  </a:txBody>
                  <a:tcPr/>
                </a:tc>
                <a:tc>
                  <a:txBody>
                    <a:bodyPr/>
                    <a:lstStyle/>
                    <a:p>
                      <a:r>
                        <a:rPr kumimoji="1" lang="en-US" altLang="ja-JP"/>
                        <a:t>12.55</a:t>
                      </a:r>
                    </a:p>
                  </a:txBody>
                  <a:tcPr/>
                </a:tc>
                <a:tc>
                  <a:txBody>
                    <a:bodyPr/>
                    <a:lstStyle/>
                    <a:p>
                      <a:r>
                        <a:rPr kumimoji="1" lang="en-US" altLang="ja-JP"/>
                        <a:t>13.16</a:t>
                      </a:r>
                    </a:p>
                  </a:txBody>
                  <a:tcPr/>
                </a:tc>
                <a:tc>
                  <a:txBody>
                    <a:bodyPr/>
                    <a:lstStyle/>
                    <a:p>
                      <a:pPr lvl="0">
                        <a:buNone/>
                      </a:pPr>
                      <a:r>
                        <a:rPr kumimoji="1" lang="en-US" altLang="ja-JP" sz="1800" b="1" u="none" strike="noStrike" noProof="0"/>
                        <a:t>10.77</a:t>
                      </a:r>
                      <a:endParaRPr kumimoji="1" lang="ja-JP" altLang="en-US" sz="1800" b="1" u="none" strike="noStrike" noProof="0"/>
                    </a:p>
                  </a:txBody>
                  <a:tcPr/>
                </a:tc>
                <a:tc>
                  <a:txBody>
                    <a:bodyPr/>
                    <a:lstStyle/>
                    <a:p>
                      <a:pPr lvl="0">
                        <a:buNone/>
                      </a:pPr>
                      <a:r>
                        <a:rPr kumimoji="1" lang="en-US" altLang="ja-JP" sz="1800" b="0" i="0" u="none" strike="noStrike" noProof="0">
                          <a:latin typeface="游ゴシック"/>
                          <a:ea typeface="游ゴシック"/>
                        </a:rPr>
                        <a:t>12.44</a:t>
                      </a:r>
                      <a:endParaRPr kumimoji="1" lang="ja-JP" altLang="en-US" sz="1800" b="0" i="0" u="none" strike="noStrike" noProof="0">
                        <a:latin typeface="游ゴシック"/>
                        <a:ea typeface="游ゴシック"/>
                      </a:endParaRPr>
                    </a:p>
                  </a:txBody>
                  <a:tcPr/>
                </a:tc>
                <a:extLst>
                  <a:ext uri="{0D108BD9-81ED-4DB2-BD59-A6C34878D82A}">
                    <a16:rowId xmlns:a16="http://schemas.microsoft.com/office/drawing/2014/main" val="4095639400"/>
                  </a:ext>
                </a:extLst>
              </a:tr>
            </a:tbl>
          </a:graphicData>
        </a:graphic>
      </p:graphicFrame>
      <p:graphicFrame>
        <p:nvGraphicFramePr>
          <p:cNvPr id="9" name="表 8">
            <a:extLst>
              <a:ext uri="{FF2B5EF4-FFF2-40B4-BE49-F238E27FC236}">
                <a16:creationId xmlns:a16="http://schemas.microsoft.com/office/drawing/2014/main" id="{9BC22D00-FA8E-ABCA-D84A-F309F563450A}"/>
              </a:ext>
            </a:extLst>
          </p:cNvPr>
          <p:cNvGraphicFramePr>
            <a:graphicFrameLocks noGrp="1"/>
          </p:cNvGraphicFramePr>
          <p:nvPr/>
        </p:nvGraphicFramePr>
        <p:xfrm>
          <a:off x="2567160" y="5247184"/>
          <a:ext cx="7057680" cy="764526"/>
        </p:xfrm>
        <a:graphic>
          <a:graphicData uri="http://schemas.openxmlformats.org/drawingml/2006/table">
            <a:tbl>
              <a:tblPr firstRow="1" bandRow="1">
                <a:tableStyleId>{5940675A-B579-460E-94D1-54222C63F5DA}</a:tableStyleId>
              </a:tblPr>
              <a:tblGrid>
                <a:gridCol w="3593495">
                  <a:extLst>
                    <a:ext uri="{9D8B030D-6E8A-4147-A177-3AD203B41FA5}">
                      <a16:colId xmlns:a16="http://schemas.microsoft.com/office/drawing/2014/main" val="1135400302"/>
                    </a:ext>
                  </a:extLst>
                </a:gridCol>
                <a:gridCol w="1754909">
                  <a:extLst>
                    <a:ext uri="{9D8B030D-6E8A-4147-A177-3AD203B41FA5}">
                      <a16:colId xmlns:a16="http://schemas.microsoft.com/office/drawing/2014/main" val="777068680"/>
                    </a:ext>
                  </a:extLst>
                </a:gridCol>
                <a:gridCol w="1709276">
                  <a:extLst>
                    <a:ext uri="{9D8B030D-6E8A-4147-A177-3AD203B41FA5}">
                      <a16:colId xmlns:a16="http://schemas.microsoft.com/office/drawing/2014/main" val="1360042085"/>
                    </a:ext>
                  </a:extLst>
                </a:gridCol>
              </a:tblGrid>
              <a:tr h="382263">
                <a:tc>
                  <a:txBody>
                    <a:bodyPr/>
                    <a:lstStyle/>
                    <a:p>
                      <a:r>
                        <a:rPr lang="en-US" altLang="ja-JP"/>
                        <a:t>Number of LLM Parameters </a:t>
                      </a:r>
                      <a:endParaRPr kumimoji="1" lang="ja-JP" altLang="en-US"/>
                    </a:p>
                  </a:txBody>
                  <a:tcPr/>
                </a:tc>
                <a:tc>
                  <a:txBody>
                    <a:bodyPr/>
                    <a:lstStyle/>
                    <a:p>
                      <a:r>
                        <a:rPr kumimoji="1" lang="en-US" altLang="ja-JP"/>
                        <a:t>1B</a:t>
                      </a:r>
                      <a:endParaRPr kumimoji="1" lang="ja-JP" altLang="en-US"/>
                    </a:p>
                  </a:txBody>
                  <a:tcPr/>
                </a:tc>
                <a:tc>
                  <a:txBody>
                    <a:bodyPr/>
                    <a:lstStyle/>
                    <a:p>
                      <a:r>
                        <a:rPr kumimoji="1" lang="en-US" altLang="ja-JP"/>
                        <a:t>3B</a:t>
                      </a:r>
                      <a:endParaRPr kumimoji="1" lang="ja-JP" altLang="en-US"/>
                    </a:p>
                  </a:txBody>
                  <a:tcPr/>
                </a:tc>
                <a:extLst>
                  <a:ext uri="{0D108BD9-81ED-4DB2-BD59-A6C34878D82A}">
                    <a16:rowId xmlns:a16="http://schemas.microsoft.com/office/drawing/2014/main" val="1318974174"/>
                  </a:ext>
                </a:extLst>
              </a:tr>
              <a:tr h="382263">
                <a:tc>
                  <a:txBody>
                    <a:bodyPr/>
                    <a:lstStyle/>
                    <a:p>
                      <a:r>
                        <a:rPr kumimoji="1" lang="en-US" altLang="ja-JP"/>
                        <a:t>CER(%)</a:t>
                      </a:r>
                    </a:p>
                  </a:txBody>
                  <a:tcPr/>
                </a:tc>
                <a:tc>
                  <a:txBody>
                    <a:bodyPr/>
                    <a:lstStyle/>
                    <a:p>
                      <a:pPr lvl="0">
                        <a:buNone/>
                      </a:pPr>
                      <a:r>
                        <a:rPr kumimoji="1" lang="en-US" altLang="ja-JP" sz="1800" b="1" u="none" strike="noStrike" noProof="0"/>
                        <a:t>12.44</a:t>
                      </a:r>
                      <a:endParaRPr kumimoji="1" lang="ja-JP" altLang="en-US" sz="1800" b="1" u="none" strike="noStrike" noProof="0"/>
                    </a:p>
                  </a:txBody>
                  <a:tcPr/>
                </a:tc>
                <a:tc>
                  <a:txBody>
                    <a:bodyPr/>
                    <a:lstStyle/>
                    <a:p>
                      <a:pPr lvl="0">
                        <a:buNone/>
                      </a:pPr>
                      <a:r>
                        <a:rPr lang="en-US" altLang="ja-JP" sz="1800" b="0" i="0" u="none" strike="noStrike" noProof="0">
                          <a:latin typeface="游ゴシック"/>
                          <a:ea typeface="游ゴシック"/>
                        </a:rPr>
                        <a:t>12.66</a:t>
                      </a:r>
                      <a:r>
                        <a:rPr lang="ja-JP" sz="1800" b="0" i="0" u="none" strike="noStrike" noProof="0">
                          <a:latin typeface="游ゴシック"/>
                          <a:ea typeface="游ゴシック"/>
                        </a:rPr>
                        <a:t>  </a:t>
                      </a:r>
                      <a:endParaRPr kumimoji="1" lang="ja-JP" altLang="en-US" sz="1800" b="0" i="0" u="none" strike="noStrike" noProof="0">
                        <a:latin typeface="游ゴシック"/>
                        <a:ea typeface="游ゴシック"/>
                      </a:endParaRPr>
                    </a:p>
                  </a:txBody>
                  <a:tcPr/>
                </a:tc>
                <a:extLst>
                  <a:ext uri="{0D108BD9-81ED-4DB2-BD59-A6C34878D82A}">
                    <a16:rowId xmlns:a16="http://schemas.microsoft.com/office/drawing/2014/main" val="4095639400"/>
                  </a:ext>
                </a:extLst>
              </a:tr>
            </a:tbl>
          </a:graphicData>
        </a:graphic>
      </p:graphicFrame>
    </p:spTree>
    <p:extLst>
      <p:ext uri="{BB962C8B-B14F-4D97-AF65-F5344CB8AC3E}">
        <p14:creationId xmlns:p14="http://schemas.microsoft.com/office/powerpoint/2010/main" val="39778390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B0EC9-0A91-BAA7-E8D5-8A3FD600C6C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3F32D38-954A-C5EA-57AC-E0971F3B8581}"/>
              </a:ext>
            </a:extLst>
          </p:cNvPr>
          <p:cNvSpPr>
            <a:spLocks noGrp="1"/>
          </p:cNvSpPr>
          <p:nvPr>
            <p:ph type="title"/>
          </p:nvPr>
        </p:nvSpPr>
        <p:spPr/>
        <p:txBody>
          <a:bodyPr/>
          <a:lstStyle/>
          <a:p>
            <a:pPr>
              <a:lnSpc>
                <a:spcPct val="100000"/>
              </a:lnSpc>
            </a:pPr>
            <a:r>
              <a:rPr kumimoji="1" lang="ja-JP" altLang="en-US" sz="3200">
                <a:ea typeface="游ゴシック Light"/>
              </a:rPr>
              <a:t>実験</a:t>
            </a:r>
            <a:br>
              <a:rPr lang="en-US" altLang="ja-JP"/>
            </a:br>
            <a:r>
              <a:rPr lang="ja-JP" altLang="en-US">
                <a:solidFill>
                  <a:schemeClr val="tx1"/>
                </a:solidFill>
                <a:ea typeface="游ゴシック Light"/>
              </a:rPr>
              <a:t>実験結果</a:t>
            </a:r>
            <a:endParaRPr kumimoji="1" lang="ja-JP" altLang="en-US">
              <a:solidFill>
                <a:schemeClr val="tx1"/>
              </a:solidFill>
              <a:ea typeface="游ゴシック Light"/>
            </a:endParaRPr>
          </a:p>
        </p:txBody>
      </p:sp>
      <p:sp>
        <p:nvSpPr>
          <p:cNvPr id="4" name="スライド番号プレースホルダー 3">
            <a:extLst>
              <a:ext uri="{FF2B5EF4-FFF2-40B4-BE49-F238E27FC236}">
                <a16:creationId xmlns:a16="http://schemas.microsoft.com/office/drawing/2014/main" id="{51BC89D5-5E60-4520-0E58-CFC1B5522B94}"/>
              </a:ext>
            </a:extLst>
          </p:cNvPr>
          <p:cNvSpPr>
            <a:spLocks noGrp="1"/>
          </p:cNvSpPr>
          <p:nvPr>
            <p:ph type="sldNum" sz="quarter" idx="12"/>
          </p:nvPr>
        </p:nvSpPr>
        <p:spPr>
          <a:xfrm>
            <a:off x="8629192" y="5432222"/>
            <a:ext cx="3247103" cy="365125"/>
          </a:xfrm>
        </p:spPr>
        <p:txBody>
          <a:bodyPr/>
          <a:lstStyle/>
          <a:p>
            <a:fld id="{397E558F-9F61-480E-94CF-2C9CB5412042}" type="slidenum">
              <a:rPr lang="ja-JP" altLang="en-US" smtClean="0"/>
              <a:pPr/>
              <a:t>28</a:t>
            </a:fld>
            <a:endParaRPr lang="ja-JP" altLang="en-US"/>
          </a:p>
        </p:txBody>
      </p:sp>
      <p:sp>
        <p:nvSpPr>
          <p:cNvPr id="23" name="コンテンツ プレースホルダー 2">
            <a:extLst>
              <a:ext uri="{FF2B5EF4-FFF2-40B4-BE49-F238E27FC236}">
                <a16:creationId xmlns:a16="http://schemas.microsoft.com/office/drawing/2014/main" id="{0A002F87-AC43-0556-5E48-1ECAB2565AB9}"/>
              </a:ext>
            </a:extLst>
          </p:cNvPr>
          <p:cNvSpPr txBox="1">
            <a:spLocks/>
          </p:cNvSpPr>
          <p:nvPr/>
        </p:nvSpPr>
        <p:spPr>
          <a:xfrm>
            <a:off x="840424" y="1619597"/>
            <a:ext cx="10515600" cy="4500000"/>
          </a:xfrm>
          <a:prstGeom prst="rect">
            <a:avLst/>
          </a:prstGeom>
        </p:spPr>
        <p:txBody>
          <a:bodyPr vert="horz" lIns="91440" tIns="45720" rIns="91440" bIns="45720" rtlCol="0" anchor="t">
            <a:normAutofit/>
          </a:bodyPr>
          <a:lstStyle>
            <a:defPPr>
              <a:defRPr lang="ja-JP"/>
            </a:defPPr>
            <a:lvl1pPr marL="228600" indent="-228600" algn="l" defTabSz="914400" rtl="0" eaLnBrk="1" latinLnBrk="0" hangingPunct="1">
              <a:lnSpc>
                <a:spcPct val="90000"/>
              </a:lnSpc>
              <a:spcBef>
                <a:spcPts val="1000"/>
              </a:spcBef>
              <a:buClr>
                <a:schemeClr val="accent5"/>
              </a:buClr>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5">
                  <a:lumMod val="60000"/>
                  <a:lumOff val="40000"/>
                </a:schemeClr>
              </a:buClr>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5">
                  <a:lumMod val="75000"/>
                </a:schemeClr>
              </a:buClr>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5">
                  <a:lumMod val="50000"/>
                </a:schemeClr>
              </a:buClr>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5">
                  <a:lumMod val="50000"/>
                </a:schemeClr>
              </a:buClr>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a:ea typeface="游ゴシック"/>
              </a:rPr>
              <a:t>出力例による本提案手法の有効性確認</a:t>
            </a:r>
            <a:endParaRPr lang="en-US" altLang="ja-JP"/>
          </a:p>
          <a:p>
            <a:pPr marL="0" indent="0">
              <a:buFont typeface="Arial" panose="020B0604020202020204" pitchFamily="34" charset="0"/>
              <a:buNone/>
            </a:pPr>
            <a:endParaRPr lang="ja-JP" altLang="en-US">
              <a:ea typeface="游ゴシック"/>
            </a:endParaRPr>
          </a:p>
          <a:p>
            <a:pPr marL="0" indent="0">
              <a:buNone/>
            </a:pPr>
            <a:endParaRPr lang="ja-JP" altLang="en-US">
              <a:ea typeface="游ゴシック"/>
            </a:endParaRPr>
          </a:p>
        </p:txBody>
      </p:sp>
      <p:grpSp>
        <p:nvGrpSpPr>
          <p:cNvPr id="17" name="グループ化 16">
            <a:extLst>
              <a:ext uri="{FF2B5EF4-FFF2-40B4-BE49-F238E27FC236}">
                <a16:creationId xmlns:a16="http://schemas.microsoft.com/office/drawing/2014/main" id="{5B413CF6-A397-21B3-39AE-F95C23D6C075}"/>
              </a:ext>
            </a:extLst>
          </p:cNvPr>
          <p:cNvGrpSpPr/>
          <p:nvPr/>
        </p:nvGrpSpPr>
        <p:grpSpPr>
          <a:xfrm>
            <a:off x="1921851" y="2392063"/>
            <a:ext cx="8877436" cy="1030120"/>
            <a:chOff x="835976" y="2234905"/>
            <a:chExt cx="6785374" cy="813938"/>
          </a:xfrm>
        </p:grpSpPr>
        <p:pic>
          <p:nvPicPr>
            <p:cNvPr id="3" name="図 2">
              <a:extLst>
                <a:ext uri="{FF2B5EF4-FFF2-40B4-BE49-F238E27FC236}">
                  <a16:creationId xmlns:a16="http://schemas.microsoft.com/office/drawing/2014/main" id="{461EA9D4-663E-9FE0-0060-0E3F92F07AEA}"/>
                </a:ext>
              </a:extLst>
            </p:cNvPr>
            <p:cNvPicPr>
              <a:picLocks noChangeAspect="1"/>
            </p:cNvPicPr>
            <p:nvPr/>
          </p:nvPicPr>
          <p:blipFill>
            <a:blip r:embed="rId3"/>
            <a:stretch>
              <a:fillRect/>
            </a:stretch>
          </p:blipFill>
          <p:spPr>
            <a:xfrm>
              <a:off x="1007493" y="2234905"/>
              <a:ext cx="5737286" cy="404120"/>
            </a:xfrm>
            <a:prstGeom prst="rect">
              <a:avLst/>
            </a:prstGeom>
          </p:spPr>
        </p:pic>
        <p:sp>
          <p:nvSpPr>
            <p:cNvPr id="15" name="テキスト ボックス 14">
              <a:extLst>
                <a:ext uri="{FF2B5EF4-FFF2-40B4-BE49-F238E27FC236}">
                  <a16:creationId xmlns:a16="http://schemas.microsoft.com/office/drawing/2014/main" id="{96DF4BDF-A334-C0C0-AC54-B89644410F0D}"/>
                </a:ext>
              </a:extLst>
            </p:cNvPr>
            <p:cNvSpPr txBox="1"/>
            <p:nvPr/>
          </p:nvSpPr>
          <p:spPr>
            <a:xfrm>
              <a:off x="835976" y="2684064"/>
              <a:ext cx="6785374" cy="364779"/>
            </a:xfrm>
            <a:prstGeom prst="rect">
              <a:avLst/>
            </a:prstGeom>
            <a:noFill/>
          </p:spPr>
          <p:txBody>
            <a:bodyPr wrap="square">
              <a:spAutoFit/>
            </a:bodyPr>
            <a:lstStyle/>
            <a:p>
              <a:pPr indent="133350">
                <a:spcBef>
                  <a:spcPts val="500"/>
                </a:spcBef>
                <a:buNone/>
              </a:pPr>
              <a:r>
                <a:rPr lang="en-US" altLang="ja-JP" sz="2400" kern="100">
                  <a:solidFill>
                    <a:srgbClr val="000000"/>
                  </a:solidFill>
                  <a:effectLst/>
                  <a:latin typeface="ＭＳ Ｐ明朝" panose="02020600040205080304" pitchFamily="18" charset="-128"/>
                  <a:ea typeface="ＭＳ Ｐ明朝" panose="02020600040205080304" pitchFamily="18" charset="-128"/>
                  <a:cs typeface="Times New Roman" panose="02020603050405020304" pitchFamily="18" charset="0"/>
                </a:rPr>
                <a:t>Ground Truth	</a:t>
              </a:r>
              <a:r>
                <a:rPr lang="ja-JP" altLang="ja-JP" sz="2400" kern="100">
                  <a:solidFill>
                    <a:srgbClr val="000000"/>
                  </a:solidFill>
                  <a:effectLst/>
                  <a:latin typeface="ＭＳ Ｐ明朝" panose="02020600040205080304" pitchFamily="18" charset="-128"/>
                  <a:ea typeface="ＭＳ Ｐ明朝" panose="02020600040205080304" pitchFamily="18" charset="-128"/>
                  <a:cs typeface="Times New Roman" panose="02020603050405020304" pitchFamily="18" charset="0"/>
                </a:rPr>
                <a:t>：</a:t>
              </a:r>
              <a:r>
                <a:rPr lang="en-US" altLang="ja-JP" sz="2400" kern="100">
                  <a:solidFill>
                    <a:srgbClr val="000000"/>
                  </a:solidFill>
                  <a:effectLst/>
                  <a:latin typeface="ＭＳ Ｐ明朝" panose="02020600040205080304" pitchFamily="18" charset="-128"/>
                  <a:ea typeface="ＭＳ Ｐ明朝" panose="02020600040205080304" pitchFamily="18" charset="-128"/>
                  <a:cs typeface="Times New Roman" panose="02020603050405020304" pitchFamily="18" charset="0"/>
                </a:rPr>
                <a:t>come what may, we are never alone when</a:t>
              </a:r>
              <a:endParaRPr lang="ja-JP" altLang="ja-JP" sz="2400" kern="100">
                <a:effectLst/>
                <a:latin typeface="ＭＳ Ｐ明朝" panose="02020600040205080304" pitchFamily="18" charset="-128"/>
                <a:ea typeface="ＭＳ Ｐ明朝" panose="02020600040205080304" pitchFamily="18" charset="-128"/>
                <a:cs typeface="Times New Roman" panose="02020603050405020304" pitchFamily="18" charset="0"/>
              </a:endParaRPr>
            </a:p>
          </p:txBody>
        </p:sp>
      </p:grpSp>
      <p:grpSp>
        <p:nvGrpSpPr>
          <p:cNvPr id="21" name="グループ化 20">
            <a:extLst>
              <a:ext uri="{FF2B5EF4-FFF2-40B4-BE49-F238E27FC236}">
                <a16:creationId xmlns:a16="http://schemas.microsoft.com/office/drawing/2014/main" id="{FA7EC51E-3406-AB56-2AF6-0D66B00E1EB6}"/>
              </a:ext>
            </a:extLst>
          </p:cNvPr>
          <p:cNvGrpSpPr/>
          <p:nvPr/>
        </p:nvGrpSpPr>
        <p:grpSpPr>
          <a:xfrm>
            <a:off x="1735460" y="4636395"/>
            <a:ext cx="9616116" cy="1036860"/>
            <a:chOff x="835976" y="4477141"/>
            <a:chExt cx="8076155" cy="780540"/>
          </a:xfrm>
        </p:grpSpPr>
        <p:pic>
          <p:nvPicPr>
            <p:cNvPr id="16" name="図 15">
              <a:extLst>
                <a:ext uri="{FF2B5EF4-FFF2-40B4-BE49-F238E27FC236}">
                  <a16:creationId xmlns:a16="http://schemas.microsoft.com/office/drawing/2014/main" id="{92478490-88FA-692D-4148-30D7EC68B014}"/>
                </a:ext>
              </a:extLst>
            </p:cNvPr>
            <p:cNvPicPr>
              <a:picLocks noChangeAspect="1"/>
            </p:cNvPicPr>
            <p:nvPr/>
          </p:nvPicPr>
          <p:blipFill>
            <a:blip r:embed="rId4"/>
            <a:stretch>
              <a:fillRect/>
            </a:stretch>
          </p:blipFill>
          <p:spPr>
            <a:xfrm>
              <a:off x="1007492" y="4477141"/>
              <a:ext cx="5971130" cy="282969"/>
            </a:xfrm>
            <a:prstGeom prst="rect">
              <a:avLst/>
            </a:prstGeom>
          </p:spPr>
        </p:pic>
        <p:sp>
          <p:nvSpPr>
            <p:cNvPr id="20" name="テキスト ボックス 19">
              <a:extLst>
                <a:ext uri="{FF2B5EF4-FFF2-40B4-BE49-F238E27FC236}">
                  <a16:creationId xmlns:a16="http://schemas.microsoft.com/office/drawing/2014/main" id="{275D79E9-2638-A282-4B68-156216EC17C3}"/>
                </a:ext>
              </a:extLst>
            </p:cNvPr>
            <p:cNvSpPr txBox="1"/>
            <p:nvPr/>
          </p:nvSpPr>
          <p:spPr>
            <a:xfrm>
              <a:off x="835976" y="4910143"/>
              <a:ext cx="8076155" cy="347538"/>
            </a:xfrm>
            <a:prstGeom prst="rect">
              <a:avLst/>
            </a:prstGeom>
            <a:noFill/>
          </p:spPr>
          <p:txBody>
            <a:bodyPr wrap="square">
              <a:spAutoFit/>
            </a:bodyPr>
            <a:lstStyle/>
            <a:p>
              <a:pPr indent="133350">
                <a:spcBef>
                  <a:spcPts val="500"/>
                </a:spcBef>
                <a:buNone/>
              </a:pPr>
              <a:r>
                <a:rPr lang="en-US" altLang="ja-JP" sz="2400" kern="100">
                  <a:solidFill>
                    <a:srgbClr val="000000"/>
                  </a:solidFill>
                  <a:latin typeface="ＭＳ Ｐ明朝" panose="02020600040205080304" pitchFamily="18" charset="-128"/>
                  <a:ea typeface="ＭＳ Ｐ明朝" panose="02020600040205080304" pitchFamily="18" charset="-128"/>
                  <a:cs typeface="Times New Roman" panose="02020603050405020304" pitchFamily="18" charset="0"/>
                </a:rPr>
                <a:t>Ground Truth	</a:t>
              </a:r>
              <a:r>
                <a:rPr lang="ja-JP" altLang="ja-JP" sz="2400" kern="100">
                  <a:solidFill>
                    <a:srgbClr val="000000"/>
                  </a:solidFill>
                  <a:effectLst/>
                  <a:latin typeface="ＭＳ Ｐ明朝" panose="02020600040205080304" pitchFamily="18" charset="-128"/>
                  <a:ea typeface="ＭＳ Ｐ明朝" panose="02020600040205080304" pitchFamily="18" charset="-128"/>
                  <a:cs typeface="Times New Roman" panose="02020603050405020304" pitchFamily="18" charset="0"/>
                </a:rPr>
                <a:t>：</a:t>
              </a:r>
              <a:r>
                <a:rPr lang="en-US" altLang="ja-JP" sz="2400" kern="100">
                  <a:solidFill>
                    <a:srgbClr val="000000"/>
                  </a:solidFill>
                  <a:effectLst/>
                  <a:latin typeface="ＭＳ Ｐ明朝" panose="02020600040205080304" pitchFamily="18" charset="-128"/>
                  <a:ea typeface="ＭＳ Ｐ明朝" panose="02020600040205080304" pitchFamily="18" charset="-128"/>
                  <a:cs typeface="Times New Roman" panose="02020603050405020304" pitchFamily="18" charset="0"/>
                </a:rPr>
                <a:t>maturity. One remembered that he was a lawyer</a:t>
              </a:r>
              <a:endParaRPr lang="ja-JP" altLang="ja-JP" sz="2400" kern="100">
                <a:effectLst/>
                <a:latin typeface="ＭＳ Ｐ明朝" panose="02020600040205080304" pitchFamily="18" charset="-128"/>
                <a:ea typeface="ＭＳ Ｐ明朝" panose="02020600040205080304" pitchFamily="18" charset="-128"/>
                <a:cs typeface="Times New Roman" panose="02020603050405020304" pitchFamily="18" charset="0"/>
              </a:endParaRPr>
            </a:p>
          </p:txBody>
        </p:sp>
      </p:grpSp>
    </p:spTree>
    <p:extLst>
      <p:ext uri="{BB962C8B-B14F-4D97-AF65-F5344CB8AC3E}">
        <p14:creationId xmlns:p14="http://schemas.microsoft.com/office/powerpoint/2010/main" val="4019038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1548E-6C40-20A7-2722-2BC33DB09FA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6D4EB86-E1C3-4A73-4AC9-EDF964794F98}"/>
              </a:ext>
            </a:extLst>
          </p:cNvPr>
          <p:cNvSpPr>
            <a:spLocks noGrp="1"/>
          </p:cNvSpPr>
          <p:nvPr>
            <p:ph type="title"/>
          </p:nvPr>
        </p:nvSpPr>
        <p:spPr/>
        <p:txBody>
          <a:bodyPr/>
          <a:lstStyle/>
          <a:p>
            <a:pPr>
              <a:lnSpc>
                <a:spcPct val="100000"/>
              </a:lnSpc>
            </a:pPr>
            <a:r>
              <a:rPr kumimoji="1" lang="ja-JP" altLang="en-US" sz="3200">
                <a:ea typeface="游ゴシック Light"/>
              </a:rPr>
              <a:t>実験</a:t>
            </a:r>
            <a:br>
              <a:rPr lang="en-US" altLang="ja-JP"/>
            </a:br>
            <a:r>
              <a:rPr lang="ja-JP" altLang="en-US">
                <a:solidFill>
                  <a:schemeClr val="tx1"/>
                </a:solidFill>
                <a:ea typeface="游ゴシック Light"/>
              </a:rPr>
              <a:t>実験結果</a:t>
            </a:r>
            <a:endParaRPr kumimoji="1" lang="ja-JP" altLang="en-US">
              <a:solidFill>
                <a:schemeClr val="tx1"/>
              </a:solidFill>
              <a:ea typeface="游ゴシック Light"/>
            </a:endParaRPr>
          </a:p>
        </p:txBody>
      </p:sp>
      <p:sp>
        <p:nvSpPr>
          <p:cNvPr id="4" name="スライド番号プレースホルダー 3">
            <a:extLst>
              <a:ext uri="{FF2B5EF4-FFF2-40B4-BE49-F238E27FC236}">
                <a16:creationId xmlns:a16="http://schemas.microsoft.com/office/drawing/2014/main" id="{1EEFA2A9-CF64-C24A-9E53-53AFBB0AFFC4}"/>
              </a:ext>
            </a:extLst>
          </p:cNvPr>
          <p:cNvSpPr>
            <a:spLocks noGrp="1"/>
          </p:cNvSpPr>
          <p:nvPr>
            <p:ph type="sldNum" sz="quarter" idx="12"/>
          </p:nvPr>
        </p:nvSpPr>
        <p:spPr>
          <a:xfrm>
            <a:off x="8629192" y="5432222"/>
            <a:ext cx="3247103" cy="365125"/>
          </a:xfrm>
        </p:spPr>
        <p:txBody>
          <a:bodyPr/>
          <a:lstStyle/>
          <a:p>
            <a:fld id="{397E558F-9F61-480E-94CF-2C9CB5412042}" type="slidenum">
              <a:rPr lang="ja-JP" altLang="en-US" smtClean="0"/>
              <a:pPr/>
              <a:t>29</a:t>
            </a:fld>
            <a:endParaRPr lang="ja-JP" altLang="en-US"/>
          </a:p>
        </p:txBody>
      </p:sp>
      <p:sp>
        <p:nvSpPr>
          <p:cNvPr id="23" name="コンテンツ プレースホルダー 2">
            <a:extLst>
              <a:ext uri="{FF2B5EF4-FFF2-40B4-BE49-F238E27FC236}">
                <a16:creationId xmlns:a16="http://schemas.microsoft.com/office/drawing/2014/main" id="{ED4AF98A-0B45-F2A0-FC0B-588CF6CEF555}"/>
              </a:ext>
            </a:extLst>
          </p:cNvPr>
          <p:cNvSpPr txBox="1">
            <a:spLocks/>
          </p:cNvSpPr>
          <p:nvPr/>
        </p:nvSpPr>
        <p:spPr>
          <a:xfrm>
            <a:off x="840424" y="1619597"/>
            <a:ext cx="10515600" cy="4500000"/>
          </a:xfrm>
          <a:prstGeom prst="rect">
            <a:avLst/>
          </a:prstGeom>
        </p:spPr>
        <p:txBody>
          <a:bodyPr vert="horz" lIns="91440" tIns="45720" rIns="91440" bIns="45720" rtlCol="0" anchor="t">
            <a:normAutofit/>
          </a:bodyPr>
          <a:lstStyle>
            <a:defPPr>
              <a:defRPr lang="ja-JP"/>
            </a:defPPr>
            <a:lvl1pPr marL="228600" indent="-228600" algn="l" defTabSz="914400" rtl="0" eaLnBrk="1" latinLnBrk="0" hangingPunct="1">
              <a:lnSpc>
                <a:spcPct val="90000"/>
              </a:lnSpc>
              <a:spcBef>
                <a:spcPts val="1000"/>
              </a:spcBef>
              <a:buClr>
                <a:schemeClr val="accent5"/>
              </a:buClr>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5">
                  <a:lumMod val="60000"/>
                  <a:lumOff val="40000"/>
                </a:schemeClr>
              </a:buClr>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5">
                  <a:lumMod val="75000"/>
                </a:schemeClr>
              </a:buClr>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5">
                  <a:lumMod val="50000"/>
                </a:schemeClr>
              </a:buClr>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5">
                  <a:lumMod val="50000"/>
                </a:schemeClr>
              </a:buClr>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a:ea typeface="游ゴシック"/>
              </a:rPr>
              <a:t>出力例による本提案手法の有効性確認</a:t>
            </a:r>
            <a:endParaRPr lang="en-US" altLang="ja-JP"/>
          </a:p>
          <a:p>
            <a:pPr marL="0" indent="0">
              <a:buFont typeface="Arial" panose="020B0604020202020204" pitchFamily="34" charset="0"/>
              <a:buNone/>
            </a:pPr>
            <a:endParaRPr lang="ja-JP" altLang="en-US">
              <a:ea typeface="游ゴシック"/>
            </a:endParaRPr>
          </a:p>
          <a:p>
            <a:pPr marL="0" indent="0">
              <a:buNone/>
            </a:pPr>
            <a:endParaRPr lang="ja-JP" altLang="en-US">
              <a:ea typeface="游ゴシック"/>
            </a:endParaRPr>
          </a:p>
        </p:txBody>
      </p:sp>
      <p:grpSp>
        <p:nvGrpSpPr>
          <p:cNvPr id="17" name="グループ化 16">
            <a:extLst>
              <a:ext uri="{FF2B5EF4-FFF2-40B4-BE49-F238E27FC236}">
                <a16:creationId xmlns:a16="http://schemas.microsoft.com/office/drawing/2014/main" id="{4385FAF7-6A78-CC2E-5F76-7E48B1D550B7}"/>
              </a:ext>
            </a:extLst>
          </p:cNvPr>
          <p:cNvGrpSpPr/>
          <p:nvPr/>
        </p:nvGrpSpPr>
        <p:grpSpPr>
          <a:xfrm>
            <a:off x="1921851" y="2392064"/>
            <a:ext cx="8877436" cy="1897025"/>
            <a:chOff x="835976" y="2234905"/>
            <a:chExt cx="6785374" cy="1498913"/>
          </a:xfrm>
        </p:grpSpPr>
        <p:pic>
          <p:nvPicPr>
            <p:cNvPr id="3" name="図 2">
              <a:extLst>
                <a:ext uri="{FF2B5EF4-FFF2-40B4-BE49-F238E27FC236}">
                  <a16:creationId xmlns:a16="http://schemas.microsoft.com/office/drawing/2014/main" id="{406A8051-F987-3080-C8DB-6FABA9BBAC53}"/>
                </a:ext>
              </a:extLst>
            </p:cNvPr>
            <p:cNvPicPr>
              <a:picLocks noChangeAspect="1"/>
            </p:cNvPicPr>
            <p:nvPr/>
          </p:nvPicPr>
          <p:blipFill>
            <a:blip r:embed="rId3"/>
            <a:stretch>
              <a:fillRect/>
            </a:stretch>
          </p:blipFill>
          <p:spPr>
            <a:xfrm>
              <a:off x="1007493" y="2234905"/>
              <a:ext cx="5737286" cy="404120"/>
            </a:xfrm>
            <a:prstGeom prst="rect">
              <a:avLst/>
            </a:prstGeom>
          </p:spPr>
        </p:pic>
        <p:sp>
          <p:nvSpPr>
            <p:cNvPr id="15" name="テキスト ボックス 14">
              <a:extLst>
                <a:ext uri="{FF2B5EF4-FFF2-40B4-BE49-F238E27FC236}">
                  <a16:creationId xmlns:a16="http://schemas.microsoft.com/office/drawing/2014/main" id="{4560D69E-4783-4110-8143-2A1F98F497CD}"/>
                </a:ext>
              </a:extLst>
            </p:cNvPr>
            <p:cNvSpPr txBox="1"/>
            <p:nvPr/>
          </p:nvSpPr>
          <p:spPr>
            <a:xfrm>
              <a:off x="835976" y="2684064"/>
              <a:ext cx="6785374" cy="1049754"/>
            </a:xfrm>
            <a:prstGeom prst="rect">
              <a:avLst/>
            </a:prstGeom>
            <a:noFill/>
          </p:spPr>
          <p:txBody>
            <a:bodyPr wrap="square">
              <a:spAutoFit/>
            </a:bodyPr>
            <a:lstStyle/>
            <a:p>
              <a:pPr indent="133350">
                <a:spcBef>
                  <a:spcPts val="500"/>
                </a:spcBef>
                <a:buNone/>
              </a:pPr>
              <a:r>
                <a:rPr lang="en-US" altLang="ja-JP" sz="2400" kern="100">
                  <a:solidFill>
                    <a:srgbClr val="000000"/>
                  </a:solidFill>
                  <a:effectLst/>
                  <a:latin typeface="ＭＳ Ｐ明朝" panose="02020600040205080304" pitchFamily="18" charset="-128"/>
                  <a:ea typeface="ＭＳ Ｐ明朝" panose="02020600040205080304" pitchFamily="18" charset="-128"/>
                  <a:cs typeface="Times New Roman" panose="02020603050405020304" pitchFamily="18" charset="0"/>
                </a:rPr>
                <a:t>Ground Truth	</a:t>
              </a:r>
              <a:r>
                <a:rPr lang="ja-JP" altLang="ja-JP" sz="2400" kern="100">
                  <a:solidFill>
                    <a:srgbClr val="000000"/>
                  </a:solidFill>
                  <a:effectLst/>
                  <a:latin typeface="ＭＳ Ｐ明朝" panose="02020600040205080304" pitchFamily="18" charset="-128"/>
                  <a:ea typeface="ＭＳ Ｐ明朝" panose="02020600040205080304" pitchFamily="18" charset="-128"/>
                  <a:cs typeface="Times New Roman" panose="02020603050405020304" pitchFamily="18" charset="0"/>
                </a:rPr>
                <a:t>：</a:t>
              </a:r>
              <a:r>
                <a:rPr lang="en-US" altLang="ja-JP" sz="2400" kern="100">
                  <a:solidFill>
                    <a:srgbClr val="000000"/>
                  </a:solidFill>
                  <a:effectLst/>
                  <a:latin typeface="ＭＳ Ｐ明朝" panose="02020600040205080304" pitchFamily="18" charset="-128"/>
                  <a:ea typeface="ＭＳ Ｐ明朝" panose="02020600040205080304" pitchFamily="18" charset="-128"/>
                  <a:cs typeface="Times New Roman" panose="02020603050405020304" pitchFamily="18" charset="0"/>
                </a:rPr>
                <a:t>come what may, we are never alone when</a:t>
              </a:r>
              <a:endParaRPr lang="ja-JP" altLang="ja-JP" sz="2400" kern="100">
                <a:effectLst/>
                <a:latin typeface="ＭＳ Ｐ明朝" panose="02020600040205080304" pitchFamily="18" charset="-128"/>
                <a:ea typeface="ＭＳ Ｐ明朝" panose="02020600040205080304" pitchFamily="18" charset="-128"/>
                <a:cs typeface="Times New Roman" panose="02020603050405020304" pitchFamily="18" charset="0"/>
              </a:endParaRPr>
            </a:p>
            <a:p>
              <a:pPr indent="133350">
                <a:spcBef>
                  <a:spcPts val="500"/>
                </a:spcBef>
                <a:buNone/>
              </a:pPr>
              <a:r>
                <a:rPr lang="en-US" altLang="ja-JP" sz="2400" kern="100">
                  <a:solidFill>
                    <a:schemeClr val="accent5"/>
                  </a:solidFill>
                  <a:latin typeface="ＭＳ Ｐ明朝" panose="02020600040205080304" pitchFamily="18" charset="-128"/>
                  <a:ea typeface="ＭＳ Ｐ明朝" panose="02020600040205080304" pitchFamily="18" charset="-128"/>
                  <a:cs typeface="Times New Roman" panose="02020603050405020304" pitchFamily="18" charset="0"/>
                </a:rPr>
                <a:t>Baseline</a:t>
              </a:r>
              <a:r>
                <a:rPr lang="en-US" altLang="ja-JP" sz="2400" kern="100">
                  <a:solidFill>
                    <a:srgbClr val="000000"/>
                  </a:solidFill>
                  <a:latin typeface="ＭＳ Ｐ明朝" panose="02020600040205080304" pitchFamily="18" charset="-128"/>
                  <a:ea typeface="ＭＳ Ｐ明朝" panose="02020600040205080304" pitchFamily="18" charset="-128"/>
                  <a:cs typeface="Times New Roman" panose="02020603050405020304" pitchFamily="18" charset="0"/>
                </a:rPr>
                <a:t>		</a:t>
              </a:r>
              <a:r>
                <a:rPr lang="ja-JP" altLang="ja-JP" sz="2400" kern="100">
                  <a:solidFill>
                    <a:srgbClr val="000000"/>
                  </a:solidFill>
                  <a:effectLst/>
                  <a:latin typeface="ＭＳ Ｐ明朝" panose="02020600040205080304" pitchFamily="18" charset="-128"/>
                  <a:ea typeface="ＭＳ Ｐ明朝" panose="02020600040205080304" pitchFamily="18" charset="-128"/>
                  <a:cs typeface="Times New Roman" panose="02020603050405020304" pitchFamily="18" charset="0"/>
                </a:rPr>
                <a:t>：</a:t>
              </a:r>
              <a:r>
                <a:rPr lang="en-US" altLang="ja-JP" sz="2400" kern="100" err="1">
                  <a:solidFill>
                    <a:srgbClr val="000000"/>
                  </a:solidFill>
                  <a:effectLst/>
                  <a:latin typeface="ＭＳ Ｐ明朝" panose="02020600040205080304" pitchFamily="18" charset="-128"/>
                  <a:ea typeface="ＭＳ Ｐ明朝" panose="02020600040205080304" pitchFamily="18" charset="-128"/>
                  <a:cs typeface="Times New Roman" panose="02020603050405020304" pitchFamily="18" charset="0"/>
                </a:rPr>
                <a:t>com</a:t>
              </a:r>
              <a:r>
                <a:rPr lang="en-US" altLang="ja-JP" sz="2400" b="1" kern="100" err="1">
                  <a:solidFill>
                    <a:schemeClr val="accent5"/>
                  </a:solidFill>
                  <a:effectLst/>
                  <a:latin typeface="ＭＳ Ｐ明朝" panose="02020600040205080304" pitchFamily="18" charset="-128"/>
                  <a:ea typeface="ＭＳ Ｐ明朝" panose="02020600040205080304" pitchFamily="18" charset="-128"/>
                  <a:cs typeface="Times New Roman" panose="02020603050405020304" pitchFamily="18" charset="0"/>
                </a:rPr>
                <a:t>s</a:t>
              </a:r>
              <a:r>
                <a:rPr lang="en-US" altLang="ja-JP" sz="2400" kern="100" err="1">
                  <a:solidFill>
                    <a:srgbClr val="000000"/>
                  </a:solidFill>
                  <a:effectLst/>
                  <a:latin typeface="ＭＳ Ｐ明朝" panose="02020600040205080304" pitchFamily="18" charset="-128"/>
                  <a:ea typeface="ＭＳ Ｐ明朝" panose="02020600040205080304" pitchFamily="18" charset="-128"/>
                  <a:cs typeface="Times New Roman" panose="02020603050405020304" pitchFamily="18" charset="0"/>
                </a:rPr>
                <a:t>e</a:t>
              </a:r>
              <a:r>
                <a:rPr lang="en-US" altLang="ja-JP" sz="2400" kern="100">
                  <a:solidFill>
                    <a:srgbClr val="000000"/>
                  </a:solidFill>
                  <a:effectLst/>
                  <a:latin typeface="ＭＳ Ｐ明朝" panose="02020600040205080304" pitchFamily="18" charset="-128"/>
                  <a:ea typeface="ＭＳ Ｐ明朝" panose="02020600040205080304" pitchFamily="18" charset="-128"/>
                  <a:cs typeface="Times New Roman" panose="02020603050405020304" pitchFamily="18" charset="0"/>
                </a:rPr>
                <a:t> </a:t>
              </a:r>
              <a:r>
                <a:rPr lang="en-US" altLang="ja-JP" sz="2400" kern="100" err="1">
                  <a:solidFill>
                    <a:srgbClr val="000000"/>
                  </a:solidFill>
                  <a:effectLst/>
                  <a:latin typeface="ＭＳ Ｐ明朝" panose="02020600040205080304" pitchFamily="18" charset="-128"/>
                  <a:ea typeface="ＭＳ Ｐ明朝" panose="02020600040205080304" pitchFamily="18" charset="-128"/>
                  <a:cs typeface="Times New Roman" panose="02020603050405020304" pitchFamily="18" charset="0"/>
                </a:rPr>
                <a:t>w</a:t>
              </a:r>
              <a:r>
                <a:rPr lang="en-US" altLang="ja-JP" sz="2400" b="1" kern="100" err="1">
                  <a:solidFill>
                    <a:schemeClr val="accent5"/>
                  </a:solidFill>
                  <a:effectLst/>
                  <a:latin typeface="ＭＳ Ｐ明朝" panose="02020600040205080304" pitchFamily="18" charset="-128"/>
                  <a:ea typeface="ＭＳ Ｐ明朝" panose="02020600040205080304" pitchFamily="18" charset="-128"/>
                  <a:cs typeface="Times New Roman" panose="02020603050405020304" pitchFamily="18" charset="0"/>
                </a:rPr>
                <a:t>l</a:t>
              </a:r>
              <a:r>
                <a:rPr lang="en-US" altLang="ja-JP" sz="2400" kern="100" err="1">
                  <a:solidFill>
                    <a:srgbClr val="000000"/>
                  </a:solidFill>
                  <a:effectLst/>
                  <a:latin typeface="ＭＳ Ｐ明朝" panose="02020600040205080304" pitchFamily="18" charset="-128"/>
                  <a:ea typeface="ＭＳ Ｐ明朝" panose="02020600040205080304" pitchFamily="18" charset="-128"/>
                  <a:cs typeface="Times New Roman" panose="02020603050405020304" pitchFamily="18" charset="0"/>
                </a:rPr>
                <a:t>at</a:t>
              </a:r>
              <a:r>
                <a:rPr lang="en-US" altLang="ja-JP" sz="2400" kern="100">
                  <a:solidFill>
                    <a:srgbClr val="000000"/>
                  </a:solidFill>
                  <a:effectLst/>
                  <a:latin typeface="ＭＳ Ｐ明朝" panose="02020600040205080304" pitchFamily="18" charset="-128"/>
                  <a:ea typeface="ＭＳ Ｐ明朝" panose="02020600040205080304" pitchFamily="18" charset="-128"/>
                  <a:cs typeface="Times New Roman" panose="02020603050405020304" pitchFamily="18" charset="0"/>
                </a:rPr>
                <a:t> may, we are never </a:t>
              </a:r>
              <a:r>
                <a:rPr lang="en-US" altLang="ja-JP" sz="2400" b="1" kern="100" err="1">
                  <a:solidFill>
                    <a:schemeClr val="accent5"/>
                  </a:solidFill>
                  <a:effectLst/>
                  <a:latin typeface="ＭＳ Ｐ明朝" panose="02020600040205080304" pitchFamily="18" charset="-128"/>
                  <a:ea typeface="ＭＳ Ｐ明朝" panose="02020600040205080304" pitchFamily="18" charset="-128"/>
                  <a:cs typeface="Times New Roman" panose="02020603050405020304" pitchFamily="18" charset="0"/>
                </a:rPr>
                <a:t>obome</a:t>
              </a:r>
              <a:r>
                <a:rPr lang="en-US" altLang="ja-JP" sz="2400" kern="100">
                  <a:solidFill>
                    <a:schemeClr val="accent5"/>
                  </a:solidFill>
                  <a:effectLst/>
                  <a:latin typeface="ＭＳ Ｐ明朝" panose="02020600040205080304" pitchFamily="18" charset="-128"/>
                  <a:ea typeface="ＭＳ Ｐ明朝" panose="02020600040205080304" pitchFamily="18" charset="-128"/>
                  <a:cs typeface="Times New Roman" panose="02020603050405020304" pitchFamily="18" charset="0"/>
                </a:rPr>
                <a:t> </a:t>
              </a:r>
              <a:r>
                <a:rPr lang="en-US" altLang="ja-JP" sz="2400" b="1" kern="100" err="1">
                  <a:solidFill>
                    <a:schemeClr val="accent5"/>
                  </a:solidFill>
                  <a:effectLst/>
                  <a:latin typeface="ＭＳ Ｐ明朝" panose="02020600040205080304" pitchFamily="18" charset="-128"/>
                  <a:ea typeface="ＭＳ Ｐ明朝" panose="02020600040205080304" pitchFamily="18" charset="-128"/>
                  <a:cs typeface="Times New Roman" panose="02020603050405020304" pitchFamily="18" charset="0"/>
                </a:rPr>
                <a:t>wlren</a:t>
              </a:r>
              <a:endParaRPr lang="ja-JP" altLang="ja-JP" sz="2400" kern="100">
                <a:solidFill>
                  <a:schemeClr val="accent5"/>
                </a:solidFill>
                <a:effectLst/>
                <a:latin typeface="ＭＳ Ｐ明朝" panose="02020600040205080304" pitchFamily="18" charset="-128"/>
                <a:ea typeface="ＭＳ Ｐ明朝" panose="02020600040205080304" pitchFamily="18" charset="-128"/>
                <a:cs typeface="Times New Roman" panose="02020603050405020304" pitchFamily="18" charset="0"/>
              </a:endParaRPr>
            </a:p>
            <a:p>
              <a:pPr indent="133350">
                <a:spcBef>
                  <a:spcPts val="500"/>
                </a:spcBef>
                <a:buNone/>
              </a:pPr>
              <a:endParaRPr lang="ja-JP" altLang="ja-JP" sz="2400" kern="100">
                <a:effectLst/>
                <a:latin typeface="ＭＳ Ｐ明朝" panose="02020600040205080304" pitchFamily="18" charset="-128"/>
                <a:ea typeface="ＭＳ Ｐ明朝" panose="02020600040205080304" pitchFamily="18" charset="-128"/>
                <a:cs typeface="Times New Roman" panose="02020603050405020304" pitchFamily="18" charset="0"/>
              </a:endParaRPr>
            </a:p>
          </p:txBody>
        </p:sp>
      </p:grpSp>
      <p:grpSp>
        <p:nvGrpSpPr>
          <p:cNvPr id="21" name="グループ化 20">
            <a:extLst>
              <a:ext uri="{FF2B5EF4-FFF2-40B4-BE49-F238E27FC236}">
                <a16:creationId xmlns:a16="http://schemas.microsoft.com/office/drawing/2014/main" id="{A1B82F28-F10F-453C-1A2E-00BE27E602F6}"/>
              </a:ext>
            </a:extLst>
          </p:cNvPr>
          <p:cNvGrpSpPr/>
          <p:nvPr/>
        </p:nvGrpSpPr>
        <p:grpSpPr>
          <a:xfrm>
            <a:off x="1735460" y="4636392"/>
            <a:ext cx="9616116" cy="1470311"/>
            <a:chOff x="835976" y="4477141"/>
            <a:chExt cx="8076155" cy="1106839"/>
          </a:xfrm>
        </p:grpSpPr>
        <p:pic>
          <p:nvPicPr>
            <p:cNvPr id="16" name="図 15">
              <a:extLst>
                <a:ext uri="{FF2B5EF4-FFF2-40B4-BE49-F238E27FC236}">
                  <a16:creationId xmlns:a16="http://schemas.microsoft.com/office/drawing/2014/main" id="{ECF03F74-1722-09E0-1277-FD95A3BE4862}"/>
                </a:ext>
              </a:extLst>
            </p:cNvPr>
            <p:cNvPicPr>
              <a:picLocks noChangeAspect="1"/>
            </p:cNvPicPr>
            <p:nvPr/>
          </p:nvPicPr>
          <p:blipFill>
            <a:blip r:embed="rId4"/>
            <a:stretch>
              <a:fillRect/>
            </a:stretch>
          </p:blipFill>
          <p:spPr>
            <a:xfrm>
              <a:off x="1007492" y="4477141"/>
              <a:ext cx="5971130" cy="282969"/>
            </a:xfrm>
            <a:prstGeom prst="rect">
              <a:avLst/>
            </a:prstGeom>
          </p:spPr>
        </p:pic>
        <p:sp>
          <p:nvSpPr>
            <p:cNvPr id="20" name="テキスト ボックス 19">
              <a:extLst>
                <a:ext uri="{FF2B5EF4-FFF2-40B4-BE49-F238E27FC236}">
                  <a16:creationId xmlns:a16="http://schemas.microsoft.com/office/drawing/2014/main" id="{8D61FEA4-AC00-4CCA-9492-0B48D1643CB3}"/>
                </a:ext>
              </a:extLst>
            </p:cNvPr>
            <p:cNvSpPr txBox="1"/>
            <p:nvPr/>
          </p:nvSpPr>
          <p:spPr>
            <a:xfrm>
              <a:off x="835976" y="4910143"/>
              <a:ext cx="8076155" cy="673837"/>
            </a:xfrm>
            <a:prstGeom prst="rect">
              <a:avLst/>
            </a:prstGeom>
            <a:noFill/>
          </p:spPr>
          <p:txBody>
            <a:bodyPr wrap="square">
              <a:spAutoFit/>
            </a:bodyPr>
            <a:lstStyle/>
            <a:p>
              <a:pPr indent="133350">
                <a:spcBef>
                  <a:spcPts val="500"/>
                </a:spcBef>
                <a:buNone/>
              </a:pPr>
              <a:r>
                <a:rPr lang="en-US" altLang="ja-JP" sz="2400" kern="100">
                  <a:solidFill>
                    <a:srgbClr val="000000"/>
                  </a:solidFill>
                  <a:latin typeface="ＭＳ Ｐ明朝" panose="02020600040205080304" pitchFamily="18" charset="-128"/>
                  <a:ea typeface="ＭＳ Ｐ明朝" panose="02020600040205080304" pitchFamily="18" charset="-128"/>
                  <a:cs typeface="Times New Roman" panose="02020603050405020304" pitchFamily="18" charset="0"/>
                </a:rPr>
                <a:t>Ground Truth	</a:t>
              </a:r>
              <a:r>
                <a:rPr lang="ja-JP" altLang="ja-JP" sz="2400" kern="100">
                  <a:solidFill>
                    <a:srgbClr val="000000"/>
                  </a:solidFill>
                  <a:effectLst/>
                  <a:latin typeface="ＭＳ Ｐ明朝" panose="02020600040205080304" pitchFamily="18" charset="-128"/>
                  <a:ea typeface="ＭＳ Ｐ明朝" panose="02020600040205080304" pitchFamily="18" charset="-128"/>
                  <a:cs typeface="Times New Roman" panose="02020603050405020304" pitchFamily="18" charset="0"/>
                </a:rPr>
                <a:t>：</a:t>
              </a:r>
              <a:r>
                <a:rPr lang="en-US" altLang="ja-JP" sz="2400" kern="100">
                  <a:solidFill>
                    <a:srgbClr val="000000"/>
                  </a:solidFill>
                  <a:effectLst/>
                  <a:latin typeface="ＭＳ Ｐ明朝" panose="02020600040205080304" pitchFamily="18" charset="-128"/>
                  <a:ea typeface="ＭＳ Ｐ明朝" panose="02020600040205080304" pitchFamily="18" charset="-128"/>
                  <a:cs typeface="Times New Roman" panose="02020603050405020304" pitchFamily="18" charset="0"/>
                </a:rPr>
                <a:t>maturity. One remembered that he was a lawyer</a:t>
              </a:r>
              <a:endParaRPr lang="ja-JP" altLang="ja-JP" sz="2400" kern="100">
                <a:effectLst/>
                <a:latin typeface="ＭＳ Ｐ明朝" panose="02020600040205080304" pitchFamily="18" charset="-128"/>
                <a:ea typeface="ＭＳ Ｐ明朝" panose="02020600040205080304" pitchFamily="18" charset="-128"/>
                <a:cs typeface="Times New Roman" panose="02020603050405020304" pitchFamily="18" charset="0"/>
              </a:endParaRPr>
            </a:p>
            <a:p>
              <a:pPr indent="133350">
                <a:spcBef>
                  <a:spcPts val="500"/>
                </a:spcBef>
                <a:buNone/>
              </a:pPr>
              <a:r>
                <a:rPr lang="en-US" altLang="ja-JP" sz="2400" kern="100">
                  <a:solidFill>
                    <a:schemeClr val="accent5"/>
                  </a:solidFill>
                  <a:effectLst/>
                  <a:latin typeface="ＭＳ Ｐ明朝" panose="02020600040205080304" pitchFamily="18" charset="-128"/>
                  <a:ea typeface="ＭＳ Ｐ明朝" panose="02020600040205080304" pitchFamily="18" charset="-128"/>
                  <a:cs typeface="Times New Roman" panose="02020603050405020304" pitchFamily="18" charset="0"/>
                </a:rPr>
                <a:t>Baseline </a:t>
              </a:r>
              <a:r>
                <a:rPr lang="en-US" altLang="ja-JP" sz="2400" kern="100">
                  <a:solidFill>
                    <a:srgbClr val="000000"/>
                  </a:solidFill>
                  <a:effectLst/>
                  <a:latin typeface="ＭＳ Ｐ明朝" panose="02020600040205080304" pitchFamily="18" charset="-128"/>
                  <a:ea typeface="ＭＳ Ｐ明朝" panose="02020600040205080304" pitchFamily="18" charset="-128"/>
                  <a:cs typeface="Times New Roman" panose="02020603050405020304" pitchFamily="18" charset="0"/>
                </a:rPr>
                <a:t>		</a:t>
              </a:r>
              <a:r>
                <a:rPr lang="ja-JP" altLang="ja-JP" sz="2400" kern="100">
                  <a:solidFill>
                    <a:srgbClr val="000000"/>
                  </a:solidFill>
                  <a:effectLst/>
                  <a:latin typeface="ＭＳ Ｐ明朝" panose="02020600040205080304" pitchFamily="18" charset="-128"/>
                  <a:ea typeface="ＭＳ Ｐ明朝" panose="02020600040205080304" pitchFamily="18" charset="-128"/>
                  <a:cs typeface="Times New Roman" panose="02020603050405020304" pitchFamily="18" charset="0"/>
                </a:rPr>
                <a:t>：</a:t>
              </a:r>
              <a:r>
                <a:rPr lang="en-US" altLang="ja-JP" sz="2400" kern="100" err="1">
                  <a:solidFill>
                    <a:srgbClr val="000000"/>
                  </a:solidFill>
                  <a:effectLst/>
                  <a:latin typeface="ＭＳ Ｐ明朝" panose="02020600040205080304" pitchFamily="18" charset="-128"/>
                  <a:ea typeface="ＭＳ Ｐ明朝" panose="02020600040205080304" pitchFamily="18" charset="-128"/>
                  <a:cs typeface="Times New Roman" panose="02020603050405020304" pitchFamily="18" charset="0"/>
                </a:rPr>
                <a:t>m</a:t>
              </a:r>
              <a:r>
                <a:rPr lang="en-US" altLang="ja-JP" sz="2400" b="1" kern="100" err="1">
                  <a:solidFill>
                    <a:schemeClr val="accent5"/>
                  </a:solidFill>
                  <a:effectLst/>
                  <a:latin typeface="ＭＳ Ｐ明朝" panose="02020600040205080304" pitchFamily="18" charset="-128"/>
                  <a:ea typeface="ＭＳ Ｐ明朝" panose="02020600040205080304" pitchFamily="18" charset="-128"/>
                  <a:cs typeface="Times New Roman" panose="02020603050405020304" pitchFamily="18" charset="0"/>
                </a:rPr>
                <a:t>n</a:t>
              </a:r>
              <a:r>
                <a:rPr lang="en-US" altLang="ja-JP" sz="2400" kern="100" err="1">
                  <a:solidFill>
                    <a:srgbClr val="000000"/>
                  </a:solidFill>
                  <a:effectLst/>
                  <a:latin typeface="ＭＳ Ｐ明朝" panose="02020600040205080304" pitchFamily="18" charset="-128"/>
                  <a:ea typeface="ＭＳ Ｐ明朝" panose="02020600040205080304" pitchFamily="18" charset="-128"/>
                  <a:cs typeface="Times New Roman" panose="02020603050405020304" pitchFamily="18" charset="0"/>
                </a:rPr>
                <a:t>atu</a:t>
              </a:r>
              <a:r>
                <a:rPr lang="en-US" altLang="ja-JP" sz="2400" b="1" kern="100" err="1">
                  <a:solidFill>
                    <a:schemeClr val="accent5"/>
                  </a:solidFill>
                  <a:effectLst/>
                  <a:latin typeface="ＭＳ Ｐ明朝" panose="02020600040205080304" pitchFamily="18" charset="-128"/>
                  <a:ea typeface="ＭＳ Ｐ明朝" panose="02020600040205080304" pitchFamily="18" charset="-128"/>
                  <a:cs typeface="Times New Roman" panose="02020603050405020304" pitchFamily="18" charset="0"/>
                </a:rPr>
                <a:t>rrty</a:t>
              </a:r>
              <a:r>
                <a:rPr lang="en-US" altLang="ja-JP" sz="2400" kern="100">
                  <a:solidFill>
                    <a:srgbClr val="000000"/>
                  </a:solidFill>
                  <a:effectLst/>
                  <a:latin typeface="ＭＳ Ｐ明朝" panose="02020600040205080304" pitchFamily="18" charset="-128"/>
                  <a:ea typeface="ＭＳ Ｐ明朝" panose="02020600040205080304" pitchFamily="18" charset="-128"/>
                  <a:cs typeface="Times New Roman" panose="02020603050405020304" pitchFamily="18" charset="0"/>
                </a:rPr>
                <a:t>. Ore remembered </a:t>
              </a:r>
              <a:r>
                <a:rPr lang="en-US" altLang="ja-JP" sz="2400" b="1" kern="100" err="1">
                  <a:solidFill>
                    <a:schemeClr val="accent5"/>
                  </a:solidFill>
                  <a:effectLst/>
                  <a:latin typeface="ＭＳ Ｐ明朝" panose="02020600040205080304" pitchFamily="18" charset="-128"/>
                  <a:ea typeface="ＭＳ Ｐ明朝" panose="02020600040205080304" pitchFamily="18" charset="-128"/>
                  <a:cs typeface="Times New Roman" panose="02020603050405020304" pitchFamily="18" charset="0"/>
                </a:rPr>
                <a:t>tt</a:t>
              </a:r>
              <a:r>
                <a:rPr lang="en-US" altLang="ja-JP" sz="2400" kern="100" err="1">
                  <a:solidFill>
                    <a:srgbClr val="000000"/>
                  </a:solidFill>
                  <a:effectLst/>
                  <a:latin typeface="ＭＳ Ｐ明朝" panose="02020600040205080304" pitchFamily="18" charset="-128"/>
                  <a:ea typeface="ＭＳ Ｐ明朝" panose="02020600040205080304" pitchFamily="18" charset="-128"/>
                  <a:cs typeface="Times New Roman" panose="02020603050405020304" pitchFamily="18" charset="0"/>
                </a:rPr>
                <a:t>hat</a:t>
              </a:r>
              <a:r>
                <a:rPr lang="en-US" altLang="ja-JP" sz="2400" kern="100">
                  <a:solidFill>
                    <a:srgbClr val="000000"/>
                  </a:solidFill>
                  <a:effectLst/>
                  <a:latin typeface="ＭＳ Ｐ明朝" panose="02020600040205080304" pitchFamily="18" charset="-128"/>
                  <a:ea typeface="ＭＳ Ｐ明朝" panose="02020600040205080304" pitchFamily="18" charset="-128"/>
                  <a:cs typeface="Times New Roman" panose="02020603050405020304" pitchFamily="18" charset="0"/>
                </a:rPr>
                <a:t> he </a:t>
              </a:r>
              <a:r>
                <a:rPr lang="en-US" altLang="ja-JP" sz="2400" kern="100" err="1">
                  <a:solidFill>
                    <a:srgbClr val="000000"/>
                  </a:solidFill>
                  <a:effectLst/>
                  <a:latin typeface="ＭＳ Ｐ明朝" panose="02020600040205080304" pitchFamily="18" charset="-128"/>
                  <a:ea typeface="ＭＳ Ｐ明朝" panose="02020600040205080304" pitchFamily="18" charset="-128"/>
                  <a:cs typeface="Times New Roman" panose="02020603050405020304" pitchFamily="18" charset="0"/>
                </a:rPr>
                <a:t>w</a:t>
              </a:r>
              <a:r>
                <a:rPr lang="en-US" altLang="ja-JP" sz="2400" b="1" kern="100" err="1">
                  <a:solidFill>
                    <a:schemeClr val="accent5"/>
                  </a:solidFill>
                  <a:effectLst/>
                  <a:latin typeface="ＭＳ Ｐ明朝" panose="02020600040205080304" pitchFamily="18" charset="-128"/>
                  <a:ea typeface="ＭＳ Ｐ明朝" panose="02020600040205080304" pitchFamily="18" charset="-128"/>
                  <a:cs typeface="Times New Roman" panose="02020603050405020304" pitchFamily="18" charset="0"/>
                </a:rPr>
                <a:t>o</a:t>
              </a:r>
              <a:r>
                <a:rPr lang="en-US" altLang="ja-JP" sz="2400" kern="100" err="1">
                  <a:solidFill>
                    <a:srgbClr val="000000"/>
                  </a:solidFill>
                  <a:effectLst/>
                  <a:latin typeface="ＭＳ Ｐ明朝" panose="02020600040205080304" pitchFamily="18" charset="-128"/>
                  <a:ea typeface="ＭＳ Ｐ明朝" panose="02020600040205080304" pitchFamily="18" charset="-128"/>
                  <a:cs typeface="Times New Roman" panose="02020603050405020304" pitchFamily="18" charset="0"/>
                </a:rPr>
                <a:t>s</a:t>
              </a:r>
              <a:r>
                <a:rPr lang="en-US" altLang="ja-JP" sz="2400" kern="100">
                  <a:solidFill>
                    <a:srgbClr val="000000"/>
                  </a:solidFill>
                  <a:effectLst/>
                  <a:latin typeface="ＭＳ Ｐ明朝" panose="02020600040205080304" pitchFamily="18" charset="-128"/>
                  <a:ea typeface="ＭＳ Ｐ明朝" panose="02020600040205080304" pitchFamily="18" charset="-128"/>
                  <a:cs typeface="Times New Roman" panose="02020603050405020304" pitchFamily="18" charset="0"/>
                </a:rPr>
                <a:t> a </a:t>
              </a:r>
              <a:r>
                <a:rPr lang="en-US" altLang="ja-JP" sz="2400" kern="100" err="1">
                  <a:solidFill>
                    <a:srgbClr val="000000"/>
                  </a:solidFill>
                  <a:effectLst/>
                  <a:latin typeface="ＭＳ Ｐ明朝" panose="02020600040205080304" pitchFamily="18" charset="-128"/>
                  <a:ea typeface="ＭＳ Ｐ明朝" panose="02020600040205080304" pitchFamily="18" charset="-128"/>
                  <a:cs typeface="Times New Roman" panose="02020603050405020304" pitchFamily="18" charset="0"/>
                </a:rPr>
                <a:t>l</a:t>
              </a:r>
              <a:r>
                <a:rPr lang="en-US" altLang="ja-JP" sz="2400" b="1" kern="100" err="1">
                  <a:solidFill>
                    <a:schemeClr val="accent5"/>
                  </a:solidFill>
                  <a:effectLst/>
                  <a:latin typeface="ＭＳ Ｐ明朝" panose="02020600040205080304" pitchFamily="18" charset="-128"/>
                  <a:ea typeface="ＭＳ Ｐ明朝" panose="02020600040205080304" pitchFamily="18" charset="-128"/>
                  <a:cs typeface="Times New Roman" panose="02020603050405020304" pitchFamily="18" charset="0"/>
                </a:rPr>
                <a:t>o</a:t>
              </a:r>
              <a:r>
                <a:rPr lang="en-US" altLang="ja-JP" sz="2400" kern="100" err="1">
                  <a:solidFill>
                    <a:srgbClr val="000000"/>
                  </a:solidFill>
                  <a:effectLst/>
                  <a:latin typeface="ＭＳ Ｐ明朝" panose="02020600040205080304" pitchFamily="18" charset="-128"/>
                  <a:ea typeface="ＭＳ Ｐ明朝" panose="02020600040205080304" pitchFamily="18" charset="-128"/>
                  <a:cs typeface="Times New Roman" panose="02020603050405020304" pitchFamily="18" charset="0"/>
                </a:rPr>
                <a:t>wyer</a:t>
              </a:r>
              <a:endParaRPr lang="ja-JP" altLang="ja-JP" sz="2400" kern="100">
                <a:effectLst/>
                <a:latin typeface="ＭＳ Ｐ明朝" panose="02020600040205080304" pitchFamily="18" charset="-128"/>
                <a:ea typeface="ＭＳ Ｐ明朝" panose="02020600040205080304" pitchFamily="18" charset="-128"/>
                <a:cs typeface="Times New Roman" panose="02020603050405020304" pitchFamily="18" charset="0"/>
              </a:endParaRPr>
            </a:p>
          </p:txBody>
        </p:sp>
      </p:grpSp>
      <p:cxnSp>
        <p:nvCxnSpPr>
          <p:cNvPr id="8" name="直線コネクタ 7">
            <a:extLst>
              <a:ext uri="{FF2B5EF4-FFF2-40B4-BE49-F238E27FC236}">
                <a16:creationId xmlns:a16="http://schemas.microsoft.com/office/drawing/2014/main" id="{1F4D4D0D-437E-270A-9BD5-EEBB793C07F9}"/>
              </a:ext>
            </a:extLst>
          </p:cNvPr>
          <p:cNvCxnSpPr>
            <a:cxnSpLocks/>
          </p:cNvCxnSpPr>
          <p:nvPr/>
        </p:nvCxnSpPr>
        <p:spPr>
          <a:xfrm>
            <a:off x="4892634" y="3800104"/>
            <a:ext cx="2006930" cy="0"/>
          </a:xfrm>
          <a:prstGeom prst="line">
            <a:avLst/>
          </a:prstGeom>
          <a:ln w="38100">
            <a:solidFill>
              <a:srgbClr val="FF0000"/>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4452067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2494C-F267-168A-2858-40380DDF513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F13DE51-B693-9681-CDDE-B24E1213142E}"/>
              </a:ext>
            </a:extLst>
          </p:cNvPr>
          <p:cNvSpPr>
            <a:spLocks noGrp="1"/>
          </p:cNvSpPr>
          <p:nvPr>
            <p:ph type="title"/>
          </p:nvPr>
        </p:nvSpPr>
        <p:spPr/>
        <p:txBody>
          <a:bodyPr/>
          <a:lstStyle/>
          <a:p>
            <a:pPr>
              <a:lnSpc>
                <a:spcPct val="100000"/>
              </a:lnSpc>
            </a:pPr>
            <a:r>
              <a:rPr kumimoji="1" lang="ja-JP" altLang="en-US" sz="3200">
                <a:ea typeface="游ゴシック Light"/>
              </a:rPr>
              <a:t>実験</a:t>
            </a:r>
            <a:br>
              <a:rPr lang="en-US" altLang="ja-JP"/>
            </a:br>
            <a:r>
              <a:rPr lang="ja-JP" altLang="en-US">
                <a:solidFill>
                  <a:schemeClr val="tx1"/>
                </a:solidFill>
                <a:ea typeface="游ゴシック Light"/>
              </a:rPr>
              <a:t>実験結果</a:t>
            </a:r>
            <a:endParaRPr kumimoji="1" lang="ja-JP" altLang="en-US">
              <a:solidFill>
                <a:schemeClr val="tx1"/>
              </a:solidFill>
              <a:ea typeface="游ゴシック Light"/>
            </a:endParaRPr>
          </a:p>
        </p:txBody>
      </p:sp>
      <p:sp>
        <p:nvSpPr>
          <p:cNvPr id="4" name="スライド番号プレースホルダー 3">
            <a:extLst>
              <a:ext uri="{FF2B5EF4-FFF2-40B4-BE49-F238E27FC236}">
                <a16:creationId xmlns:a16="http://schemas.microsoft.com/office/drawing/2014/main" id="{8B5BE30F-8447-B8CF-2D67-CD58D045A3E3}"/>
              </a:ext>
            </a:extLst>
          </p:cNvPr>
          <p:cNvSpPr>
            <a:spLocks noGrp="1"/>
          </p:cNvSpPr>
          <p:nvPr>
            <p:ph type="sldNum" sz="quarter" idx="12"/>
          </p:nvPr>
        </p:nvSpPr>
        <p:spPr>
          <a:xfrm>
            <a:off x="8629192" y="5432222"/>
            <a:ext cx="3247103" cy="365125"/>
          </a:xfrm>
        </p:spPr>
        <p:txBody>
          <a:bodyPr/>
          <a:lstStyle/>
          <a:p>
            <a:fld id="{397E558F-9F61-480E-94CF-2C9CB5412042}" type="slidenum">
              <a:rPr lang="ja-JP" altLang="en-US" smtClean="0"/>
              <a:pPr/>
              <a:t>30</a:t>
            </a:fld>
            <a:endParaRPr lang="ja-JP" altLang="en-US"/>
          </a:p>
        </p:txBody>
      </p:sp>
      <p:sp>
        <p:nvSpPr>
          <p:cNvPr id="23" name="コンテンツ プレースホルダー 2">
            <a:extLst>
              <a:ext uri="{FF2B5EF4-FFF2-40B4-BE49-F238E27FC236}">
                <a16:creationId xmlns:a16="http://schemas.microsoft.com/office/drawing/2014/main" id="{61102E13-54EA-DC87-4061-56075479277B}"/>
              </a:ext>
            </a:extLst>
          </p:cNvPr>
          <p:cNvSpPr txBox="1">
            <a:spLocks/>
          </p:cNvSpPr>
          <p:nvPr/>
        </p:nvSpPr>
        <p:spPr>
          <a:xfrm>
            <a:off x="840424" y="1619597"/>
            <a:ext cx="10515600" cy="4500000"/>
          </a:xfrm>
          <a:prstGeom prst="rect">
            <a:avLst/>
          </a:prstGeom>
        </p:spPr>
        <p:txBody>
          <a:bodyPr vert="horz" lIns="91440" tIns="45720" rIns="91440" bIns="45720" rtlCol="0" anchor="t">
            <a:normAutofit/>
          </a:bodyPr>
          <a:lstStyle>
            <a:defPPr>
              <a:defRPr lang="ja-JP"/>
            </a:defPPr>
            <a:lvl1pPr marL="228600" indent="-228600" algn="l" defTabSz="914400" rtl="0" eaLnBrk="1" latinLnBrk="0" hangingPunct="1">
              <a:lnSpc>
                <a:spcPct val="90000"/>
              </a:lnSpc>
              <a:spcBef>
                <a:spcPts val="1000"/>
              </a:spcBef>
              <a:buClr>
                <a:schemeClr val="accent5"/>
              </a:buClr>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5">
                  <a:lumMod val="60000"/>
                  <a:lumOff val="40000"/>
                </a:schemeClr>
              </a:buClr>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5">
                  <a:lumMod val="75000"/>
                </a:schemeClr>
              </a:buClr>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5">
                  <a:lumMod val="50000"/>
                </a:schemeClr>
              </a:buClr>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5">
                  <a:lumMod val="50000"/>
                </a:schemeClr>
              </a:buClr>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a:ea typeface="游ゴシック"/>
              </a:rPr>
              <a:t>出力例による本提案手法の有効性確認</a:t>
            </a:r>
            <a:endParaRPr lang="en-US" altLang="ja-JP"/>
          </a:p>
          <a:p>
            <a:pPr marL="0" indent="0">
              <a:buFont typeface="Arial" panose="020B0604020202020204" pitchFamily="34" charset="0"/>
              <a:buNone/>
            </a:pPr>
            <a:endParaRPr lang="ja-JP" altLang="en-US">
              <a:ea typeface="游ゴシック"/>
            </a:endParaRPr>
          </a:p>
          <a:p>
            <a:pPr marL="0" indent="0">
              <a:buNone/>
            </a:pPr>
            <a:endParaRPr lang="ja-JP" altLang="en-US">
              <a:ea typeface="游ゴシック"/>
            </a:endParaRPr>
          </a:p>
        </p:txBody>
      </p:sp>
      <p:grpSp>
        <p:nvGrpSpPr>
          <p:cNvPr id="17" name="グループ化 16">
            <a:extLst>
              <a:ext uri="{FF2B5EF4-FFF2-40B4-BE49-F238E27FC236}">
                <a16:creationId xmlns:a16="http://schemas.microsoft.com/office/drawing/2014/main" id="{C0FEAAD6-BFB9-13EB-2767-DDC974E3F626}"/>
              </a:ext>
            </a:extLst>
          </p:cNvPr>
          <p:cNvGrpSpPr/>
          <p:nvPr/>
        </p:nvGrpSpPr>
        <p:grpSpPr>
          <a:xfrm>
            <a:off x="1921851" y="2392064"/>
            <a:ext cx="8877436" cy="1897025"/>
            <a:chOff x="835976" y="2234905"/>
            <a:chExt cx="6785374" cy="1498913"/>
          </a:xfrm>
        </p:grpSpPr>
        <p:pic>
          <p:nvPicPr>
            <p:cNvPr id="3" name="図 2">
              <a:extLst>
                <a:ext uri="{FF2B5EF4-FFF2-40B4-BE49-F238E27FC236}">
                  <a16:creationId xmlns:a16="http://schemas.microsoft.com/office/drawing/2014/main" id="{064EE7EA-D6E9-6966-0A33-251FEDE13A7E}"/>
                </a:ext>
              </a:extLst>
            </p:cNvPr>
            <p:cNvPicPr>
              <a:picLocks noChangeAspect="1"/>
            </p:cNvPicPr>
            <p:nvPr/>
          </p:nvPicPr>
          <p:blipFill>
            <a:blip r:embed="rId3"/>
            <a:stretch>
              <a:fillRect/>
            </a:stretch>
          </p:blipFill>
          <p:spPr>
            <a:xfrm>
              <a:off x="1007493" y="2234905"/>
              <a:ext cx="5737286" cy="404120"/>
            </a:xfrm>
            <a:prstGeom prst="rect">
              <a:avLst/>
            </a:prstGeom>
          </p:spPr>
        </p:pic>
        <p:sp>
          <p:nvSpPr>
            <p:cNvPr id="15" name="テキスト ボックス 14">
              <a:extLst>
                <a:ext uri="{FF2B5EF4-FFF2-40B4-BE49-F238E27FC236}">
                  <a16:creationId xmlns:a16="http://schemas.microsoft.com/office/drawing/2014/main" id="{0E61ED65-80C1-5746-1236-698C266FEEAD}"/>
                </a:ext>
              </a:extLst>
            </p:cNvPr>
            <p:cNvSpPr txBox="1"/>
            <p:nvPr/>
          </p:nvSpPr>
          <p:spPr>
            <a:xfrm>
              <a:off x="835976" y="2684064"/>
              <a:ext cx="6785374" cy="1049754"/>
            </a:xfrm>
            <a:prstGeom prst="rect">
              <a:avLst/>
            </a:prstGeom>
            <a:noFill/>
          </p:spPr>
          <p:txBody>
            <a:bodyPr wrap="square">
              <a:spAutoFit/>
            </a:bodyPr>
            <a:lstStyle/>
            <a:p>
              <a:pPr indent="133350">
                <a:spcBef>
                  <a:spcPts val="500"/>
                </a:spcBef>
                <a:buNone/>
              </a:pPr>
              <a:r>
                <a:rPr lang="en-US" altLang="ja-JP" sz="2400" kern="100">
                  <a:solidFill>
                    <a:srgbClr val="000000"/>
                  </a:solidFill>
                  <a:effectLst/>
                  <a:latin typeface="ＭＳ Ｐ明朝" panose="02020600040205080304" pitchFamily="18" charset="-128"/>
                  <a:ea typeface="ＭＳ Ｐ明朝" panose="02020600040205080304" pitchFamily="18" charset="-128"/>
                  <a:cs typeface="Times New Roman" panose="02020603050405020304" pitchFamily="18" charset="0"/>
                </a:rPr>
                <a:t>Ground Truth	</a:t>
              </a:r>
              <a:r>
                <a:rPr lang="ja-JP" altLang="ja-JP" sz="2400" kern="100">
                  <a:solidFill>
                    <a:srgbClr val="000000"/>
                  </a:solidFill>
                  <a:effectLst/>
                  <a:latin typeface="ＭＳ Ｐ明朝" panose="02020600040205080304" pitchFamily="18" charset="-128"/>
                  <a:ea typeface="ＭＳ Ｐ明朝" panose="02020600040205080304" pitchFamily="18" charset="-128"/>
                  <a:cs typeface="Times New Roman" panose="02020603050405020304" pitchFamily="18" charset="0"/>
                </a:rPr>
                <a:t>：</a:t>
              </a:r>
              <a:r>
                <a:rPr lang="en-US" altLang="ja-JP" sz="2400" kern="100">
                  <a:solidFill>
                    <a:srgbClr val="000000"/>
                  </a:solidFill>
                  <a:effectLst/>
                  <a:latin typeface="ＭＳ Ｐ明朝" panose="02020600040205080304" pitchFamily="18" charset="-128"/>
                  <a:ea typeface="ＭＳ Ｐ明朝" panose="02020600040205080304" pitchFamily="18" charset="-128"/>
                  <a:cs typeface="Times New Roman" panose="02020603050405020304" pitchFamily="18" charset="0"/>
                </a:rPr>
                <a:t>come what may, we are never alone when</a:t>
              </a:r>
              <a:endParaRPr lang="ja-JP" altLang="ja-JP" sz="2400" kern="100">
                <a:effectLst/>
                <a:latin typeface="ＭＳ Ｐ明朝" panose="02020600040205080304" pitchFamily="18" charset="-128"/>
                <a:ea typeface="ＭＳ Ｐ明朝" panose="02020600040205080304" pitchFamily="18" charset="-128"/>
                <a:cs typeface="Times New Roman" panose="02020603050405020304" pitchFamily="18" charset="0"/>
              </a:endParaRPr>
            </a:p>
            <a:p>
              <a:pPr indent="133350">
                <a:spcBef>
                  <a:spcPts val="500"/>
                </a:spcBef>
                <a:buNone/>
              </a:pPr>
              <a:r>
                <a:rPr lang="en-US" altLang="ja-JP" sz="2400" kern="100">
                  <a:solidFill>
                    <a:schemeClr val="accent5"/>
                  </a:solidFill>
                  <a:latin typeface="ＭＳ Ｐ明朝" panose="02020600040205080304" pitchFamily="18" charset="-128"/>
                  <a:ea typeface="ＭＳ Ｐ明朝" panose="02020600040205080304" pitchFamily="18" charset="-128"/>
                  <a:cs typeface="Times New Roman" panose="02020603050405020304" pitchFamily="18" charset="0"/>
                </a:rPr>
                <a:t>Baseline</a:t>
              </a:r>
              <a:r>
                <a:rPr lang="en-US" altLang="ja-JP" sz="2400" kern="100">
                  <a:solidFill>
                    <a:srgbClr val="000000"/>
                  </a:solidFill>
                  <a:latin typeface="ＭＳ Ｐ明朝" panose="02020600040205080304" pitchFamily="18" charset="-128"/>
                  <a:ea typeface="ＭＳ Ｐ明朝" panose="02020600040205080304" pitchFamily="18" charset="-128"/>
                  <a:cs typeface="Times New Roman" panose="02020603050405020304" pitchFamily="18" charset="0"/>
                </a:rPr>
                <a:t>		</a:t>
              </a:r>
              <a:r>
                <a:rPr lang="ja-JP" altLang="ja-JP" sz="2400" kern="100">
                  <a:solidFill>
                    <a:srgbClr val="000000"/>
                  </a:solidFill>
                  <a:effectLst/>
                  <a:latin typeface="ＭＳ Ｐ明朝" panose="02020600040205080304" pitchFamily="18" charset="-128"/>
                  <a:ea typeface="ＭＳ Ｐ明朝" panose="02020600040205080304" pitchFamily="18" charset="-128"/>
                  <a:cs typeface="Times New Roman" panose="02020603050405020304" pitchFamily="18" charset="0"/>
                </a:rPr>
                <a:t>：</a:t>
              </a:r>
              <a:r>
                <a:rPr lang="en-US" altLang="ja-JP" sz="2400" kern="100" err="1">
                  <a:solidFill>
                    <a:srgbClr val="000000"/>
                  </a:solidFill>
                  <a:effectLst/>
                  <a:latin typeface="ＭＳ Ｐ明朝" panose="02020600040205080304" pitchFamily="18" charset="-128"/>
                  <a:ea typeface="ＭＳ Ｐ明朝" panose="02020600040205080304" pitchFamily="18" charset="-128"/>
                  <a:cs typeface="Times New Roman" panose="02020603050405020304" pitchFamily="18" charset="0"/>
                </a:rPr>
                <a:t>com</a:t>
              </a:r>
              <a:r>
                <a:rPr lang="en-US" altLang="ja-JP" sz="2400" b="1" kern="100" err="1">
                  <a:solidFill>
                    <a:schemeClr val="accent5"/>
                  </a:solidFill>
                  <a:effectLst/>
                  <a:latin typeface="ＭＳ Ｐ明朝" panose="02020600040205080304" pitchFamily="18" charset="-128"/>
                  <a:ea typeface="ＭＳ Ｐ明朝" panose="02020600040205080304" pitchFamily="18" charset="-128"/>
                  <a:cs typeface="Times New Roman" panose="02020603050405020304" pitchFamily="18" charset="0"/>
                </a:rPr>
                <a:t>s</a:t>
              </a:r>
              <a:r>
                <a:rPr lang="en-US" altLang="ja-JP" sz="2400" kern="100" err="1">
                  <a:solidFill>
                    <a:srgbClr val="000000"/>
                  </a:solidFill>
                  <a:effectLst/>
                  <a:latin typeface="ＭＳ Ｐ明朝" panose="02020600040205080304" pitchFamily="18" charset="-128"/>
                  <a:ea typeface="ＭＳ Ｐ明朝" panose="02020600040205080304" pitchFamily="18" charset="-128"/>
                  <a:cs typeface="Times New Roman" panose="02020603050405020304" pitchFamily="18" charset="0"/>
                </a:rPr>
                <a:t>e</a:t>
              </a:r>
              <a:r>
                <a:rPr lang="en-US" altLang="ja-JP" sz="2400" kern="100">
                  <a:solidFill>
                    <a:srgbClr val="000000"/>
                  </a:solidFill>
                  <a:effectLst/>
                  <a:latin typeface="ＭＳ Ｐ明朝" panose="02020600040205080304" pitchFamily="18" charset="-128"/>
                  <a:ea typeface="ＭＳ Ｐ明朝" panose="02020600040205080304" pitchFamily="18" charset="-128"/>
                  <a:cs typeface="Times New Roman" panose="02020603050405020304" pitchFamily="18" charset="0"/>
                </a:rPr>
                <a:t> </a:t>
              </a:r>
              <a:r>
                <a:rPr lang="en-US" altLang="ja-JP" sz="2400" kern="100" err="1">
                  <a:solidFill>
                    <a:srgbClr val="000000"/>
                  </a:solidFill>
                  <a:effectLst/>
                  <a:latin typeface="ＭＳ Ｐ明朝" panose="02020600040205080304" pitchFamily="18" charset="-128"/>
                  <a:ea typeface="ＭＳ Ｐ明朝" panose="02020600040205080304" pitchFamily="18" charset="-128"/>
                  <a:cs typeface="Times New Roman" panose="02020603050405020304" pitchFamily="18" charset="0"/>
                </a:rPr>
                <a:t>w</a:t>
              </a:r>
              <a:r>
                <a:rPr lang="en-US" altLang="ja-JP" sz="2400" b="1" kern="100" err="1">
                  <a:solidFill>
                    <a:schemeClr val="accent5"/>
                  </a:solidFill>
                  <a:effectLst/>
                  <a:latin typeface="ＭＳ Ｐ明朝" panose="02020600040205080304" pitchFamily="18" charset="-128"/>
                  <a:ea typeface="ＭＳ Ｐ明朝" panose="02020600040205080304" pitchFamily="18" charset="-128"/>
                  <a:cs typeface="Times New Roman" panose="02020603050405020304" pitchFamily="18" charset="0"/>
                </a:rPr>
                <a:t>l</a:t>
              </a:r>
              <a:r>
                <a:rPr lang="en-US" altLang="ja-JP" sz="2400" kern="100" err="1">
                  <a:solidFill>
                    <a:srgbClr val="000000"/>
                  </a:solidFill>
                  <a:effectLst/>
                  <a:latin typeface="ＭＳ Ｐ明朝" panose="02020600040205080304" pitchFamily="18" charset="-128"/>
                  <a:ea typeface="ＭＳ Ｐ明朝" panose="02020600040205080304" pitchFamily="18" charset="-128"/>
                  <a:cs typeface="Times New Roman" panose="02020603050405020304" pitchFamily="18" charset="0"/>
                </a:rPr>
                <a:t>at</a:t>
              </a:r>
              <a:r>
                <a:rPr lang="en-US" altLang="ja-JP" sz="2400" kern="100">
                  <a:solidFill>
                    <a:srgbClr val="000000"/>
                  </a:solidFill>
                  <a:effectLst/>
                  <a:latin typeface="ＭＳ Ｐ明朝" panose="02020600040205080304" pitchFamily="18" charset="-128"/>
                  <a:ea typeface="ＭＳ Ｐ明朝" panose="02020600040205080304" pitchFamily="18" charset="-128"/>
                  <a:cs typeface="Times New Roman" panose="02020603050405020304" pitchFamily="18" charset="0"/>
                </a:rPr>
                <a:t> may, we are never </a:t>
              </a:r>
              <a:r>
                <a:rPr lang="en-US" altLang="ja-JP" sz="2400" b="1" kern="100" err="1">
                  <a:solidFill>
                    <a:schemeClr val="accent5"/>
                  </a:solidFill>
                  <a:effectLst/>
                  <a:latin typeface="ＭＳ Ｐ明朝" panose="02020600040205080304" pitchFamily="18" charset="-128"/>
                  <a:ea typeface="ＭＳ Ｐ明朝" panose="02020600040205080304" pitchFamily="18" charset="-128"/>
                  <a:cs typeface="Times New Roman" panose="02020603050405020304" pitchFamily="18" charset="0"/>
                </a:rPr>
                <a:t>obome</a:t>
              </a:r>
              <a:r>
                <a:rPr lang="en-US" altLang="ja-JP" sz="2400" kern="100">
                  <a:solidFill>
                    <a:schemeClr val="accent5"/>
                  </a:solidFill>
                  <a:effectLst/>
                  <a:latin typeface="ＭＳ Ｐ明朝" panose="02020600040205080304" pitchFamily="18" charset="-128"/>
                  <a:ea typeface="ＭＳ Ｐ明朝" panose="02020600040205080304" pitchFamily="18" charset="-128"/>
                  <a:cs typeface="Times New Roman" panose="02020603050405020304" pitchFamily="18" charset="0"/>
                </a:rPr>
                <a:t> </a:t>
              </a:r>
              <a:r>
                <a:rPr lang="en-US" altLang="ja-JP" sz="2400" b="1" kern="100" err="1">
                  <a:solidFill>
                    <a:schemeClr val="accent5"/>
                  </a:solidFill>
                  <a:effectLst/>
                  <a:latin typeface="ＭＳ Ｐ明朝" panose="02020600040205080304" pitchFamily="18" charset="-128"/>
                  <a:ea typeface="ＭＳ Ｐ明朝" panose="02020600040205080304" pitchFamily="18" charset="-128"/>
                  <a:cs typeface="Times New Roman" panose="02020603050405020304" pitchFamily="18" charset="0"/>
                </a:rPr>
                <a:t>wlren</a:t>
              </a:r>
              <a:endParaRPr lang="ja-JP" altLang="ja-JP" sz="2400" kern="100">
                <a:solidFill>
                  <a:schemeClr val="accent5"/>
                </a:solidFill>
                <a:effectLst/>
                <a:latin typeface="ＭＳ Ｐ明朝" panose="02020600040205080304" pitchFamily="18" charset="-128"/>
                <a:ea typeface="ＭＳ Ｐ明朝" panose="02020600040205080304" pitchFamily="18" charset="-128"/>
                <a:cs typeface="Times New Roman" panose="02020603050405020304" pitchFamily="18" charset="0"/>
              </a:endParaRPr>
            </a:p>
            <a:p>
              <a:pPr indent="133350">
                <a:spcBef>
                  <a:spcPts val="500"/>
                </a:spcBef>
                <a:buNone/>
              </a:pPr>
              <a:r>
                <a:rPr lang="en-US" altLang="ja-JP" sz="2400" kern="100">
                  <a:solidFill>
                    <a:srgbClr val="FF0000"/>
                  </a:solidFill>
                  <a:latin typeface="ＭＳ Ｐ明朝" panose="02020600040205080304" pitchFamily="18" charset="-128"/>
                  <a:ea typeface="ＭＳ Ｐ明朝" panose="02020600040205080304" pitchFamily="18" charset="-128"/>
                  <a:cs typeface="Times New Roman" panose="02020603050405020304" pitchFamily="18" charset="0"/>
                </a:rPr>
                <a:t>Our Method</a:t>
              </a:r>
              <a:r>
                <a:rPr lang="ja-JP" altLang="en-US" sz="2400" b="1" kern="100">
                  <a:solidFill>
                    <a:srgbClr val="FF0000"/>
                  </a:solidFill>
                  <a:effectLst/>
                  <a:latin typeface="ＭＳ Ｐ明朝" panose="02020600040205080304" pitchFamily="18" charset="-128"/>
                  <a:ea typeface="ＭＳ Ｐ明朝" panose="02020600040205080304" pitchFamily="18" charset="-128"/>
                  <a:cs typeface="Times New Roman" panose="02020603050405020304" pitchFamily="18" charset="0"/>
                </a:rPr>
                <a:t>     </a:t>
              </a:r>
              <a:r>
                <a:rPr lang="en-US" altLang="ja-JP" sz="2400" kern="100">
                  <a:solidFill>
                    <a:srgbClr val="000000"/>
                  </a:solidFill>
                  <a:effectLst/>
                  <a:latin typeface="ＭＳ Ｐ明朝" panose="02020600040205080304" pitchFamily="18" charset="-128"/>
                  <a:ea typeface="ＭＳ Ｐ明朝" panose="02020600040205080304" pitchFamily="18" charset="-128"/>
                  <a:cs typeface="Times New Roman" panose="02020603050405020304" pitchFamily="18" charset="0"/>
                </a:rPr>
                <a:t>	</a:t>
              </a:r>
              <a:r>
                <a:rPr lang="ja-JP" altLang="ja-JP" sz="2400" kern="100">
                  <a:solidFill>
                    <a:srgbClr val="000000"/>
                  </a:solidFill>
                  <a:effectLst/>
                  <a:latin typeface="ＭＳ Ｐ明朝" panose="02020600040205080304" pitchFamily="18" charset="-128"/>
                  <a:ea typeface="ＭＳ Ｐ明朝" panose="02020600040205080304" pitchFamily="18" charset="-128"/>
                  <a:cs typeface="Times New Roman" panose="02020603050405020304" pitchFamily="18" charset="0"/>
                </a:rPr>
                <a:t>：</a:t>
              </a:r>
              <a:r>
                <a:rPr lang="en-US" altLang="ja-JP" sz="2400" b="1" kern="100">
                  <a:solidFill>
                    <a:srgbClr val="000000"/>
                  </a:solidFill>
                  <a:effectLst/>
                  <a:latin typeface="ＭＳ Ｐ明朝" panose="02020600040205080304" pitchFamily="18" charset="-128"/>
                  <a:ea typeface="ＭＳ Ｐ明朝" panose="02020600040205080304" pitchFamily="18" charset="-128"/>
                  <a:cs typeface="Times New Roman" panose="02020603050405020304" pitchFamily="18" charset="0"/>
                </a:rPr>
                <a:t>come what may</a:t>
              </a:r>
              <a:r>
                <a:rPr lang="en-US" altLang="ja-JP" sz="2400" kern="100">
                  <a:solidFill>
                    <a:srgbClr val="000000"/>
                  </a:solidFill>
                  <a:effectLst/>
                  <a:latin typeface="ＭＳ Ｐ明朝" panose="02020600040205080304" pitchFamily="18" charset="-128"/>
                  <a:ea typeface="ＭＳ Ｐ明朝" panose="02020600040205080304" pitchFamily="18" charset="-128"/>
                  <a:cs typeface="Times New Roman" panose="02020603050405020304" pitchFamily="18" charset="0"/>
                </a:rPr>
                <a:t>, we are never alone when</a:t>
              </a:r>
              <a:endParaRPr lang="ja-JP" altLang="ja-JP" sz="2400" kern="100">
                <a:effectLst/>
                <a:latin typeface="ＭＳ Ｐ明朝" panose="02020600040205080304" pitchFamily="18" charset="-128"/>
                <a:ea typeface="ＭＳ Ｐ明朝" panose="02020600040205080304" pitchFamily="18" charset="-128"/>
                <a:cs typeface="Times New Roman" panose="02020603050405020304" pitchFamily="18" charset="0"/>
              </a:endParaRPr>
            </a:p>
          </p:txBody>
        </p:sp>
      </p:grpSp>
      <p:grpSp>
        <p:nvGrpSpPr>
          <p:cNvPr id="21" name="グループ化 20">
            <a:extLst>
              <a:ext uri="{FF2B5EF4-FFF2-40B4-BE49-F238E27FC236}">
                <a16:creationId xmlns:a16="http://schemas.microsoft.com/office/drawing/2014/main" id="{C774E92A-A032-B0BA-0BE7-968CE0B7F8A4}"/>
              </a:ext>
            </a:extLst>
          </p:cNvPr>
          <p:cNvGrpSpPr/>
          <p:nvPr/>
        </p:nvGrpSpPr>
        <p:grpSpPr>
          <a:xfrm>
            <a:off x="1735460" y="4636394"/>
            <a:ext cx="9616116" cy="1903763"/>
            <a:chOff x="835976" y="4477141"/>
            <a:chExt cx="8076155" cy="1433138"/>
          </a:xfrm>
        </p:grpSpPr>
        <p:pic>
          <p:nvPicPr>
            <p:cNvPr id="16" name="図 15">
              <a:extLst>
                <a:ext uri="{FF2B5EF4-FFF2-40B4-BE49-F238E27FC236}">
                  <a16:creationId xmlns:a16="http://schemas.microsoft.com/office/drawing/2014/main" id="{B297D066-3848-48CB-63C5-4C821E2A431F}"/>
                </a:ext>
              </a:extLst>
            </p:cNvPr>
            <p:cNvPicPr>
              <a:picLocks noChangeAspect="1"/>
            </p:cNvPicPr>
            <p:nvPr/>
          </p:nvPicPr>
          <p:blipFill>
            <a:blip r:embed="rId4"/>
            <a:stretch>
              <a:fillRect/>
            </a:stretch>
          </p:blipFill>
          <p:spPr>
            <a:xfrm>
              <a:off x="1007492" y="4477141"/>
              <a:ext cx="5971130" cy="282969"/>
            </a:xfrm>
            <a:prstGeom prst="rect">
              <a:avLst/>
            </a:prstGeom>
          </p:spPr>
        </p:pic>
        <p:sp>
          <p:nvSpPr>
            <p:cNvPr id="20" name="テキスト ボックス 19">
              <a:extLst>
                <a:ext uri="{FF2B5EF4-FFF2-40B4-BE49-F238E27FC236}">
                  <a16:creationId xmlns:a16="http://schemas.microsoft.com/office/drawing/2014/main" id="{3673FA0C-A199-6D79-D207-71F99B0FC244}"/>
                </a:ext>
              </a:extLst>
            </p:cNvPr>
            <p:cNvSpPr txBox="1"/>
            <p:nvPr/>
          </p:nvSpPr>
          <p:spPr>
            <a:xfrm>
              <a:off x="835976" y="4910143"/>
              <a:ext cx="8076155" cy="1000136"/>
            </a:xfrm>
            <a:prstGeom prst="rect">
              <a:avLst/>
            </a:prstGeom>
            <a:noFill/>
          </p:spPr>
          <p:txBody>
            <a:bodyPr wrap="square">
              <a:spAutoFit/>
            </a:bodyPr>
            <a:lstStyle/>
            <a:p>
              <a:pPr indent="133350">
                <a:spcBef>
                  <a:spcPts val="500"/>
                </a:spcBef>
                <a:buNone/>
              </a:pPr>
              <a:r>
                <a:rPr lang="en-US" altLang="ja-JP" sz="2400" kern="100">
                  <a:solidFill>
                    <a:srgbClr val="000000"/>
                  </a:solidFill>
                  <a:latin typeface="ＭＳ Ｐ明朝" panose="02020600040205080304" pitchFamily="18" charset="-128"/>
                  <a:ea typeface="ＭＳ Ｐ明朝" panose="02020600040205080304" pitchFamily="18" charset="-128"/>
                  <a:cs typeface="Times New Roman" panose="02020603050405020304" pitchFamily="18" charset="0"/>
                </a:rPr>
                <a:t>Ground Truth	</a:t>
              </a:r>
              <a:r>
                <a:rPr lang="ja-JP" altLang="ja-JP" sz="2400" kern="100">
                  <a:solidFill>
                    <a:srgbClr val="000000"/>
                  </a:solidFill>
                  <a:effectLst/>
                  <a:latin typeface="ＭＳ Ｐ明朝" panose="02020600040205080304" pitchFamily="18" charset="-128"/>
                  <a:ea typeface="ＭＳ Ｐ明朝" panose="02020600040205080304" pitchFamily="18" charset="-128"/>
                  <a:cs typeface="Times New Roman" panose="02020603050405020304" pitchFamily="18" charset="0"/>
                </a:rPr>
                <a:t>：</a:t>
              </a:r>
              <a:r>
                <a:rPr lang="en-US" altLang="ja-JP" sz="2400" kern="100">
                  <a:solidFill>
                    <a:srgbClr val="000000"/>
                  </a:solidFill>
                  <a:effectLst/>
                  <a:latin typeface="ＭＳ Ｐ明朝" panose="02020600040205080304" pitchFamily="18" charset="-128"/>
                  <a:ea typeface="ＭＳ Ｐ明朝" panose="02020600040205080304" pitchFamily="18" charset="-128"/>
                  <a:cs typeface="Times New Roman" panose="02020603050405020304" pitchFamily="18" charset="0"/>
                </a:rPr>
                <a:t>maturity. One remembered that he was a lawyer</a:t>
              </a:r>
              <a:endParaRPr lang="ja-JP" altLang="ja-JP" sz="2400" kern="100">
                <a:effectLst/>
                <a:latin typeface="ＭＳ Ｐ明朝" panose="02020600040205080304" pitchFamily="18" charset="-128"/>
                <a:ea typeface="ＭＳ Ｐ明朝" panose="02020600040205080304" pitchFamily="18" charset="-128"/>
                <a:cs typeface="Times New Roman" panose="02020603050405020304" pitchFamily="18" charset="0"/>
              </a:endParaRPr>
            </a:p>
            <a:p>
              <a:pPr indent="133350">
                <a:spcBef>
                  <a:spcPts val="500"/>
                </a:spcBef>
                <a:buNone/>
              </a:pPr>
              <a:r>
                <a:rPr lang="en-US" altLang="ja-JP" sz="2400" kern="100">
                  <a:solidFill>
                    <a:schemeClr val="accent5"/>
                  </a:solidFill>
                  <a:effectLst/>
                  <a:latin typeface="ＭＳ Ｐ明朝" panose="02020600040205080304" pitchFamily="18" charset="-128"/>
                  <a:ea typeface="ＭＳ Ｐ明朝" panose="02020600040205080304" pitchFamily="18" charset="-128"/>
                  <a:cs typeface="Times New Roman" panose="02020603050405020304" pitchFamily="18" charset="0"/>
                </a:rPr>
                <a:t>Baseline </a:t>
              </a:r>
              <a:r>
                <a:rPr lang="en-US" altLang="ja-JP" sz="2400" kern="100">
                  <a:solidFill>
                    <a:srgbClr val="000000"/>
                  </a:solidFill>
                  <a:effectLst/>
                  <a:latin typeface="ＭＳ Ｐ明朝" panose="02020600040205080304" pitchFamily="18" charset="-128"/>
                  <a:ea typeface="ＭＳ Ｐ明朝" panose="02020600040205080304" pitchFamily="18" charset="-128"/>
                  <a:cs typeface="Times New Roman" panose="02020603050405020304" pitchFamily="18" charset="0"/>
                </a:rPr>
                <a:t>		</a:t>
              </a:r>
              <a:r>
                <a:rPr lang="ja-JP" altLang="ja-JP" sz="2400" kern="100">
                  <a:solidFill>
                    <a:srgbClr val="000000"/>
                  </a:solidFill>
                  <a:effectLst/>
                  <a:latin typeface="ＭＳ Ｐ明朝" panose="02020600040205080304" pitchFamily="18" charset="-128"/>
                  <a:ea typeface="ＭＳ Ｐ明朝" panose="02020600040205080304" pitchFamily="18" charset="-128"/>
                  <a:cs typeface="Times New Roman" panose="02020603050405020304" pitchFamily="18" charset="0"/>
                </a:rPr>
                <a:t>：</a:t>
              </a:r>
              <a:r>
                <a:rPr lang="en-US" altLang="ja-JP" sz="2400" kern="100" err="1">
                  <a:solidFill>
                    <a:srgbClr val="000000"/>
                  </a:solidFill>
                  <a:effectLst/>
                  <a:latin typeface="ＭＳ Ｐ明朝" panose="02020600040205080304" pitchFamily="18" charset="-128"/>
                  <a:ea typeface="ＭＳ Ｐ明朝" panose="02020600040205080304" pitchFamily="18" charset="-128"/>
                  <a:cs typeface="Times New Roman" panose="02020603050405020304" pitchFamily="18" charset="0"/>
                </a:rPr>
                <a:t>m</a:t>
              </a:r>
              <a:r>
                <a:rPr lang="en-US" altLang="ja-JP" sz="2400" b="1" kern="100" err="1">
                  <a:solidFill>
                    <a:schemeClr val="accent5"/>
                  </a:solidFill>
                  <a:effectLst/>
                  <a:latin typeface="ＭＳ Ｐ明朝" panose="02020600040205080304" pitchFamily="18" charset="-128"/>
                  <a:ea typeface="ＭＳ Ｐ明朝" panose="02020600040205080304" pitchFamily="18" charset="-128"/>
                  <a:cs typeface="Times New Roman" panose="02020603050405020304" pitchFamily="18" charset="0"/>
                </a:rPr>
                <a:t>n</a:t>
              </a:r>
              <a:r>
                <a:rPr lang="en-US" altLang="ja-JP" sz="2400" kern="100" err="1">
                  <a:solidFill>
                    <a:srgbClr val="000000"/>
                  </a:solidFill>
                  <a:effectLst/>
                  <a:latin typeface="ＭＳ Ｐ明朝" panose="02020600040205080304" pitchFamily="18" charset="-128"/>
                  <a:ea typeface="ＭＳ Ｐ明朝" panose="02020600040205080304" pitchFamily="18" charset="-128"/>
                  <a:cs typeface="Times New Roman" panose="02020603050405020304" pitchFamily="18" charset="0"/>
                </a:rPr>
                <a:t>atu</a:t>
              </a:r>
              <a:r>
                <a:rPr lang="en-US" altLang="ja-JP" sz="2400" b="1" kern="100" err="1">
                  <a:solidFill>
                    <a:schemeClr val="accent5"/>
                  </a:solidFill>
                  <a:effectLst/>
                  <a:latin typeface="ＭＳ Ｐ明朝" panose="02020600040205080304" pitchFamily="18" charset="-128"/>
                  <a:ea typeface="ＭＳ Ｐ明朝" panose="02020600040205080304" pitchFamily="18" charset="-128"/>
                  <a:cs typeface="Times New Roman" panose="02020603050405020304" pitchFamily="18" charset="0"/>
                </a:rPr>
                <a:t>rrty</a:t>
              </a:r>
              <a:r>
                <a:rPr lang="en-US" altLang="ja-JP" sz="2400" kern="100">
                  <a:solidFill>
                    <a:srgbClr val="000000"/>
                  </a:solidFill>
                  <a:effectLst/>
                  <a:latin typeface="ＭＳ Ｐ明朝" panose="02020600040205080304" pitchFamily="18" charset="-128"/>
                  <a:ea typeface="ＭＳ Ｐ明朝" panose="02020600040205080304" pitchFamily="18" charset="-128"/>
                  <a:cs typeface="Times New Roman" panose="02020603050405020304" pitchFamily="18" charset="0"/>
                </a:rPr>
                <a:t>. Ore remembered </a:t>
              </a:r>
              <a:r>
                <a:rPr lang="en-US" altLang="ja-JP" sz="2400" b="1" kern="100" err="1">
                  <a:solidFill>
                    <a:schemeClr val="accent5"/>
                  </a:solidFill>
                  <a:effectLst/>
                  <a:latin typeface="ＭＳ Ｐ明朝" panose="02020600040205080304" pitchFamily="18" charset="-128"/>
                  <a:ea typeface="ＭＳ Ｐ明朝" panose="02020600040205080304" pitchFamily="18" charset="-128"/>
                  <a:cs typeface="Times New Roman" panose="02020603050405020304" pitchFamily="18" charset="0"/>
                </a:rPr>
                <a:t>tt</a:t>
              </a:r>
              <a:r>
                <a:rPr lang="en-US" altLang="ja-JP" sz="2400" kern="100" err="1">
                  <a:solidFill>
                    <a:srgbClr val="000000"/>
                  </a:solidFill>
                  <a:effectLst/>
                  <a:latin typeface="ＭＳ Ｐ明朝" panose="02020600040205080304" pitchFamily="18" charset="-128"/>
                  <a:ea typeface="ＭＳ Ｐ明朝" panose="02020600040205080304" pitchFamily="18" charset="-128"/>
                  <a:cs typeface="Times New Roman" panose="02020603050405020304" pitchFamily="18" charset="0"/>
                </a:rPr>
                <a:t>hat</a:t>
              </a:r>
              <a:r>
                <a:rPr lang="en-US" altLang="ja-JP" sz="2400" kern="100">
                  <a:solidFill>
                    <a:srgbClr val="000000"/>
                  </a:solidFill>
                  <a:effectLst/>
                  <a:latin typeface="ＭＳ Ｐ明朝" panose="02020600040205080304" pitchFamily="18" charset="-128"/>
                  <a:ea typeface="ＭＳ Ｐ明朝" panose="02020600040205080304" pitchFamily="18" charset="-128"/>
                  <a:cs typeface="Times New Roman" panose="02020603050405020304" pitchFamily="18" charset="0"/>
                </a:rPr>
                <a:t> he </a:t>
              </a:r>
              <a:r>
                <a:rPr lang="en-US" altLang="ja-JP" sz="2400" kern="100" err="1">
                  <a:solidFill>
                    <a:srgbClr val="000000"/>
                  </a:solidFill>
                  <a:effectLst/>
                  <a:latin typeface="ＭＳ Ｐ明朝" panose="02020600040205080304" pitchFamily="18" charset="-128"/>
                  <a:ea typeface="ＭＳ Ｐ明朝" panose="02020600040205080304" pitchFamily="18" charset="-128"/>
                  <a:cs typeface="Times New Roman" panose="02020603050405020304" pitchFamily="18" charset="0"/>
                </a:rPr>
                <a:t>w</a:t>
              </a:r>
              <a:r>
                <a:rPr lang="en-US" altLang="ja-JP" sz="2400" b="1" kern="100" err="1">
                  <a:solidFill>
                    <a:schemeClr val="accent5"/>
                  </a:solidFill>
                  <a:effectLst/>
                  <a:latin typeface="ＭＳ Ｐ明朝" panose="02020600040205080304" pitchFamily="18" charset="-128"/>
                  <a:ea typeface="ＭＳ Ｐ明朝" panose="02020600040205080304" pitchFamily="18" charset="-128"/>
                  <a:cs typeface="Times New Roman" panose="02020603050405020304" pitchFamily="18" charset="0"/>
                </a:rPr>
                <a:t>o</a:t>
              </a:r>
              <a:r>
                <a:rPr lang="en-US" altLang="ja-JP" sz="2400" kern="100" err="1">
                  <a:solidFill>
                    <a:srgbClr val="000000"/>
                  </a:solidFill>
                  <a:effectLst/>
                  <a:latin typeface="ＭＳ Ｐ明朝" panose="02020600040205080304" pitchFamily="18" charset="-128"/>
                  <a:ea typeface="ＭＳ Ｐ明朝" panose="02020600040205080304" pitchFamily="18" charset="-128"/>
                  <a:cs typeface="Times New Roman" panose="02020603050405020304" pitchFamily="18" charset="0"/>
                </a:rPr>
                <a:t>s</a:t>
              </a:r>
              <a:r>
                <a:rPr lang="en-US" altLang="ja-JP" sz="2400" kern="100">
                  <a:solidFill>
                    <a:srgbClr val="000000"/>
                  </a:solidFill>
                  <a:effectLst/>
                  <a:latin typeface="ＭＳ Ｐ明朝" panose="02020600040205080304" pitchFamily="18" charset="-128"/>
                  <a:ea typeface="ＭＳ Ｐ明朝" panose="02020600040205080304" pitchFamily="18" charset="-128"/>
                  <a:cs typeface="Times New Roman" panose="02020603050405020304" pitchFamily="18" charset="0"/>
                </a:rPr>
                <a:t> a </a:t>
              </a:r>
              <a:r>
                <a:rPr lang="en-US" altLang="ja-JP" sz="2400" kern="100" err="1">
                  <a:solidFill>
                    <a:srgbClr val="000000"/>
                  </a:solidFill>
                  <a:effectLst/>
                  <a:latin typeface="ＭＳ Ｐ明朝" panose="02020600040205080304" pitchFamily="18" charset="-128"/>
                  <a:ea typeface="ＭＳ Ｐ明朝" panose="02020600040205080304" pitchFamily="18" charset="-128"/>
                  <a:cs typeface="Times New Roman" panose="02020603050405020304" pitchFamily="18" charset="0"/>
                </a:rPr>
                <a:t>l</a:t>
              </a:r>
              <a:r>
                <a:rPr lang="en-US" altLang="ja-JP" sz="2400" b="1" kern="100" err="1">
                  <a:solidFill>
                    <a:schemeClr val="accent5"/>
                  </a:solidFill>
                  <a:effectLst/>
                  <a:latin typeface="ＭＳ Ｐ明朝" panose="02020600040205080304" pitchFamily="18" charset="-128"/>
                  <a:ea typeface="ＭＳ Ｐ明朝" panose="02020600040205080304" pitchFamily="18" charset="-128"/>
                  <a:cs typeface="Times New Roman" panose="02020603050405020304" pitchFamily="18" charset="0"/>
                </a:rPr>
                <a:t>o</a:t>
              </a:r>
              <a:r>
                <a:rPr lang="en-US" altLang="ja-JP" sz="2400" kern="100" err="1">
                  <a:solidFill>
                    <a:srgbClr val="000000"/>
                  </a:solidFill>
                  <a:effectLst/>
                  <a:latin typeface="ＭＳ Ｐ明朝" panose="02020600040205080304" pitchFamily="18" charset="-128"/>
                  <a:ea typeface="ＭＳ Ｐ明朝" panose="02020600040205080304" pitchFamily="18" charset="-128"/>
                  <a:cs typeface="Times New Roman" panose="02020603050405020304" pitchFamily="18" charset="0"/>
                </a:rPr>
                <a:t>wyer</a:t>
              </a:r>
              <a:endParaRPr lang="ja-JP" altLang="ja-JP" sz="2400" kern="100">
                <a:effectLst/>
                <a:latin typeface="ＭＳ Ｐ明朝" panose="02020600040205080304" pitchFamily="18" charset="-128"/>
                <a:ea typeface="ＭＳ Ｐ明朝" panose="02020600040205080304" pitchFamily="18" charset="-128"/>
                <a:cs typeface="Times New Roman" panose="02020603050405020304" pitchFamily="18" charset="0"/>
              </a:endParaRPr>
            </a:p>
            <a:p>
              <a:pPr indent="133350">
                <a:spcBef>
                  <a:spcPts val="500"/>
                </a:spcBef>
                <a:buNone/>
              </a:pPr>
              <a:r>
                <a:rPr lang="en-US" altLang="ja-JP" sz="2400" kern="100">
                  <a:solidFill>
                    <a:srgbClr val="FF0000"/>
                  </a:solidFill>
                  <a:latin typeface="ＭＳ Ｐ明朝" panose="02020600040205080304" pitchFamily="18" charset="-128"/>
                  <a:ea typeface="ＭＳ Ｐ明朝" panose="02020600040205080304" pitchFamily="18" charset="-128"/>
                  <a:cs typeface="Times New Roman" panose="02020603050405020304" pitchFamily="18" charset="0"/>
                </a:rPr>
                <a:t>Our Method</a:t>
              </a:r>
              <a:r>
                <a:rPr lang="en-US" altLang="ja-JP" sz="2400" kern="100">
                  <a:solidFill>
                    <a:srgbClr val="FF0000"/>
                  </a:solidFill>
                  <a:effectLst/>
                  <a:latin typeface="ＭＳ Ｐ明朝" panose="02020600040205080304" pitchFamily="18" charset="-128"/>
                  <a:ea typeface="ＭＳ Ｐ明朝" panose="02020600040205080304" pitchFamily="18" charset="-128"/>
                  <a:cs typeface="Times New Roman" panose="02020603050405020304" pitchFamily="18" charset="0"/>
                </a:rPr>
                <a:t>    </a:t>
              </a:r>
              <a:r>
                <a:rPr lang="en-US" altLang="ja-JP" sz="2400" kern="100">
                  <a:solidFill>
                    <a:srgbClr val="000000"/>
                  </a:solidFill>
                  <a:effectLst/>
                  <a:latin typeface="ＭＳ Ｐ明朝" panose="02020600040205080304" pitchFamily="18" charset="-128"/>
                  <a:ea typeface="ＭＳ Ｐ明朝" panose="02020600040205080304" pitchFamily="18" charset="-128"/>
                  <a:cs typeface="Times New Roman" panose="02020603050405020304" pitchFamily="18" charset="0"/>
                </a:rPr>
                <a:t>	</a:t>
              </a:r>
              <a:r>
                <a:rPr lang="ja-JP" altLang="ja-JP" sz="2400" kern="100">
                  <a:solidFill>
                    <a:srgbClr val="000000"/>
                  </a:solidFill>
                  <a:effectLst/>
                  <a:latin typeface="ＭＳ Ｐ明朝" panose="02020600040205080304" pitchFamily="18" charset="-128"/>
                  <a:ea typeface="ＭＳ Ｐ明朝" panose="02020600040205080304" pitchFamily="18" charset="-128"/>
                  <a:cs typeface="Times New Roman" panose="02020603050405020304" pitchFamily="18" charset="0"/>
                </a:rPr>
                <a:t>：</a:t>
              </a:r>
              <a:r>
                <a:rPr lang="en-US" altLang="ja-JP" sz="2400" kern="100">
                  <a:solidFill>
                    <a:srgbClr val="000000"/>
                  </a:solidFill>
                  <a:effectLst/>
                  <a:latin typeface="ＭＳ Ｐ明朝" panose="02020600040205080304" pitchFamily="18" charset="-128"/>
                  <a:ea typeface="ＭＳ Ｐ明朝" panose="02020600040205080304" pitchFamily="18" charset="-128"/>
                  <a:cs typeface="Times New Roman" panose="02020603050405020304" pitchFamily="18" charset="0"/>
                </a:rPr>
                <a:t>maturity. One remembered that he was a lawyer</a:t>
              </a:r>
              <a:endParaRPr lang="ja-JP" altLang="ja-JP" sz="2400" kern="100">
                <a:effectLst/>
                <a:latin typeface="ＭＳ Ｐ明朝" panose="02020600040205080304" pitchFamily="18" charset="-128"/>
                <a:ea typeface="ＭＳ Ｐ明朝" panose="02020600040205080304" pitchFamily="18" charset="-128"/>
                <a:cs typeface="Times New Roman" panose="02020603050405020304" pitchFamily="18" charset="0"/>
              </a:endParaRPr>
            </a:p>
          </p:txBody>
        </p:sp>
      </p:grpSp>
      <p:cxnSp>
        <p:nvCxnSpPr>
          <p:cNvPr id="6" name="直線コネクタ 5">
            <a:extLst>
              <a:ext uri="{FF2B5EF4-FFF2-40B4-BE49-F238E27FC236}">
                <a16:creationId xmlns:a16="http://schemas.microsoft.com/office/drawing/2014/main" id="{30ACD238-683D-EA5F-7BF1-980DD041F95D}"/>
              </a:ext>
            </a:extLst>
          </p:cNvPr>
          <p:cNvCxnSpPr>
            <a:cxnSpLocks/>
          </p:cNvCxnSpPr>
          <p:nvPr/>
        </p:nvCxnSpPr>
        <p:spPr>
          <a:xfrm>
            <a:off x="4892634" y="3800104"/>
            <a:ext cx="2006930" cy="0"/>
          </a:xfrm>
          <a:prstGeom prst="line">
            <a:avLst/>
          </a:prstGeom>
          <a:ln w="38100">
            <a:solidFill>
              <a:srgbClr val="FF0000"/>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8807327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329E489-7533-CB13-798B-AC03CE22228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0B97615-9FBC-C0D2-6449-95D1A4A09975}"/>
              </a:ext>
            </a:extLst>
          </p:cNvPr>
          <p:cNvSpPr>
            <a:spLocks noGrp="1"/>
          </p:cNvSpPr>
          <p:nvPr>
            <p:ph type="title"/>
          </p:nvPr>
        </p:nvSpPr>
        <p:spPr/>
        <p:txBody>
          <a:bodyPr/>
          <a:lstStyle/>
          <a:p>
            <a:pPr>
              <a:lnSpc>
                <a:spcPct val="100000"/>
              </a:lnSpc>
            </a:pPr>
            <a:r>
              <a:rPr kumimoji="1" lang="ja-JP" altLang="en-US" sz="3200">
                <a:ea typeface="游ゴシック Light"/>
              </a:rPr>
              <a:t>実験</a:t>
            </a:r>
            <a:br>
              <a:rPr lang="en-US" altLang="ja-JP"/>
            </a:br>
            <a:r>
              <a:rPr lang="ja-JP" altLang="en-US">
                <a:solidFill>
                  <a:schemeClr val="tx1"/>
                </a:solidFill>
                <a:ea typeface="游ゴシック Light"/>
              </a:rPr>
              <a:t>評価指標</a:t>
            </a:r>
            <a:endParaRPr kumimoji="1" lang="ja-JP" altLang="en-US">
              <a:solidFill>
                <a:schemeClr val="tx1"/>
              </a:solidFill>
              <a:ea typeface="游ゴシック Light"/>
            </a:endParaRPr>
          </a:p>
        </p:txBody>
      </p:sp>
      <p:sp>
        <p:nvSpPr>
          <p:cNvPr id="4" name="スライド番号プレースホルダー 3">
            <a:extLst>
              <a:ext uri="{FF2B5EF4-FFF2-40B4-BE49-F238E27FC236}">
                <a16:creationId xmlns:a16="http://schemas.microsoft.com/office/drawing/2014/main" id="{F3960D2A-78E7-B5B1-B360-9AC7F47FA099}"/>
              </a:ext>
            </a:extLst>
          </p:cNvPr>
          <p:cNvSpPr>
            <a:spLocks noGrp="1"/>
          </p:cNvSpPr>
          <p:nvPr>
            <p:ph type="sldNum" sz="quarter" idx="12"/>
          </p:nvPr>
        </p:nvSpPr>
        <p:spPr>
          <a:xfrm>
            <a:off x="8629192" y="5432222"/>
            <a:ext cx="3247103" cy="365125"/>
          </a:xfrm>
        </p:spPr>
        <p:txBody>
          <a:bodyPr/>
          <a:lstStyle/>
          <a:p>
            <a:fld id="{397E558F-9F61-480E-94CF-2C9CB5412042}" type="slidenum">
              <a:rPr lang="ja-JP" altLang="en-US" smtClean="0"/>
              <a:pPr/>
              <a:t>31</a:t>
            </a:fld>
            <a:endParaRPr lang="ja-JP" altLang="en-US"/>
          </a:p>
        </p:txBody>
      </p:sp>
      <mc:AlternateContent xmlns:mc="http://schemas.openxmlformats.org/markup-compatibility/2006" xmlns:a14="http://schemas.microsoft.com/office/drawing/2010/main">
        <mc:Choice Requires="a14">
          <p:sp>
            <p:nvSpPr>
              <p:cNvPr id="23" name="コンテンツ プレースホルダー 2">
                <a:extLst>
                  <a:ext uri="{FF2B5EF4-FFF2-40B4-BE49-F238E27FC236}">
                    <a16:creationId xmlns:a16="http://schemas.microsoft.com/office/drawing/2014/main" id="{A9403AF8-862E-8534-C4BD-7699D9226C03}"/>
                  </a:ext>
                </a:extLst>
              </p:cNvPr>
              <p:cNvSpPr txBox="1">
                <a:spLocks/>
              </p:cNvSpPr>
              <p:nvPr/>
            </p:nvSpPr>
            <p:spPr>
              <a:xfrm>
                <a:off x="840424" y="1619597"/>
                <a:ext cx="10515600" cy="4500000"/>
              </a:xfrm>
              <a:prstGeom prst="rect">
                <a:avLst/>
              </a:prstGeom>
            </p:spPr>
            <p:txBody>
              <a:bodyPr vert="horz" lIns="91440" tIns="45720" rIns="91440" bIns="45720" rtlCol="0" anchor="t">
                <a:normAutofit/>
              </a:bodyPr>
              <a:lstStyle>
                <a:defPPr>
                  <a:defRPr lang="ja-JP"/>
                </a:defPPr>
                <a:lvl1pPr marL="228600" indent="-228600" algn="l" defTabSz="914400" rtl="0" eaLnBrk="1" latinLnBrk="0" hangingPunct="1">
                  <a:lnSpc>
                    <a:spcPct val="90000"/>
                  </a:lnSpc>
                  <a:spcBef>
                    <a:spcPts val="1000"/>
                  </a:spcBef>
                  <a:buClr>
                    <a:schemeClr val="accent5"/>
                  </a:buClr>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5">
                      <a:lumMod val="60000"/>
                      <a:lumOff val="40000"/>
                    </a:schemeClr>
                  </a:buClr>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5">
                      <a:lumMod val="75000"/>
                    </a:schemeClr>
                  </a:buClr>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5">
                      <a:lumMod val="50000"/>
                    </a:schemeClr>
                  </a:buClr>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5">
                      <a:lumMod val="50000"/>
                    </a:schemeClr>
                  </a:buClr>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endParaRPr lang="en-US" altLang="ja-JP">
                  <a:ea typeface="游ゴシック"/>
                </a:endParaRPr>
              </a:p>
              <a:p>
                <a:pPr marL="0" indent="0" algn="ctr">
                  <a:buNone/>
                </a:pPr>
                <a14:m>
                  <m:oMath xmlns:m="http://schemas.openxmlformats.org/officeDocument/2006/math">
                    <m:r>
                      <m:rPr>
                        <m:sty m:val="p"/>
                      </m:rPr>
                      <a:rPr lang="en-US" altLang="ja-JP" sz="4400" b="0" i="0" smtClean="0">
                        <a:latin typeface="Cambria Math" panose="02040503050406030204" pitchFamily="18" charset="0"/>
                      </a:rPr>
                      <m:t>CER</m:t>
                    </m:r>
                    <m:r>
                      <a:rPr lang="en-US" altLang="ja-JP" sz="4400" b="0" i="0" smtClean="0">
                        <a:latin typeface="Cambria Math" panose="02040503050406030204" pitchFamily="18" charset="0"/>
                      </a:rPr>
                      <m:t>= </m:t>
                    </m:r>
                    <m:f>
                      <m:fPr>
                        <m:ctrlPr>
                          <a:rPr lang="en-US" altLang="ja-JP" sz="4400" i="1">
                            <a:latin typeface="Cambria Math" panose="02040503050406030204" pitchFamily="18" charset="0"/>
                          </a:rPr>
                        </m:ctrlPr>
                      </m:fPr>
                      <m:num>
                        <m:r>
                          <a:rPr lang="en-US" altLang="ja-JP" sz="4400" b="0" i="1" smtClean="0">
                            <a:latin typeface="Cambria Math" panose="02040503050406030204" pitchFamily="18" charset="0"/>
                          </a:rPr>
                          <m:t>𝑆</m:t>
                        </m:r>
                        <m:r>
                          <a:rPr lang="en-US" altLang="ja-JP" sz="4400" b="0" i="1" smtClean="0">
                            <a:latin typeface="Cambria Math" panose="02040503050406030204" pitchFamily="18" charset="0"/>
                          </a:rPr>
                          <m:t>+</m:t>
                        </m:r>
                        <m:r>
                          <a:rPr lang="en-US" altLang="ja-JP" sz="4400" b="0" i="1" smtClean="0">
                            <a:latin typeface="Cambria Math" panose="02040503050406030204" pitchFamily="18" charset="0"/>
                          </a:rPr>
                          <m:t>𝐷</m:t>
                        </m:r>
                        <m:r>
                          <a:rPr lang="en-US" altLang="ja-JP" sz="4400" b="0" i="1" smtClean="0">
                            <a:latin typeface="Cambria Math" panose="02040503050406030204" pitchFamily="18" charset="0"/>
                          </a:rPr>
                          <m:t>+</m:t>
                        </m:r>
                        <m:r>
                          <a:rPr lang="en-US" altLang="ja-JP" sz="4400" b="0" i="1" smtClean="0">
                            <a:latin typeface="Cambria Math" panose="02040503050406030204" pitchFamily="18" charset="0"/>
                          </a:rPr>
                          <m:t>𝐼</m:t>
                        </m:r>
                      </m:num>
                      <m:den>
                        <m:r>
                          <a:rPr lang="en-US" altLang="ja-JP" sz="4400" b="0" i="1">
                            <a:latin typeface="Cambria Math" panose="02040503050406030204" pitchFamily="18" charset="0"/>
                          </a:rPr>
                          <m:t>𝑁</m:t>
                        </m:r>
                      </m:den>
                    </m:f>
                    <m:r>
                      <a:rPr lang="en-US" altLang="ja-JP" sz="4400" i="1">
                        <a:latin typeface="Cambria Math" panose="02040503050406030204" pitchFamily="18" charset="0"/>
                      </a:rPr>
                      <m:t> </m:t>
                    </m:r>
                  </m:oMath>
                </a14:m>
                <a:r>
                  <a:rPr lang="en-US" altLang="ja-JP" sz="2400"/>
                  <a:t>​</a:t>
                </a:r>
              </a:p>
              <a:p>
                <a:pPr marL="0" lvl="0" indent="0" eaLnBrk="0" fontAlgn="base" hangingPunct="0">
                  <a:lnSpc>
                    <a:spcPct val="100000"/>
                  </a:lnSpc>
                  <a:spcBef>
                    <a:spcPct val="0"/>
                  </a:spcBef>
                  <a:spcAft>
                    <a:spcPct val="0"/>
                  </a:spcAft>
                  <a:buClrTx/>
                  <a:buNone/>
                </a:pPr>
                <a:endParaRPr kumimoji="0" lang="en-US" altLang="ja-JP" sz="2000">
                  <a:latin typeface="Arial" panose="020B0604020202020204" pitchFamily="34" charset="0"/>
                </a:endParaRPr>
              </a:p>
              <a:p>
                <a:pPr marL="0" lvl="0" indent="0" eaLnBrk="0" fontAlgn="base" hangingPunct="0">
                  <a:lnSpc>
                    <a:spcPct val="100000"/>
                  </a:lnSpc>
                  <a:spcBef>
                    <a:spcPct val="0"/>
                  </a:spcBef>
                  <a:spcAft>
                    <a:spcPct val="0"/>
                  </a:spcAft>
                  <a:buClrTx/>
                  <a:buNone/>
                </a:pPr>
                <a:r>
                  <a:rPr kumimoji="0" lang="ja-JP" altLang="ja-JP" sz="2400">
                    <a:latin typeface="Arial" panose="020B0604020202020204" pitchFamily="34" charset="0"/>
                  </a:rPr>
                  <a:t>S：置換数</a:t>
                </a:r>
              </a:p>
              <a:p>
                <a:pPr marL="0" lvl="0" indent="0" eaLnBrk="0" fontAlgn="base" hangingPunct="0">
                  <a:lnSpc>
                    <a:spcPct val="100000"/>
                  </a:lnSpc>
                  <a:spcBef>
                    <a:spcPct val="0"/>
                  </a:spcBef>
                  <a:spcAft>
                    <a:spcPct val="0"/>
                  </a:spcAft>
                  <a:buClrTx/>
                  <a:buNone/>
                </a:pPr>
                <a:r>
                  <a:rPr kumimoji="0" lang="ja-JP" altLang="ja-JP" sz="2400">
                    <a:latin typeface="Arial" panose="020B0604020202020204" pitchFamily="34" charset="0"/>
                  </a:rPr>
                  <a:t>D：削除数</a:t>
                </a:r>
              </a:p>
              <a:p>
                <a:pPr marL="0" lvl="0" indent="0" eaLnBrk="0" fontAlgn="base" hangingPunct="0">
                  <a:lnSpc>
                    <a:spcPct val="100000"/>
                  </a:lnSpc>
                  <a:spcBef>
                    <a:spcPct val="0"/>
                  </a:spcBef>
                  <a:spcAft>
                    <a:spcPct val="0"/>
                  </a:spcAft>
                  <a:buClrTx/>
                  <a:buNone/>
                </a:pPr>
                <a:r>
                  <a:rPr kumimoji="0" lang="en-US" altLang="ja-JP" sz="2400">
                    <a:latin typeface="Arial" panose="020B0604020202020204" pitchFamily="34" charset="0"/>
                  </a:rPr>
                  <a:t>I  </a:t>
                </a:r>
                <a:r>
                  <a:rPr kumimoji="0" lang="ja-JP" altLang="ja-JP" sz="2400">
                    <a:latin typeface="Arial" panose="020B0604020202020204" pitchFamily="34" charset="0"/>
                  </a:rPr>
                  <a:t>：挿入数</a:t>
                </a:r>
              </a:p>
              <a:p>
                <a:pPr marL="0" lvl="0" indent="0" eaLnBrk="0" fontAlgn="base" hangingPunct="0">
                  <a:lnSpc>
                    <a:spcPct val="100000"/>
                  </a:lnSpc>
                  <a:spcBef>
                    <a:spcPct val="0"/>
                  </a:spcBef>
                  <a:spcAft>
                    <a:spcPct val="0"/>
                  </a:spcAft>
                  <a:buClrTx/>
                  <a:buNone/>
                </a:pPr>
                <a:r>
                  <a:rPr kumimoji="0" lang="ja-JP" altLang="ja-JP" sz="2400">
                    <a:latin typeface="Arial" panose="020B0604020202020204" pitchFamily="34" charset="0"/>
                  </a:rPr>
                  <a:t>N：正解文字列の文字数</a:t>
                </a:r>
              </a:p>
              <a:p>
                <a:pPr marL="0" indent="0">
                  <a:buNone/>
                </a:pPr>
                <a:endParaRPr lang="en-US" altLang="ja-JP">
                  <a:ea typeface="游ゴシック"/>
                </a:endParaRPr>
              </a:p>
              <a:p>
                <a:pPr marL="0" indent="0">
                  <a:buNone/>
                </a:pPr>
                <a:endParaRPr lang="en-US" altLang="ja-JP">
                  <a:ea typeface="游ゴシック"/>
                </a:endParaRPr>
              </a:p>
              <a:p>
                <a:pPr marL="0" indent="0">
                  <a:buNone/>
                </a:pPr>
                <a:endParaRPr lang="en-US" altLang="ja-JP">
                  <a:ea typeface="游ゴシック"/>
                </a:endParaRPr>
              </a:p>
              <a:p>
                <a:pPr marL="514350" indent="-514350">
                  <a:buAutoNum type="arabicPeriod"/>
                </a:pPr>
                <a:endParaRPr lang="en-US" altLang="ja-JP">
                  <a:ea typeface="游ゴシック"/>
                </a:endParaRPr>
              </a:p>
            </p:txBody>
          </p:sp>
        </mc:Choice>
        <mc:Fallback xmlns="">
          <p:sp>
            <p:nvSpPr>
              <p:cNvPr id="23" name="コンテンツ プレースホルダー 2">
                <a:extLst>
                  <a:ext uri="{FF2B5EF4-FFF2-40B4-BE49-F238E27FC236}">
                    <a16:creationId xmlns:a16="http://schemas.microsoft.com/office/drawing/2014/main" id="{A9403AF8-862E-8534-C4BD-7699D9226C03}"/>
                  </a:ext>
                </a:extLst>
              </p:cNvPr>
              <p:cNvSpPr txBox="1">
                <a:spLocks noRot="1" noChangeAspect="1" noMove="1" noResize="1" noEditPoints="1" noAdjustHandles="1" noChangeArrowheads="1" noChangeShapeType="1" noTextEdit="1"/>
              </p:cNvSpPr>
              <p:nvPr/>
            </p:nvSpPr>
            <p:spPr>
              <a:xfrm>
                <a:off x="840424" y="1619597"/>
                <a:ext cx="10515600" cy="4500000"/>
              </a:xfrm>
              <a:prstGeom prst="rect">
                <a:avLst/>
              </a:prstGeom>
              <a:blipFill>
                <a:blip r:embed="rId3"/>
                <a:stretch>
                  <a:fillRect l="-928"/>
                </a:stretch>
              </a:blipFill>
            </p:spPr>
            <p:txBody>
              <a:bodyPr/>
              <a:lstStyle/>
              <a:p>
                <a:r>
                  <a:rPr lang="en-US">
                    <a:noFill/>
                  </a:rPr>
                  <a:t> </a:t>
                </a:r>
              </a:p>
            </p:txBody>
          </p:sp>
        </mc:Fallback>
      </mc:AlternateContent>
    </p:spTree>
    <p:extLst>
      <p:ext uri="{BB962C8B-B14F-4D97-AF65-F5344CB8AC3E}">
        <p14:creationId xmlns:p14="http://schemas.microsoft.com/office/powerpoint/2010/main" val="19974861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5720A-2EA2-E055-7123-04539E66077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6E8F61A-DD5A-FDCD-8CB9-DED69CC6E634}"/>
              </a:ext>
            </a:extLst>
          </p:cNvPr>
          <p:cNvSpPr>
            <a:spLocks noGrp="1"/>
          </p:cNvSpPr>
          <p:nvPr>
            <p:ph type="title"/>
          </p:nvPr>
        </p:nvSpPr>
        <p:spPr/>
        <p:txBody>
          <a:bodyPr/>
          <a:lstStyle/>
          <a:p>
            <a:pPr>
              <a:lnSpc>
                <a:spcPct val="100000"/>
              </a:lnSpc>
            </a:pPr>
            <a:r>
              <a:rPr kumimoji="1" lang="ja-JP" altLang="en-US" sz="3200">
                <a:ea typeface="游ゴシック Light"/>
              </a:rPr>
              <a:t>まとめ</a:t>
            </a:r>
            <a:br>
              <a:rPr kumimoji="1" lang="en-US" altLang="ja-JP" sz="3200">
                <a:ea typeface="游ゴシック Light"/>
              </a:rPr>
            </a:br>
            <a:r>
              <a:rPr lang="ja-JP" altLang="en-US">
                <a:solidFill>
                  <a:schemeClr val="tx1"/>
                </a:solidFill>
                <a:ea typeface="游ゴシック Light"/>
              </a:rPr>
              <a:t>結論</a:t>
            </a:r>
            <a:endParaRPr lang="en-US" altLang="ja-JP">
              <a:solidFill>
                <a:schemeClr val="tx1"/>
              </a:solidFill>
            </a:endParaRPr>
          </a:p>
        </p:txBody>
      </p:sp>
      <p:sp>
        <p:nvSpPr>
          <p:cNvPr id="3" name="コンテンツ プレースホルダー 2">
            <a:extLst>
              <a:ext uri="{FF2B5EF4-FFF2-40B4-BE49-F238E27FC236}">
                <a16:creationId xmlns:a16="http://schemas.microsoft.com/office/drawing/2014/main" id="{F1F429CB-6EF0-04DD-8F01-00A4A761450F}"/>
              </a:ext>
            </a:extLst>
          </p:cNvPr>
          <p:cNvSpPr>
            <a:spLocks noGrp="1"/>
          </p:cNvSpPr>
          <p:nvPr>
            <p:ph idx="1"/>
          </p:nvPr>
        </p:nvSpPr>
        <p:spPr>
          <a:xfrm>
            <a:off x="838200" y="1584000"/>
            <a:ext cx="10515600" cy="5274000"/>
          </a:xfrm>
        </p:spPr>
        <p:txBody>
          <a:bodyPr vert="horz" lIns="91440" tIns="45720" rIns="91440" bIns="45720" rtlCol="0" anchor="t">
            <a:normAutofit lnSpcReduction="10000"/>
          </a:bodyPr>
          <a:lstStyle/>
          <a:p>
            <a:pPr marL="0" indent="0">
              <a:buNone/>
            </a:pPr>
            <a:r>
              <a:rPr lang="ja-JP" altLang="en-US">
                <a:latin typeface="+mn-ea"/>
                <a:cs typeface="+mj-lt"/>
              </a:rPr>
              <a:t>手書き文字認識モデルへの</a:t>
            </a:r>
            <a:r>
              <a:rPr lang="ja-JP" altLang="en-US" b="1">
                <a:solidFill>
                  <a:srgbClr val="FF0000"/>
                </a:solidFill>
                <a:latin typeface="+mn-ea"/>
                <a:cs typeface="+mj-lt"/>
              </a:rPr>
              <a:t>言語特徴</a:t>
            </a:r>
            <a:r>
              <a:rPr lang="ja-JP" altLang="en-US">
                <a:latin typeface="+mn-ea"/>
                <a:cs typeface="+mj-lt"/>
              </a:rPr>
              <a:t>付与は</a:t>
            </a:r>
            <a:endParaRPr lang="en-US" altLang="ja-JP">
              <a:latin typeface="+mn-ea"/>
              <a:cs typeface="+mj-lt"/>
            </a:endParaRPr>
          </a:p>
          <a:p>
            <a:pPr marL="0" indent="0">
              <a:buNone/>
            </a:pPr>
            <a:r>
              <a:rPr lang="ja-JP" altLang="en-US" sz="3200">
                <a:ea typeface="+mj-lt"/>
                <a:cs typeface="+mj-lt"/>
              </a:rPr>
              <a:t>　</a:t>
            </a:r>
            <a:r>
              <a:rPr lang="ja-JP" altLang="en-US" sz="4400">
                <a:ea typeface="+mj-lt"/>
                <a:cs typeface="+mj-lt"/>
              </a:rPr>
              <a:t>→　</a:t>
            </a:r>
            <a:r>
              <a:rPr lang="ja-JP" altLang="en-US" sz="4400" b="1">
                <a:solidFill>
                  <a:srgbClr val="FF0000"/>
                </a:solidFill>
                <a:ea typeface="+mj-lt"/>
                <a:cs typeface="+mj-lt"/>
              </a:rPr>
              <a:t>有　効</a:t>
            </a:r>
            <a:endParaRPr lang="en-US" altLang="ja-JP" sz="4400" b="1">
              <a:solidFill>
                <a:srgbClr val="FF0000"/>
              </a:solidFill>
              <a:ea typeface="游ゴシック"/>
              <a:cs typeface="+mj-lt"/>
            </a:endParaRPr>
          </a:p>
          <a:p>
            <a:pPr marL="0" indent="0">
              <a:buNone/>
            </a:pPr>
            <a:endParaRPr lang="en-US" altLang="ja-JP">
              <a:latin typeface="+mn-ea"/>
              <a:cs typeface="+mj-lt"/>
            </a:endParaRPr>
          </a:p>
          <a:p>
            <a:pPr marL="0" indent="0">
              <a:buNone/>
            </a:pPr>
            <a:r>
              <a:rPr lang="ja-JP" altLang="en-US">
                <a:latin typeface="+mn-ea"/>
                <a:cs typeface="+mj-lt"/>
              </a:rPr>
              <a:t>より効果的にするには以下が</a:t>
            </a:r>
            <a:r>
              <a:rPr lang="ja-JP" altLang="en-US">
                <a:solidFill>
                  <a:srgbClr val="FF0000"/>
                </a:solidFill>
                <a:latin typeface="+mn-ea"/>
                <a:cs typeface="+mj-lt"/>
              </a:rPr>
              <a:t>重要</a:t>
            </a:r>
            <a:endParaRPr lang="en-US" altLang="ja-JP">
              <a:solidFill>
                <a:srgbClr val="FF0000"/>
              </a:solidFill>
              <a:latin typeface="+mn-ea"/>
              <a:cs typeface="+mj-lt"/>
            </a:endParaRPr>
          </a:p>
          <a:p>
            <a:r>
              <a:rPr lang="ja-JP" altLang="en-US">
                <a:latin typeface="+mn-ea"/>
                <a:ea typeface="游ゴシック"/>
                <a:cs typeface="+mj-lt"/>
              </a:rPr>
              <a:t>コネクタ層の配置</a:t>
            </a:r>
            <a:endParaRPr lang="en-US" altLang="ja-JP">
              <a:latin typeface="+mn-ea"/>
              <a:ea typeface="游ゴシック"/>
              <a:cs typeface="+mj-lt"/>
            </a:endParaRPr>
          </a:p>
          <a:p>
            <a:r>
              <a:rPr lang="ja-JP" altLang="en-US">
                <a:latin typeface="+mn-ea"/>
                <a:ea typeface="游ゴシック"/>
                <a:cs typeface="+mj-lt"/>
              </a:rPr>
              <a:t>コネクタ層の数</a:t>
            </a:r>
            <a:endParaRPr lang="en-US" altLang="ja-JP">
              <a:latin typeface="+mn-ea"/>
              <a:ea typeface="游ゴシック"/>
              <a:cs typeface="+mj-lt"/>
            </a:endParaRPr>
          </a:p>
          <a:p>
            <a:pPr marL="0" indent="0">
              <a:buNone/>
            </a:pPr>
            <a:endParaRPr lang="en-US" altLang="ja-JP" b="1">
              <a:latin typeface="+mj-lt"/>
              <a:ea typeface="+mj-lt"/>
              <a:cs typeface="+mj-lt"/>
            </a:endParaRPr>
          </a:p>
          <a:p>
            <a:pPr marL="0" indent="0">
              <a:buNone/>
            </a:pPr>
            <a:r>
              <a:rPr lang="ja-JP" altLang="en-US" b="1">
                <a:latin typeface="+mj-lt"/>
                <a:ea typeface="+mj-lt"/>
                <a:cs typeface="+mj-lt"/>
              </a:rPr>
              <a:t>留意点</a:t>
            </a:r>
            <a:endParaRPr lang="en-US" altLang="ja-JP" b="1">
              <a:latin typeface="+mj-lt"/>
              <a:ea typeface="+mj-lt"/>
              <a:cs typeface="+mj-lt"/>
            </a:endParaRPr>
          </a:p>
          <a:p>
            <a:pPr marL="0" indent="0">
              <a:buNone/>
            </a:pPr>
            <a:r>
              <a:rPr lang="en-US" altLang="ja-JP">
                <a:ea typeface="游ゴシック"/>
              </a:rPr>
              <a:t>LLM</a:t>
            </a:r>
            <a:r>
              <a:rPr lang="ja-JP" altLang="en-US">
                <a:ea typeface="游ゴシック"/>
              </a:rPr>
              <a:t>サイズ・数が大きすぎるとエンコーダが</a:t>
            </a:r>
            <a:r>
              <a:rPr lang="ja-JP" altLang="en-US" b="1">
                <a:solidFill>
                  <a:schemeClr val="accent5"/>
                </a:solidFill>
                <a:ea typeface="游ゴシック"/>
              </a:rPr>
              <a:t>学習しきれない</a:t>
            </a:r>
            <a:endParaRPr lang="en-US" altLang="ja-JP" b="1">
              <a:solidFill>
                <a:schemeClr val="accent5"/>
              </a:solidFill>
              <a:ea typeface="游ゴシック"/>
            </a:endParaRPr>
          </a:p>
          <a:p>
            <a:pPr marL="0" indent="0">
              <a:buNone/>
            </a:pPr>
            <a:r>
              <a:rPr lang="ja-JP" altLang="en-US" b="1">
                <a:latin typeface="+mj-lt"/>
                <a:ea typeface="+mj-lt"/>
                <a:cs typeface="+mj-lt"/>
              </a:rPr>
              <a:t>→モデルの表現能力を考慮</a:t>
            </a:r>
            <a:endParaRPr lang="en-US" altLang="ja-JP" b="1">
              <a:latin typeface="+mj-lt"/>
              <a:ea typeface="+mj-lt"/>
              <a:cs typeface="+mj-lt"/>
            </a:endParaRPr>
          </a:p>
          <a:p>
            <a:pPr marL="0" indent="0">
              <a:buNone/>
            </a:pPr>
            <a:endParaRPr lang="en-US" altLang="ja-JP" b="1">
              <a:latin typeface="+mj-lt"/>
              <a:ea typeface="+mj-lt"/>
              <a:cs typeface="+mj-lt"/>
            </a:endParaRPr>
          </a:p>
          <a:p>
            <a:pPr marL="457200" lvl="1" indent="0">
              <a:buNone/>
            </a:pPr>
            <a:endParaRPr lang="en-US" altLang="ja-JP">
              <a:latin typeface="+mn-ea"/>
              <a:ea typeface="游ゴシック"/>
              <a:cs typeface="+mj-lt"/>
            </a:endParaRPr>
          </a:p>
        </p:txBody>
      </p:sp>
      <p:sp>
        <p:nvSpPr>
          <p:cNvPr id="4" name="スライド番号プレースホルダー 3">
            <a:extLst>
              <a:ext uri="{FF2B5EF4-FFF2-40B4-BE49-F238E27FC236}">
                <a16:creationId xmlns:a16="http://schemas.microsoft.com/office/drawing/2014/main" id="{2FBC2151-63E7-6332-6574-C00CFA98AB4A}"/>
              </a:ext>
            </a:extLst>
          </p:cNvPr>
          <p:cNvSpPr>
            <a:spLocks noGrp="1"/>
          </p:cNvSpPr>
          <p:nvPr>
            <p:ph type="sldNum" sz="quarter" idx="12"/>
          </p:nvPr>
        </p:nvSpPr>
        <p:spPr/>
        <p:txBody>
          <a:bodyPr/>
          <a:lstStyle/>
          <a:p>
            <a:fld id="{397E558F-9F61-480E-94CF-2C9CB5412042}" type="slidenum">
              <a:rPr lang="ja-JP" altLang="en-US" smtClean="0"/>
              <a:pPr/>
              <a:t>32</a:t>
            </a:fld>
            <a:endParaRPr lang="ja-JP" altLang="en-US"/>
          </a:p>
        </p:txBody>
      </p:sp>
    </p:spTree>
    <p:extLst>
      <p:ext uri="{BB962C8B-B14F-4D97-AF65-F5344CB8AC3E}">
        <p14:creationId xmlns:p14="http://schemas.microsoft.com/office/powerpoint/2010/main" val="3613790711"/>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solidFill>
            <a:schemeClr val="accent5"/>
          </a:solidFill>
        </a:ln>
      </a:spPr>
      <a:bodyPr rtlCol="0" anchor="ctr"/>
      <a:lstStyle>
        <a:defPPr marL="72000">
          <a:spcBef>
            <a:spcPts val="600"/>
          </a:spcBef>
          <a:defRPr sz="20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3650</Words>
  <Application>Microsoft Office PowerPoint</Application>
  <PresentationFormat>ワイド画面</PresentationFormat>
  <Paragraphs>544</Paragraphs>
  <Slides>32</Slides>
  <Notes>31</Notes>
  <HiddenSlides>3</HiddenSlides>
  <MMClips>0</MMClips>
  <ScaleCrop>false</ScaleCrop>
  <HeadingPairs>
    <vt:vector size="8" baseType="variant">
      <vt:variant>
        <vt:lpstr>使用されているフォント</vt:lpstr>
      </vt:variant>
      <vt:variant>
        <vt:i4>6</vt:i4>
      </vt:variant>
      <vt:variant>
        <vt:lpstr>テーマ</vt:lpstr>
      </vt:variant>
      <vt:variant>
        <vt:i4>1</vt:i4>
      </vt:variant>
      <vt:variant>
        <vt:lpstr>スライド タイトル</vt:lpstr>
      </vt:variant>
      <vt:variant>
        <vt:i4>32</vt:i4>
      </vt:variant>
      <vt:variant>
        <vt:lpstr>目的別スライド ショー</vt:lpstr>
      </vt:variant>
      <vt:variant>
        <vt:i4>1</vt:i4>
      </vt:variant>
    </vt:vector>
  </HeadingPairs>
  <TitlesOfParts>
    <vt:vector size="40" baseType="lpstr">
      <vt:lpstr>ＭＳ Ｐ明朝</vt:lpstr>
      <vt:lpstr>游ゴシック</vt:lpstr>
      <vt:lpstr>游ゴシック Light</vt:lpstr>
      <vt:lpstr>Arial</vt:lpstr>
      <vt:lpstr>Cambria Math</vt:lpstr>
      <vt:lpstr>Courier New</vt:lpstr>
      <vt:lpstr>Office テーマ</vt:lpstr>
      <vt:lpstr>手書き文字認識モデルエンコーダへの 言語特徴付与による有効性</vt:lpstr>
      <vt:lpstr>アウトライン</vt:lpstr>
      <vt:lpstr>研究テーマ 手書き文字画像認識の問題点</vt:lpstr>
      <vt:lpstr>研究テーマ 手書き文字画像認識の問題点</vt:lpstr>
      <vt:lpstr>研究テーマ 手書き文字画像認識の問題点</vt:lpstr>
      <vt:lpstr>関連研究 Transformer-based OCR(TrOCR)</vt:lpstr>
      <vt:lpstr>関連研究 Transformer-based OCR(TrOCR)</vt:lpstr>
      <vt:lpstr>関連研究 Transformer-based OCR(TrOCR)</vt:lpstr>
      <vt:lpstr>関連研究 LLM損失によるエンコーダ学習</vt:lpstr>
      <vt:lpstr>関連研究 LLM損失によるエンコーダ学習</vt:lpstr>
      <vt:lpstr>関連研究 LLM損失によるエンコーダ学習</vt:lpstr>
      <vt:lpstr>関連研究 LLM損失によるエンコーダ学習</vt:lpstr>
      <vt:lpstr>関連研究 LLM損失によるエンコーダ学習</vt:lpstr>
      <vt:lpstr>関連研究 LLM損失によるエンコーダ学習</vt:lpstr>
      <vt:lpstr>エンコーダへの言語特徴付与 Model Architecture</vt:lpstr>
      <vt:lpstr>エンコーダへの言語特徴付与 Model Architecture</vt:lpstr>
      <vt:lpstr>エンコーダへの言語特徴付与 Model Architecture</vt:lpstr>
      <vt:lpstr>エンコーダへの言語特徴付与 損失関数の設計</vt:lpstr>
      <vt:lpstr>エンコーダへの言語特徴付与 損失関数の設計</vt:lpstr>
      <vt:lpstr>エンコーダへの言語特徴付与 損失関数の設計</vt:lpstr>
      <vt:lpstr>エンコーダへの言語特徴付与 損失関数の設計(CTC)</vt:lpstr>
      <vt:lpstr>実験 実験設定</vt:lpstr>
      <vt:lpstr>実験 データセットについて</vt:lpstr>
      <vt:lpstr>実験 実験結果</vt:lpstr>
      <vt:lpstr>実験 実験結果</vt:lpstr>
      <vt:lpstr>実験 実験結果</vt:lpstr>
      <vt:lpstr>実験 実験結果</vt:lpstr>
      <vt:lpstr>実験 実験結果</vt:lpstr>
      <vt:lpstr>実験 実験結果</vt:lpstr>
      <vt:lpstr>実験 実験結果</vt:lpstr>
      <vt:lpstr>実験 評価指標</vt:lpstr>
      <vt:lpstr>まとめ 結論</vt:lpstr>
      <vt:lpstr>化粧画像</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Seo</dc:creator>
  <cp:lastModifiedBy>工藤　滉青</cp:lastModifiedBy>
  <cp:revision>2</cp:revision>
  <dcterms:created xsi:type="dcterms:W3CDTF">2018-10-30T12:18:48Z</dcterms:created>
  <dcterms:modified xsi:type="dcterms:W3CDTF">2026-02-12T11:52:12Z</dcterms:modified>
</cp:coreProperties>
</file>